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41" r:id="rId2"/>
    <p:sldId id="434" r:id="rId3"/>
    <p:sldId id="476" r:id="rId4"/>
    <p:sldId id="479" r:id="rId5"/>
    <p:sldId id="328" r:id="rId6"/>
    <p:sldId id="435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20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62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94D2D-41F8-ED67-5A95-E5BA9BAE9F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733C59-CB11-9A02-1FC8-5588A7212D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8EC358-284D-DCF2-D2EA-9AB9B7953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1199D-F4D8-4FB7-A8CF-B4911B34E997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38A2BD-48B6-286F-6ECF-3F070CBC1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C69D85-9E12-2C3F-4B82-F4C7597C6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0F839-8639-482D-9B63-79F555E9E7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7926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BE83F-D4F9-E2CA-F4AC-31C9EE2A9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EBFF34-48A6-D1B5-0B5D-99262D1947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5A9344-6EA1-771B-A6CF-B64C8273D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1199D-F4D8-4FB7-A8CF-B4911B34E997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3A62EE-7DD7-ECDD-7C18-19B8751E6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42D990-6660-1FA5-FE03-C4D1AAD91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0F839-8639-482D-9B63-79F555E9E7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430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80D3A-D15E-781B-BBCB-E42774751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D6638-C50A-02AA-5209-DF80DEE6F7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BD5D3F-B54B-A400-C304-9B47D42C4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1199D-F4D8-4FB7-A8CF-B4911B34E997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E4EEC5-BA61-45D0-8CFC-78B72127A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75FE48-484F-AE34-30E3-860AAC3CC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0F839-8639-482D-9B63-79F555E9E7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307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748B-E286-CD80-42FD-611825BE0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0075F3-E175-C4E2-6392-C0D5FE187B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0F35DB-DBAF-53B5-7365-37608FF2A4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1B20D7-5FCB-EB38-95B7-94167643D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1199D-F4D8-4FB7-A8CF-B4911B34E997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95AAD3-7A86-7AF6-2694-2FEB806AD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8E3E79-D433-99CC-491D-B4C17EA09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0F839-8639-482D-9B63-79F555E9E7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840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6FA8-C302-C9F1-47FF-CDE6D2C30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51E468-EDC7-0FC6-98B1-7B7E3857DA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075641-DC68-0FC6-BBC2-88CFAF35FA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D79FB7-1DC7-11C8-A679-E557F7FC1B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087ACD-02BA-733D-63A2-0BBE03EE98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02244D-0478-BFD6-78E8-991522BA5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1199D-F4D8-4FB7-A8CF-B4911B34E997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6C10BE-0C1F-B0B1-0D0D-346A3A43A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1F46B3-BF58-392F-366B-0A7244408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0F839-8639-482D-9B63-79F555E9E7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056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C1A29-906A-FC19-1578-97C286285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5B9184-248E-BC44-8991-A678A80C0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1199D-F4D8-4FB7-A8CF-B4911B34E997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26F98A-0A6E-D189-9B11-BD5AED7A2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3C010F-AD02-DCEC-2355-A721EBA48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0F839-8639-482D-9B63-79F555E9E7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593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D14304-D131-AD05-8307-3F91ED451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1199D-F4D8-4FB7-A8CF-B4911B34E997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2A8129-F65F-58DE-C802-2A79141EB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2E8900-E4E1-9299-4FAC-C4D860B1F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0F839-8639-482D-9B63-79F555E9E7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0208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8762E-99C0-65FA-7EED-D60D9BAED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EEBFC3-C68C-C9B2-A57B-448405A128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375EAA-5857-D261-D1F7-5B7F0408C6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C50EF3-F0F9-2C4B-16F2-1B5F0B832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1199D-F4D8-4FB7-A8CF-B4911B34E997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1F8F37-8854-744D-7ADB-5F59173F2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3AF0FF-7AFD-591F-9CCD-FA3026CB0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0F839-8639-482D-9B63-79F555E9E7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87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ED613-793D-D2C8-7578-F0864786D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8AD657-EA50-3BA0-8D15-B53215B015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C106BB-1E26-158F-EAE0-03963F8E05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A0AEAC-132F-FCD7-CF2A-F7FCED979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1199D-F4D8-4FB7-A8CF-B4911B34E997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BE3788-9C86-ED6D-189F-CC9117227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E67632-5CA9-C19F-6F30-A636DA40D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0F839-8639-482D-9B63-79F555E9E7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8044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AA9A8-E109-3714-A09E-6D0F8E97B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4AFE5F-5CD2-B75D-0DFF-475BA179B6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B9BEF7-1EFD-8A03-5385-C95B654FF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1199D-F4D8-4FB7-A8CF-B4911B34E997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1B6AC8-25B7-D303-4765-0E40DBC7A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4AD62D-4E40-ABDF-4260-5C9078566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0F839-8639-482D-9B63-79F555E9E7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056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BB1E37-7849-10ED-8C32-81BA288EEA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B524C1-8908-5491-BBCC-C2BF874A50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F4DE49-B263-EF85-8D96-BD953DE8B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1199D-F4D8-4FB7-A8CF-B4911B34E997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90979D-E1CF-C16A-4997-95B7940FE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1974D8-E316-E52E-11ED-461045ECA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0F839-8639-482D-9B63-79F555E9E7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210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AB868E-35B1-A1DE-A847-70B8D6B86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EA5984-F6B9-B936-F3EE-ED54CB7B06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F2B61C-E2A3-108A-9DFE-A3F4B3ED21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51199D-F4D8-4FB7-A8CF-B4911B34E997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BF01C3-1E41-E0F2-9E9F-D1A4FCD8DF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2B3451-CCC0-6CEA-E227-C3511439A4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0F839-8639-482D-9B63-79F555E9E7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664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sqlsaturday.com/nyc" TargetMode="External"/><Relationship Id="rId13" Type="http://schemas.openxmlformats.org/officeDocument/2006/relationships/image" Target="../media/image3.png"/><Relationship Id="rId18" Type="http://schemas.openxmlformats.org/officeDocument/2006/relationships/hyperlink" Target="https://sqlsaturday.com/" TargetMode="External"/><Relationship Id="rId3" Type="http://schemas.openxmlformats.org/officeDocument/2006/relationships/hyperlink" Target="https://link.springer.com/book/10.1007/978-1-4842-8048-5" TargetMode="External"/><Relationship Id="rId7" Type="http://schemas.openxmlformats.org/officeDocument/2006/relationships/hyperlink" Target="https://sqlsaturday.com/2024-08-03-sqlsaturday1083/" TargetMode="External"/><Relationship Id="rId12" Type="http://schemas.openxmlformats.org/officeDocument/2006/relationships/image" Target="../media/image2.jpeg"/><Relationship Id="rId17" Type="http://schemas.openxmlformats.org/officeDocument/2006/relationships/image" Target="../media/image5.jpg"/><Relationship Id="rId2" Type="http://schemas.openxmlformats.org/officeDocument/2006/relationships/hyperlink" Target="https://link.springer.com/book/10.1007/978-1-4842-4318-3" TargetMode="External"/><Relationship Id="rId16" Type="http://schemas.openxmlformats.org/officeDocument/2006/relationships/hyperlink" Target="https://www.transfinder.com/" TargetMode="External"/><Relationship Id="rId20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red-gate.com/simple-talk/author/ed7alum-rpi-edu/" TargetMode="External"/><Relationship Id="rId11" Type="http://schemas.openxmlformats.org/officeDocument/2006/relationships/hyperlink" Target="https://link.springer.com/search?dc.creator=Edward+Pollack" TargetMode="External"/><Relationship Id="rId5" Type="http://schemas.openxmlformats.org/officeDocument/2006/relationships/hyperlink" Target="https://link.springer.com/book/10.1007/978-1-4842-5197-3" TargetMode="External"/><Relationship Id="rId15" Type="http://schemas.openxmlformats.org/officeDocument/2006/relationships/image" Target="../media/image4.jpeg"/><Relationship Id="rId10" Type="http://schemas.openxmlformats.org/officeDocument/2006/relationships/image" Target="../media/image1.jpeg"/><Relationship Id="rId19" Type="http://schemas.openxmlformats.org/officeDocument/2006/relationships/image" Target="../media/image6.png"/><Relationship Id="rId4" Type="http://schemas.openxmlformats.org/officeDocument/2006/relationships/hyperlink" Target="https://link.springer.com/book/10.1007/978-1-4842-9215-0" TargetMode="External"/><Relationship Id="rId9" Type="http://schemas.openxmlformats.org/officeDocument/2006/relationships/hyperlink" Target="https://www.meetup.com/capital-area-sql-server-user-group/" TargetMode="External"/><Relationship Id="rId14" Type="http://schemas.openxmlformats.org/officeDocument/2006/relationships/hyperlink" Target="https://mvp.microsoft.com/en-US/MVP/profile/c7dc42d5-ff3e-ed11-bba3-000d3a197333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qlshack.com/author/edward-pollack/" TargetMode="External"/><Relationship Id="rId3" Type="http://schemas.openxmlformats.org/officeDocument/2006/relationships/hyperlink" Target="https://www.linkedin.com/in/ed-pollack-65a3aa23/" TargetMode="External"/><Relationship Id="rId7" Type="http://schemas.openxmlformats.org/officeDocument/2006/relationships/hyperlink" Target="https://www.red-gate.com/simple-talk/author/ed7alum-rpi-edu/" TargetMode="External"/><Relationship Id="rId2" Type="http://schemas.openxmlformats.org/officeDocument/2006/relationships/hyperlink" Target="mailto:ed@edwardpollack.com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EdwardPollack" TargetMode="External"/><Relationship Id="rId5" Type="http://schemas.openxmlformats.org/officeDocument/2006/relationships/hyperlink" Target="https://sessionize.com/edward-pollack/" TargetMode="External"/><Relationship Id="rId4" Type="http://schemas.openxmlformats.org/officeDocument/2006/relationships/hyperlink" Target="https://mvp.microsoft.com/en-US/MVP/profile/c7dc42d5-ff3e-ed11-bba3-000d3a197333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000153E-13F0-2A86-7928-E130AFF3A083}"/>
              </a:ext>
            </a:extLst>
          </p:cNvPr>
          <p:cNvSpPr txBox="1">
            <a:spLocks/>
          </p:cNvSpPr>
          <p:nvPr/>
        </p:nvSpPr>
        <p:spPr>
          <a:xfrm>
            <a:off x="380712" y="332656"/>
            <a:ext cx="6696252" cy="226041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5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Native Regex </a:t>
            </a:r>
            <a:r>
              <a:rPr lang="en-US" sz="5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in SQL Server 2025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C78C6CF1-01E0-E808-5932-A514A53E8DF8}"/>
              </a:ext>
            </a:extLst>
          </p:cNvPr>
          <p:cNvSpPr txBox="1">
            <a:spLocks/>
          </p:cNvSpPr>
          <p:nvPr/>
        </p:nvSpPr>
        <p:spPr>
          <a:xfrm>
            <a:off x="380712" y="3045587"/>
            <a:ext cx="3843815" cy="2166491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marL="0" indent="0" algn="l" defTabSz="457200" rtl="0" eaLnBrk="1" latinLnBrk="0" hangingPunct="1">
              <a:lnSpc>
                <a:spcPts val="28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2400" kern="1200">
                <a:solidFill>
                  <a:schemeClr val="accent6">
                    <a:lumMod val="75000"/>
                  </a:schemeClr>
                </a:solidFill>
                <a:latin typeface="Arial"/>
                <a:ea typeface="+mn-ea"/>
                <a:cs typeface="Arial"/>
              </a:defRPr>
            </a:lvl1pPr>
            <a:lvl2pPr marL="457200" indent="0" algn="ctr" defTabSz="457200" rtl="0" eaLnBrk="1" latinLnBrk="0" hangingPunct="1">
              <a:lnSpc>
                <a:spcPts val="2500"/>
              </a:lnSpc>
              <a:spcBef>
                <a:spcPts val="200"/>
              </a:spcBef>
              <a:spcAft>
                <a:spcPts val="200"/>
              </a:spcAft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Arial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SzPct val="100000"/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Arial"/>
              </a:defRPr>
            </a:lvl3pPr>
            <a:lvl4pPr marL="1371600" indent="0" algn="ctr" defTabSz="442913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Arial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Arial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Edward Pollack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Microsoft Data Platform MVP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Data Architect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Transfinder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2558531-503D-27CF-9E62-95ACD339588F}"/>
              </a:ext>
            </a:extLst>
          </p:cNvPr>
          <p:cNvCxnSpPr>
            <a:cxnSpLocks/>
          </p:cNvCxnSpPr>
          <p:nvPr/>
        </p:nvCxnSpPr>
        <p:spPr>
          <a:xfrm>
            <a:off x="475900" y="3071811"/>
            <a:ext cx="6696251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7587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256" y="-16135"/>
            <a:ext cx="10283535" cy="780881"/>
          </a:xfrm>
        </p:spPr>
        <p:txBody>
          <a:bodyPr/>
          <a:lstStyle/>
          <a:p>
            <a:r>
              <a:rPr lang="en-US" dirty="0"/>
              <a:t>Ed Pollack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3256" y="692738"/>
            <a:ext cx="10965490" cy="500134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Microsoft Data Platform MVP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Published author of:</a:t>
            </a:r>
          </a:p>
          <a:p>
            <a:pPr marL="800035" lvl="1" indent="-342872"/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hlinkClick r:id="rId2"/>
              </a:rPr>
              <a:t>Dynamic SQL: Applications, Performance, and Security, 2</a:t>
            </a:r>
            <a:r>
              <a:rPr lang="en-US" sz="2000" baseline="30000" dirty="0">
                <a:solidFill>
                  <a:schemeClr val="tx1"/>
                </a:solidFill>
                <a:latin typeface="Arial" panose="020B0604020202020204" pitchFamily="34" charset="0"/>
                <a:hlinkClick r:id="rId2"/>
              </a:rPr>
              <a:t>nd</a:t>
            </a: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hlinkClick r:id="rId2"/>
              </a:rPr>
              <a:t> Edition</a:t>
            </a:r>
            <a:endParaRPr 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800035" lvl="1" indent="-342872"/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hlinkClick r:id="rId3"/>
              </a:rPr>
              <a:t>Analytics Optimization with Columnstore Indexes in SQL Server</a:t>
            </a:r>
            <a:endParaRPr 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1257235" lvl="2" indent="-342872"/>
            <a:r>
              <a:rPr lang="en-US" sz="1600" i="1" dirty="0">
                <a:latin typeface="Arial" panose="020B0604020202020204" pitchFamily="34" charset="0"/>
              </a:rPr>
              <a:t>2</a:t>
            </a:r>
            <a:r>
              <a:rPr lang="en-US" sz="1600" i="1" baseline="30000" dirty="0">
                <a:latin typeface="Arial" panose="020B0604020202020204" pitchFamily="34" charset="0"/>
              </a:rPr>
              <a:t>nd</a:t>
            </a:r>
            <a:r>
              <a:rPr lang="en-US" sz="1600" i="1" dirty="0">
                <a:latin typeface="Arial" panose="020B0604020202020204" pitchFamily="34" charset="0"/>
              </a:rPr>
              <a:t> edition forthcoming</a:t>
            </a:r>
            <a:endParaRPr lang="en-US" sz="1600" i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800035" lvl="1" indent="-342872"/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hlinkClick r:id="rId4"/>
              </a:rPr>
              <a:t>Expert Performance Indexing in SQL Server, 4</a:t>
            </a:r>
            <a:r>
              <a:rPr lang="en-US" sz="2000" baseline="30000" dirty="0">
                <a:solidFill>
                  <a:schemeClr val="tx1"/>
                </a:solidFill>
                <a:latin typeface="Arial" panose="020B0604020202020204" pitchFamily="34" charset="0"/>
                <a:hlinkClick r:id="rId4"/>
              </a:rPr>
              <a:t>th</a:t>
            </a: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hlinkClick r:id="rId4"/>
              </a:rPr>
              <a:t> Edition</a:t>
            </a:r>
            <a:endParaRPr 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800035" lvl="1" indent="-342872"/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Published in </a:t>
            </a: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hlinkClick r:id="rId5"/>
              </a:rPr>
              <a:t>Expert T-SQL Functions in SQL Server, 3</a:t>
            </a:r>
            <a:r>
              <a:rPr lang="en-US" sz="2000" baseline="30000" dirty="0">
                <a:solidFill>
                  <a:schemeClr val="tx1"/>
                </a:solidFill>
                <a:latin typeface="Arial" panose="020B0604020202020204" pitchFamily="34" charset="0"/>
                <a:hlinkClick r:id="rId5"/>
              </a:rPr>
              <a:t>rd</a:t>
            </a: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hlinkClick r:id="rId5"/>
              </a:rPr>
              <a:t> Edition</a:t>
            </a:r>
            <a:endParaRPr 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Author on </a:t>
            </a: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hlinkClick r:id="rId6"/>
              </a:rPr>
              <a:t>Simple Talk</a:t>
            </a: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Organizes:</a:t>
            </a:r>
          </a:p>
          <a:p>
            <a:pPr marL="800072" lvl="1" indent="-342872"/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hlinkClick r:id="rId7"/>
              </a:rPr>
              <a:t>SQL Saturday Albany</a:t>
            </a:r>
            <a:endParaRPr 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800035" lvl="1" indent="-342872"/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hlinkClick r:id="rId8"/>
              </a:rPr>
              <a:t>SQL Saturday New York City </a:t>
            </a:r>
            <a:endParaRPr 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800035" lvl="1" indent="-342872"/>
            <a:r>
              <a:rPr lang="en-US" sz="2000" dirty="0">
                <a:latin typeface="Arial" panose="020B0604020202020204" pitchFamily="34" charset="0"/>
                <a:hlinkClick r:id="rId9"/>
              </a:rPr>
              <a:t>Capital Area SQL Server User Group</a:t>
            </a:r>
            <a:endParaRPr 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IN" sz="2000" dirty="0">
                <a:solidFill>
                  <a:schemeClr val="tx1"/>
                </a:solidFill>
                <a:latin typeface="Arial" panose="020B0604020202020204" pitchFamily="34" charset="0"/>
              </a:rPr>
              <a:t>Speaker at many data events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09A8EF-B183-4015-BB48-2C07A22F563C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4373" y="4136464"/>
            <a:ext cx="2052196" cy="2736261"/>
          </a:xfrm>
          <a:prstGeom prst="rect">
            <a:avLst/>
          </a:prstGeom>
        </p:spPr>
      </p:pic>
      <p:pic>
        <p:nvPicPr>
          <p:cNvPr id="5" name="Picture 4" descr="A picture containing graphical user interface&#10;&#10;Description automatically generated">
            <a:hlinkClick r:id="rId11"/>
            <a:extLst>
              <a:ext uri="{FF2B5EF4-FFF2-40B4-BE49-F238E27FC236}">
                <a16:creationId xmlns:a16="http://schemas.microsoft.com/office/drawing/2014/main" id="{D3F7A6C4-8D67-22BC-72B0-492FB7CFB8A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430357" y="5349240"/>
            <a:ext cx="1508760" cy="1508760"/>
          </a:xfrm>
          <a:prstGeom prst="rect">
            <a:avLst/>
          </a:prstGeom>
        </p:spPr>
      </p:pic>
      <p:pic>
        <p:nvPicPr>
          <p:cNvPr id="6" name="Picture 5">
            <a:hlinkClick r:id="rId6"/>
            <a:extLst>
              <a:ext uri="{FF2B5EF4-FFF2-40B4-BE49-F238E27FC236}">
                <a16:creationId xmlns:a16="http://schemas.microsoft.com/office/drawing/2014/main" id="{C0150A70-4960-1467-2BCE-63525BFB5DD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178948" y="5694082"/>
            <a:ext cx="2251408" cy="1181988"/>
          </a:xfrm>
          <a:prstGeom prst="rect">
            <a:avLst/>
          </a:prstGeom>
        </p:spPr>
      </p:pic>
      <p:pic>
        <p:nvPicPr>
          <p:cNvPr id="9" name="Picture 8" descr="A blue and white sign&#10;&#10;Description automatically generated with low confidence">
            <a:hlinkClick r:id="rId14"/>
            <a:extLst>
              <a:ext uri="{FF2B5EF4-FFF2-40B4-BE49-F238E27FC236}">
                <a16:creationId xmlns:a16="http://schemas.microsoft.com/office/drawing/2014/main" id="{1EA7EEA1-2A6F-B598-BAAE-DC313E479F0A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1745" y="4513212"/>
            <a:ext cx="1522628" cy="2389356"/>
          </a:xfrm>
          <a:prstGeom prst="rect">
            <a:avLst/>
          </a:prstGeom>
        </p:spPr>
      </p:pic>
      <p:pic>
        <p:nvPicPr>
          <p:cNvPr id="10" name="Picture 9" descr="A grey and orange logo&#10;&#10;Description automatically generated with low confidence">
            <a:hlinkClick r:id="rId16"/>
            <a:extLst>
              <a:ext uri="{FF2B5EF4-FFF2-40B4-BE49-F238E27FC236}">
                <a16:creationId xmlns:a16="http://schemas.microsoft.com/office/drawing/2014/main" id="{23D99231-E9AF-62EA-4A9E-A65939B34479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900" y="5907024"/>
            <a:ext cx="2316047" cy="965701"/>
          </a:xfrm>
          <a:prstGeom prst="rect">
            <a:avLst/>
          </a:prstGeom>
        </p:spPr>
      </p:pic>
      <p:pic>
        <p:nvPicPr>
          <p:cNvPr id="11" name="Picture 10">
            <a:hlinkClick r:id="rId18"/>
            <a:extLst>
              <a:ext uri="{FF2B5EF4-FFF2-40B4-BE49-F238E27FC236}">
                <a16:creationId xmlns:a16="http://schemas.microsoft.com/office/drawing/2014/main" id="{CE1D1CE2-6B81-A465-0427-26DEE99175A1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31941" y="5314698"/>
            <a:ext cx="3644245" cy="519305"/>
          </a:xfrm>
          <a:prstGeom prst="rect">
            <a:avLst/>
          </a:prstGeom>
        </p:spPr>
      </p:pic>
      <p:pic>
        <p:nvPicPr>
          <p:cNvPr id="7" name="Picture 6" descr="A red sign with white text&#10;&#10;Description automatically generated">
            <a:extLst>
              <a:ext uri="{FF2B5EF4-FFF2-40B4-BE49-F238E27FC236}">
                <a16:creationId xmlns:a16="http://schemas.microsoft.com/office/drawing/2014/main" id="{FE621A73-84EE-486E-213C-41FE8F848A36}"/>
              </a:ext>
            </a:extLst>
          </p:cNvPr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9117" y="4874187"/>
            <a:ext cx="1522628" cy="2028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9626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31FB27-107C-D202-550C-005E0CAF7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E3600-1B67-19D4-21D8-CC1BA9E49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Native Regex…in SQL Server!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B03875-8C09-6EC4-EFF1-2005B8C39B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CA" dirty="0"/>
              <a:t>SQL Server 2025 provides FULL regex support</a:t>
            </a:r>
          </a:p>
          <a:p>
            <a:pPr marL="1028700" lvl="1" indent="-571500"/>
            <a:r>
              <a:rPr lang="en-CA" dirty="0"/>
              <a:t>IEEE POSIX standard</a:t>
            </a:r>
          </a:p>
          <a:p>
            <a:pPr marL="571500" indent="-571500"/>
            <a:r>
              <a:rPr lang="en-CA" dirty="0"/>
              <a:t>No more long/complex/hacky LIKE and NOT LIKE queries!</a:t>
            </a:r>
          </a:p>
          <a:p>
            <a:pPr marL="571500" indent="-571500"/>
            <a:r>
              <a:rPr lang="en-CA" dirty="0"/>
              <a:t>Built-in functions make this easy-to-use</a:t>
            </a:r>
          </a:p>
          <a:p>
            <a:pPr marL="571500" indent="-571500"/>
            <a:r>
              <a:rPr lang="en-CA" dirty="0"/>
              <a:t>Added to Azure SQL Database in April, 2024 and SQL Server 2025</a:t>
            </a:r>
          </a:p>
          <a:p>
            <a:pPr marL="571500" indent="-571500"/>
            <a:r>
              <a:rPr lang="en-CA" dirty="0"/>
              <a:t>We have been asking for this for a LONG time!</a:t>
            </a:r>
          </a:p>
          <a:p>
            <a:pPr marL="571500" indent="-571500"/>
            <a:r>
              <a:rPr lang="en-CA" dirty="0"/>
              <a:t>Some features require Compatibility Level 170.</a:t>
            </a:r>
          </a:p>
        </p:txBody>
      </p:sp>
    </p:spTree>
    <p:extLst>
      <p:ext uri="{BB962C8B-B14F-4D97-AF65-F5344CB8AC3E}">
        <p14:creationId xmlns:p14="http://schemas.microsoft.com/office/powerpoint/2010/main" val="10707088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FA07B-D58A-9217-21E9-8FF83BBFF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FC7A4-9FF4-05AC-A086-A998A6931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000" b="1" dirty="0">
                <a:solidFill>
                  <a:srgbClr val="002060"/>
                </a:solidFill>
              </a:rPr>
              <a:t>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94209B-1404-5930-0600-20656BB516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CA" sz="5000" dirty="0">
              <a:solidFill>
                <a:srgbClr val="002060"/>
              </a:solidFill>
            </a:endParaRPr>
          </a:p>
          <a:p>
            <a:pPr marL="0" indent="0">
              <a:buNone/>
            </a:pPr>
            <a:endParaRPr lang="en-CA" sz="5000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CA" sz="5000" dirty="0">
                <a:solidFill>
                  <a:srgbClr val="002060"/>
                </a:solidFill>
              </a:rPr>
              <a:t>	</a:t>
            </a:r>
            <a:r>
              <a:rPr lang="en-CA" sz="6000" i="1" dirty="0">
                <a:solidFill>
                  <a:srgbClr val="002060"/>
                </a:solidFill>
              </a:rPr>
              <a:t>Regex in SQL Server 2025</a:t>
            </a:r>
          </a:p>
        </p:txBody>
      </p:sp>
    </p:spTree>
    <p:extLst>
      <p:ext uri="{BB962C8B-B14F-4D97-AF65-F5344CB8AC3E}">
        <p14:creationId xmlns:p14="http://schemas.microsoft.com/office/powerpoint/2010/main" val="38608627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sz="4657" b="1" dirty="0"/>
              <a:t>Conclusion</a:t>
            </a:r>
            <a:endParaRPr lang="en-US" b="1" dirty="0"/>
          </a:p>
        </p:txBody>
      </p:sp>
      <p:sp>
        <p:nvSpPr>
          <p:cNvPr id="19" name="Content Placeholder 18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62891" indent="-362891"/>
            <a:r>
              <a:rPr lang="en-CA" dirty="0"/>
              <a:t>Regex simplifies existing T-SQL string searches</a:t>
            </a:r>
          </a:p>
          <a:p>
            <a:pPr marL="362891" indent="-362891"/>
            <a:r>
              <a:rPr lang="en-CA" dirty="0"/>
              <a:t>Unexpected inputs (NULL, ‘’, </a:t>
            </a:r>
            <a:r>
              <a:rPr lang="en-CA" dirty="0" err="1"/>
              <a:t>etc</a:t>
            </a:r>
            <a:r>
              <a:rPr lang="en-CA" dirty="0"/>
              <a:t>…) are handled consistently</a:t>
            </a:r>
          </a:p>
          <a:p>
            <a:pPr marL="362891" indent="-362891"/>
            <a:r>
              <a:rPr lang="en-CA" dirty="0"/>
              <a:t>Better performance for complex queries</a:t>
            </a:r>
          </a:p>
          <a:p>
            <a:pPr marL="362891" indent="-362891"/>
            <a:r>
              <a:rPr lang="en-CA" dirty="0"/>
              <a:t>Improve your old code!</a:t>
            </a:r>
          </a:p>
        </p:txBody>
      </p:sp>
    </p:spTree>
    <p:extLst>
      <p:ext uri="{BB962C8B-B14F-4D97-AF65-F5344CB8AC3E}">
        <p14:creationId xmlns:p14="http://schemas.microsoft.com/office/powerpoint/2010/main" val="21686471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08FE4AF-B348-5DEE-C10F-85D8705B9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204" y="274639"/>
            <a:ext cx="11003771" cy="1143000"/>
          </a:xfrm>
        </p:spPr>
        <p:txBody>
          <a:bodyPr/>
          <a:lstStyle/>
          <a:p>
            <a:r>
              <a:rPr lang="en-US" b="1" dirty="0"/>
              <a:t>Questions? Thank You!</a:t>
            </a:r>
            <a:endParaRPr lang="en-IN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3D7694-6D38-D578-B6BE-6A0138EC0E4E}"/>
              </a:ext>
            </a:extLst>
          </p:cNvPr>
          <p:cNvSpPr txBox="1"/>
          <p:nvPr/>
        </p:nvSpPr>
        <p:spPr>
          <a:xfrm>
            <a:off x="609204" y="1146710"/>
            <a:ext cx="999783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Find me here:</a:t>
            </a:r>
            <a:endParaRPr lang="en-US" sz="2800" b="1" dirty="0">
              <a:hlinkClick r:id="rId2"/>
            </a:endParaRPr>
          </a:p>
          <a:p>
            <a:pPr marL="457189" indent="-457189">
              <a:buFont typeface="Arial" panose="020B0604020202020204" pitchFamily="34" charset="0"/>
              <a:buChar char="•"/>
            </a:pPr>
            <a:r>
              <a:rPr lang="en-US" sz="2800" dirty="0">
                <a:hlinkClick r:id="rId3"/>
              </a:rPr>
              <a:t>Ed Pollack | LinkedIn</a:t>
            </a:r>
            <a:endParaRPr lang="en-US" sz="2800" dirty="0"/>
          </a:p>
          <a:p>
            <a:pPr marL="457189" indent="-457189">
              <a:buFont typeface="Arial" panose="020B0604020202020204" pitchFamily="34" charset="0"/>
              <a:buChar char="•"/>
            </a:pPr>
            <a:r>
              <a:rPr lang="en-US" sz="2800" dirty="0">
                <a:hlinkClick r:id="rId4"/>
              </a:rPr>
              <a:t>Edward Pollack | Most Valuable Professionals</a:t>
            </a:r>
            <a:endParaRPr lang="en-US" sz="2800" dirty="0"/>
          </a:p>
          <a:p>
            <a:pPr marL="457189" indent="-457189">
              <a:buFont typeface="Arial" panose="020B0604020202020204" pitchFamily="34" charset="0"/>
              <a:buChar char="•"/>
            </a:pPr>
            <a:r>
              <a:rPr lang="en-US" sz="2800" dirty="0">
                <a:hlinkClick r:id="rId5"/>
              </a:rPr>
              <a:t>https://sessionize.com/edward-pollack/</a:t>
            </a:r>
            <a:endParaRPr lang="en-US" sz="2800" dirty="0"/>
          </a:p>
          <a:p>
            <a:r>
              <a:rPr lang="en-US" sz="2800" b="1" dirty="0"/>
              <a:t>Find my content here:</a:t>
            </a:r>
          </a:p>
          <a:p>
            <a:pPr marL="457189" indent="-457189">
              <a:buFont typeface="Arial" panose="020B0604020202020204" pitchFamily="34" charset="0"/>
              <a:buChar char="•"/>
            </a:pPr>
            <a:r>
              <a:rPr lang="en-US" sz="2800" dirty="0" err="1">
                <a:hlinkClick r:id="rId6"/>
              </a:rPr>
              <a:t>EdwardPollack</a:t>
            </a:r>
            <a:r>
              <a:rPr lang="en-US" sz="2800" dirty="0">
                <a:hlinkClick r:id="rId6"/>
              </a:rPr>
              <a:t> (Ed Pollack) (github.com)</a:t>
            </a:r>
            <a:endParaRPr lang="en-US" sz="2800" dirty="0"/>
          </a:p>
          <a:p>
            <a:pPr marL="457189" indent="-457189">
              <a:buFont typeface="Arial" panose="020B0604020202020204" pitchFamily="34" charset="0"/>
              <a:buChar char="•"/>
            </a:pPr>
            <a:r>
              <a:rPr lang="en-US" sz="2800" dirty="0">
                <a:hlinkClick r:id="rId7"/>
              </a:rPr>
              <a:t>Edward Pollack, Author at Simple Talk (red-gate.com)</a:t>
            </a:r>
            <a:endParaRPr lang="en-US" sz="2800" dirty="0"/>
          </a:p>
          <a:p>
            <a:pPr marL="457189" indent="-457189">
              <a:buFont typeface="Arial" panose="020B0604020202020204" pitchFamily="34" charset="0"/>
              <a:buChar char="•"/>
            </a:pPr>
            <a:r>
              <a:rPr lang="en-US" sz="2800" dirty="0">
                <a:hlinkClick r:id="rId8"/>
              </a:rPr>
              <a:t>Ed Pollack, Author at SQL Shack - articles about database auditing, server performance, data recovery, and more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7958314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18417</TotalTime>
  <Words>270</Words>
  <Application>Microsoft Office PowerPoint</Application>
  <PresentationFormat>Widescreen</PresentationFormat>
  <Paragraphs>45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Segoe UI</vt:lpstr>
      <vt:lpstr>Office Theme</vt:lpstr>
      <vt:lpstr>PowerPoint Presentation</vt:lpstr>
      <vt:lpstr>Ed Pollack</vt:lpstr>
      <vt:lpstr>Native Regex…in SQL Server!</vt:lpstr>
      <vt:lpstr>Demo</vt:lpstr>
      <vt:lpstr>Conclusion</vt:lpstr>
      <vt:lpstr>Questions? 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Edward Pollack</dc:creator>
  <cp:lastModifiedBy>Edward Pollack</cp:lastModifiedBy>
  <cp:revision>302</cp:revision>
  <dcterms:created xsi:type="dcterms:W3CDTF">2022-11-29T17:09:54Z</dcterms:created>
  <dcterms:modified xsi:type="dcterms:W3CDTF">2025-12-18T19:55:43Z</dcterms:modified>
</cp:coreProperties>
</file>