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27"/>
  </p:notesMasterIdLst>
  <p:handoutMasterIdLst>
    <p:handoutMasterId r:id="rId28"/>
  </p:handoutMasterIdLst>
  <p:sldIdLst>
    <p:sldId id="460" r:id="rId3"/>
    <p:sldId id="285" r:id="rId4"/>
    <p:sldId id="434" r:id="rId5"/>
    <p:sldId id="296" r:id="rId6"/>
    <p:sldId id="435" r:id="rId7"/>
    <p:sldId id="436" r:id="rId8"/>
    <p:sldId id="457" r:id="rId9"/>
    <p:sldId id="449" r:id="rId10"/>
    <p:sldId id="442" r:id="rId11"/>
    <p:sldId id="451" r:id="rId12"/>
    <p:sldId id="458" r:id="rId13"/>
    <p:sldId id="441" r:id="rId14"/>
    <p:sldId id="444" r:id="rId15"/>
    <p:sldId id="445" r:id="rId16"/>
    <p:sldId id="446" r:id="rId17"/>
    <p:sldId id="443" r:id="rId18"/>
    <p:sldId id="440" r:id="rId19"/>
    <p:sldId id="437" r:id="rId20"/>
    <p:sldId id="439" r:id="rId21"/>
    <p:sldId id="459" r:id="rId22"/>
    <p:sldId id="450" r:id="rId23"/>
    <p:sldId id="438" r:id="rId24"/>
    <p:sldId id="328" r:id="rId25"/>
    <p:sldId id="265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tion 1" id="{42D8459F-7683-F84D-8DE6-C3C38246EA5E}">
          <p14:sldIdLst>
            <p14:sldId id="460"/>
            <p14:sldId id="285"/>
            <p14:sldId id="434"/>
            <p14:sldId id="296"/>
            <p14:sldId id="435"/>
            <p14:sldId id="436"/>
            <p14:sldId id="457"/>
            <p14:sldId id="449"/>
            <p14:sldId id="442"/>
            <p14:sldId id="451"/>
            <p14:sldId id="458"/>
            <p14:sldId id="441"/>
            <p14:sldId id="444"/>
            <p14:sldId id="445"/>
            <p14:sldId id="446"/>
            <p14:sldId id="443"/>
            <p14:sldId id="440"/>
            <p14:sldId id="437"/>
            <p14:sldId id="439"/>
            <p14:sldId id="459"/>
            <p14:sldId id="450"/>
            <p14:sldId id="438"/>
            <p14:sldId id="328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den Ford" initials="BF" lastIdx="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E21"/>
    <a:srgbClr val="27BEC7"/>
    <a:srgbClr val="1DB14B"/>
    <a:srgbClr val="FFC20E"/>
    <a:srgbClr val="0090D2"/>
    <a:srgbClr val="5FBB46"/>
    <a:srgbClr val="939598"/>
    <a:srgbClr val="FFD800"/>
    <a:srgbClr val="003677"/>
    <a:srgbClr val="9E0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5" autoAdjust="0"/>
    <p:restoredTop sz="97586" autoAdjust="0"/>
  </p:normalViewPr>
  <p:slideViewPr>
    <p:cSldViewPr snapToGrid="0">
      <p:cViewPr varScale="1">
        <p:scale>
          <a:sx n="135" d="100"/>
          <a:sy n="135" d="100"/>
        </p:scale>
        <p:origin x="858" y="3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F17F-797E-F743-99C7-34FA65335D3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E63A2-433C-2447-B893-859ADBD60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222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353FC-0869-45D3-95AF-CC29198471C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65AC4-17B0-4E19-8496-B264E70A1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346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45401"/>
          <a:stretch/>
        </p:blipFill>
        <p:spPr>
          <a:xfrm>
            <a:off x="5781" y="1"/>
            <a:ext cx="3340734" cy="51434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532" y="444468"/>
            <a:ext cx="4559981" cy="1301315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4380308" y="2455629"/>
            <a:ext cx="4520276" cy="7066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r">
              <a:defRPr lang="en-US" sz="4000" b="0" dirty="0">
                <a:solidFill>
                  <a:schemeClr val="tx2"/>
                </a:solidFill>
                <a:latin typeface="+mj-lt"/>
                <a:cs typeface="Segoe UI Light"/>
              </a:defRPr>
            </a:lvl1pPr>
          </a:lstStyle>
          <a:p>
            <a:pPr marL="0" lvl="0"/>
            <a:r>
              <a:rPr lang="en-CA" dirty="0"/>
              <a:t>Session Title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80731" y="3159156"/>
            <a:ext cx="4520966" cy="453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>
              <a:defRPr lang="en-US" dirty="0">
                <a:solidFill>
                  <a:srgbClr val="0090D2"/>
                </a:solidFill>
                <a:latin typeface="+mn-lt"/>
                <a:cs typeface="Segoe UI Light"/>
              </a:defRPr>
            </a:lvl1pPr>
          </a:lstStyle>
          <a:p>
            <a:pPr lvl="0"/>
            <a:r>
              <a:rPr lang="en-CA" dirty="0"/>
              <a:t>Subtitle</a:t>
            </a:r>
            <a:endParaRPr lang="en-US" dirty="0"/>
          </a:p>
        </p:txBody>
      </p:sp>
      <p:pic>
        <p:nvPicPr>
          <p:cNvPr id="8" name="Picture 7" descr="PASS_Logo_white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2" y="4660566"/>
            <a:ext cx="428460" cy="34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7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45401"/>
          <a:stretch/>
        </p:blipFill>
        <p:spPr>
          <a:xfrm>
            <a:off x="0" y="-594087"/>
            <a:ext cx="3725240" cy="573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sz="quarter" idx="10"/>
          </p:nvPr>
        </p:nvSpPr>
        <p:spPr>
          <a:xfrm>
            <a:off x="452438" y="1385455"/>
            <a:ext cx="8242300" cy="3232727"/>
          </a:xfrm>
        </p:spPr>
        <p:txBody>
          <a:bodyPr>
            <a:noAutofit/>
          </a:bodyPr>
          <a:lstStyle>
            <a:lvl1pPr>
              <a:defRPr>
                <a:solidFill>
                  <a:srgbClr val="58585A"/>
                </a:solidFill>
                <a:latin typeface="+mn-lt"/>
              </a:defRPr>
            </a:lvl1pPr>
            <a:lvl2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2pPr>
            <a:lvl3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3pPr>
            <a:lvl4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4pPr>
            <a:lvl5pPr>
              <a:buClr>
                <a:srgbClr val="0090D2"/>
              </a:buClr>
              <a:defRPr>
                <a:solidFill>
                  <a:srgbClr val="58585A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470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31800" y="1119188"/>
            <a:ext cx="8261350" cy="3529012"/>
          </a:xfrm>
        </p:spPr>
        <p:txBody>
          <a:bodyPr/>
          <a:lstStyle>
            <a:lvl1pPr marL="0" indent="0">
              <a:buNone/>
              <a:defRPr sz="1800"/>
            </a:lvl1pPr>
            <a:lvl3pPr marL="295275" marR="0" indent="-2952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4"/>
              </a:buClr>
              <a:buSzTx/>
              <a:buFont typeface="Arial"/>
              <a:buNone/>
              <a:tabLst/>
              <a:defRPr/>
            </a:lvl3pPr>
          </a:lstStyle>
          <a:p>
            <a:pPr lvl="0"/>
            <a:r>
              <a:rPr lang="en-US" dirty="0"/>
              <a:t>Heading One Style 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Heading Two Style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HEADING THREE STYLE</a:t>
            </a:r>
          </a:p>
          <a:p>
            <a:pPr lvl="0"/>
            <a:r>
              <a:rPr lang="en-US" dirty="0"/>
              <a:t>Body content, 18pt Segoe UI (gray)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1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3729"/>
            <a:ext cx="4038600" cy="3011738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1pPr>
            <a:lvl2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2pPr>
            <a:lvl3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3pPr>
            <a:lvl4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4pPr>
            <a:lvl5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451766" y="1376479"/>
            <a:ext cx="4040859" cy="307181"/>
          </a:xfrm>
          <a:prstGeom prst="rect">
            <a:avLst/>
          </a:prstGeom>
          <a:solidFill>
            <a:srgbClr val="0090D2"/>
          </a:solidFill>
          <a:ln>
            <a:noFill/>
          </a:ln>
        </p:spPr>
        <p:txBody>
          <a:bodyPr anchor="ctr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636995" y="1376479"/>
            <a:ext cx="4040859" cy="307181"/>
          </a:xfrm>
          <a:prstGeom prst="rect">
            <a:avLst/>
          </a:prstGeom>
          <a:solidFill>
            <a:srgbClr val="0090D2"/>
          </a:solidFill>
          <a:ln>
            <a:noFill/>
          </a:ln>
        </p:spPr>
        <p:txBody>
          <a:bodyPr anchor="ctr">
            <a:noAutofit/>
          </a:bodyPr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/>
          </p:nvPr>
        </p:nvSpPr>
        <p:spPr>
          <a:xfrm>
            <a:off x="4638431" y="1753729"/>
            <a:ext cx="4038600" cy="3011738"/>
          </a:xfrm>
          <a:prstGeom prst="rect">
            <a:avLst/>
          </a:prstGeom>
        </p:spPr>
        <p:txBody>
          <a:bodyPr>
            <a:normAutofit/>
          </a:bodyPr>
          <a:lstStyle>
            <a:lvl1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1pPr>
            <a:lvl2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2pPr>
            <a:lvl3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3pPr>
            <a:lvl4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4pPr>
            <a:lvl5pPr marL="169863" indent="-169863">
              <a:spcAft>
                <a:spcPts val="600"/>
              </a:spcAft>
              <a:buClr>
                <a:srgbClr val="0090D2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cs typeface="Segoe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13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592834" y="2190211"/>
            <a:ext cx="495344" cy="328154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D372AB51-BDCC-4F95-83CF-1CBB2D34E9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184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34634" y="1427382"/>
            <a:ext cx="8229600" cy="32851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chemeClr val="accent3"/>
              </a:buClr>
              <a:buFontTx/>
              <a:buNone/>
              <a:defRPr sz="2000">
                <a:solidFill>
                  <a:schemeClr val="tx1"/>
                </a:solidFill>
                <a:latin typeface="Consolas"/>
                <a:cs typeface="Consolas"/>
              </a:defRPr>
            </a:lvl1pPr>
            <a:lvl2pPr marL="0" indent="0">
              <a:buClr>
                <a:schemeClr val="accent3"/>
              </a:buClr>
              <a:buFontTx/>
              <a:buNone/>
              <a:defRPr sz="1800">
                <a:solidFill>
                  <a:schemeClr val="tx1"/>
                </a:solidFill>
                <a:latin typeface="Consolas"/>
                <a:cs typeface="Consolas"/>
              </a:defRPr>
            </a:lvl2pPr>
            <a:lvl3pPr marL="295275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3pPr>
            <a:lvl4pPr marL="579438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4pPr>
            <a:lvl5pPr marL="846138" indent="0">
              <a:buClr>
                <a:schemeClr val="accent3"/>
              </a:buClr>
              <a:buFontTx/>
              <a:buNone/>
              <a:defRPr sz="1600">
                <a:solidFill>
                  <a:schemeClr val="tx1"/>
                </a:solidFill>
                <a:latin typeface="Consolas"/>
                <a:cs typeface="Consola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>
              <a:defRPr>
                <a:solidFill>
                  <a:srgbClr val="0090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PASS_Logo_gray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" y="4856738"/>
            <a:ext cx="278306" cy="222671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529054" y="482551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>
                <a:solidFill>
                  <a:srgbClr val="0090D2"/>
                </a:solidFill>
              </a:defRPr>
            </a:lvl1pPr>
          </a:lstStyle>
          <a:p>
            <a:fld id="{2501BE23-1565-7B4A-A660-ADF397564F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31387"/>
          <a:stretch/>
        </p:blipFill>
        <p:spPr>
          <a:xfrm>
            <a:off x="0" y="-1"/>
            <a:ext cx="9144000" cy="13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9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1" r="35911"/>
          <a:stretch/>
        </p:blipFill>
        <p:spPr>
          <a:xfrm>
            <a:off x="5781" y="1"/>
            <a:ext cx="4208000" cy="5143498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214459" y="2393423"/>
            <a:ext cx="4445659" cy="7066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r">
              <a:defRPr lang="en-US" sz="5400" b="0" dirty="0">
                <a:solidFill>
                  <a:schemeClr val="tx2"/>
                </a:solidFill>
                <a:latin typeface="+mj-lt"/>
                <a:cs typeface="Segoe UI Light"/>
              </a:defRPr>
            </a:lvl1pPr>
          </a:lstStyle>
          <a:p>
            <a:pPr marL="0" lvl="0"/>
            <a:r>
              <a:rPr lang="en-CA" dirty="0"/>
              <a:t>Session Title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13781" y="3096950"/>
            <a:ext cx="4446338" cy="4537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>
              <a:defRPr lang="en-US" sz="2400" dirty="0">
                <a:solidFill>
                  <a:schemeClr val="accent1"/>
                </a:solidFill>
                <a:latin typeface="+mn-lt"/>
                <a:cs typeface="Segoe UI Light"/>
              </a:defRPr>
            </a:lvl1pPr>
          </a:lstStyle>
          <a:p>
            <a:pPr lvl="0"/>
            <a:r>
              <a:rPr lang="en-CA" dirty="0"/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90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3C771-EA88-47A6-A613-66BA5878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39A32-1242-4692-8CA0-E25E5CEA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E28B-8D91-4B97-96D1-00D001602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FEB2-3DFA-4B40-9C39-44CA81B4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EB7AD-0EBD-4237-B1D9-20E53338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6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1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66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7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33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61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34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76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20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51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151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4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84177" y="436602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51227"/>
            <a:ext cx="8229600" cy="61295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Title Styling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57200" y="1130877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PASS_Logo_gray.png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" y="4856738"/>
            <a:ext cx="278306" cy="2226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31387"/>
          <a:stretch/>
        </p:blipFill>
        <p:spPr>
          <a:xfrm>
            <a:off x="0" y="-1"/>
            <a:ext cx="9144000" cy="13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7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9" r:id="rId4"/>
    <p:sldLayoutId id="2147483652" r:id="rId5"/>
    <p:sldLayoutId id="2147483654" r:id="rId6"/>
    <p:sldLayoutId id="2147483657" r:id="rId7"/>
    <p:sldLayoutId id="2147483656" r:id="rId8"/>
    <p:sldLayoutId id="2147483661" r:id="rId9"/>
  </p:sldLayoutIdLst>
  <p:hf hdr="0" ftr="0" dt="0"/>
  <p:txStyles>
    <p:titleStyle>
      <a:lvl1pPr marL="0" marR="0" indent="0" algn="l" defTabSz="457200" rtl="0" eaLnBrk="1" fontAlgn="auto" latinLnBrk="0" hangingPunct="1">
        <a:lnSpc>
          <a:spcPts val="35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600" b="0" i="0" u="none" strike="noStrike" kern="1200" cap="none" spc="0" normalizeH="0" baseline="0">
          <a:ln>
            <a:noFill/>
          </a:ln>
          <a:solidFill>
            <a:schemeClr val="accent2"/>
          </a:solidFill>
          <a:effectLst/>
          <a:uLnTx/>
          <a:uFillTx/>
          <a:latin typeface="+mj-lt"/>
          <a:ea typeface="+mj-ea"/>
          <a:cs typeface="Segoe UI Light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/>
        <a:buNone/>
        <a:defRPr sz="2400" kern="1200">
          <a:solidFill>
            <a:srgbClr val="58585A"/>
          </a:solidFill>
          <a:latin typeface="+mn-lt"/>
          <a:ea typeface="+mn-ea"/>
          <a:cs typeface="Segoe UI"/>
        </a:defRPr>
      </a:lvl1pPr>
      <a:lvl2pPr marL="342900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2000" kern="1200" dirty="0" smtClean="0">
          <a:solidFill>
            <a:srgbClr val="58585A"/>
          </a:solidFill>
          <a:latin typeface="+mn-lt"/>
          <a:ea typeface="+mn-ea"/>
          <a:cs typeface="Segoe UI"/>
        </a:defRPr>
      </a:lvl2pPr>
      <a:lvl3pPr marL="638175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 smtClean="0">
          <a:solidFill>
            <a:srgbClr val="58585A"/>
          </a:solidFill>
          <a:latin typeface="+mn-lt"/>
          <a:ea typeface="+mn-ea"/>
          <a:cs typeface="Segoe UI"/>
        </a:defRPr>
      </a:lvl3pPr>
      <a:lvl4pPr marL="922338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 smtClean="0">
          <a:solidFill>
            <a:srgbClr val="58585A"/>
          </a:solidFill>
          <a:latin typeface="+mn-lt"/>
          <a:ea typeface="+mn-ea"/>
          <a:cs typeface="Segoe UI"/>
        </a:defRPr>
      </a:lvl4pPr>
      <a:lvl5pPr marL="1189038" indent="-342900" algn="l" defTabSz="914400" rtl="0" eaLnBrk="1" latinLnBrk="0" hangingPunct="1">
        <a:spcBef>
          <a:spcPct val="20000"/>
        </a:spcBef>
        <a:buClr>
          <a:schemeClr val="accent4"/>
        </a:buClr>
        <a:buFont typeface="Arial"/>
        <a:buChar char="•"/>
        <a:defRPr lang="en-US" sz="1800" kern="1200" dirty="0">
          <a:solidFill>
            <a:srgbClr val="58585A"/>
          </a:solidFill>
          <a:latin typeface="+mn-lt"/>
          <a:ea typeface="+mn-ea"/>
          <a:cs typeface="Segoe UI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6B96F-CA7B-401F-A6B4-00A9BBE234C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66965-106F-4805-9FFA-3EFEC736C7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0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sqlsaturday.com/nyc" TargetMode="External"/><Relationship Id="rId13" Type="http://schemas.openxmlformats.org/officeDocument/2006/relationships/image" Target="../media/image10.jpeg"/><Relationship Id="rId18" Type="http://schemas.openxmlformats.org/officeDocument/2006/relationships/image" Target="../media/image13.jpg"/><Relationship Id="rId3" Type="http://schemas.openxmlformats.org/officeDocument/2006/relationships/hyperlink" Target="https://link.springer.com/book/10.1007/978-1-4842-8048-5" TargetMode="External"/><Relationship Id="rId21" Type="http://schemas.openxmlformats.org/officeDocument/2006/relationships/image" Target="../media/image15.png"/><Relationship Id="rId7" Type="http://schemas.openxmlformats.org/officeDocument/2006/relationships/hyperlink" Target="https://sqlsaturday.com/2024-08-03-sqlsaturday1083/" TargetMode="External"/><Relationship Id="rId12" Type="http://schemas.openxmlformats.org/officeDocument/2006/relationships/hyperlink" Target="https://link.springer.com/search?dc.creator=Edward+Pollack" TargetMode="External"/><Relationship Id="rId17" Type="http://schemas.openxmlformats.org/officeDocument/2006/relationships/hyperlink" Target="https://www.transfinder.com/" TargetMode="External"/><Relationship Id="rId2" Type="http://schemas.openxmlformats.org/officeDocument/2006/relationships/hyperlink" Target="https://link.springer.com/book/10.1007/978-1-4842-4318-3" TargetMode="External"/><Relationship Id="rId16" Type="http://schemas.openxmlformats.org/officeDocument/2006/relationships/image" Target="../media/image12.jpe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red-gate.com/simple-talk/author/ed7alum-rpi-edu/" TargetMode="External"/><Relationship Id="rId11" Type="http://schemas.openxmlformats.org/officeDocument/2006/relationships/image" Target="../media/image9.jpeg"/><Relationship Id="rId5" Type="http://schemas.openxmlformats.org/officeDocument/2006/relationships/hyperlink" Target="https://link.springer.com/book/10.1007/978-1-4842-5197-3" TargetMode="External"/><Relationship Id="rId15" Type="http://schemas.openxmlformats.org/officeDocument/2006/relationships/hyperlink" Target="https://mvp.microsoft.com/en-US/MVP/profile/c7dc42d5-ff3e-ed11-bba3-000d3a197333" TargetMode="External"/><Relationship Id="rId10" Type="http://schemas.openxmlformats.org/officeDocument/2006/relationships/hyperlink" Target="https://www.linkedin.com/in/ed-pollack-65a3aa23/" TargetMode="External"/><Relationship Id="rId19" Type="http://schemas.openxmlformats.org/officeDocument/2006/relationships/hyperlink" Target="https://sqlsaturday.com/" TargetMode="External"/><Relationship Id="rId4" Type="http://schemas.openxmlformats.org/officeDocument/2006/relationships/hyperlink" Target="https://link.springer.com/book/10.1007/978-1-4842-9215-0" TargetMode="External"/><Relationship Id="rId9" Type="http://schemas.openxmlformats.org/officeDocument/2006/relationships/hyperlink" Target="https://www.meetup.com/capital-area-sql-server-user-group/" TargetMode="External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qlshack.com/author/edward-pollack/" TargetMode="External"/><Relationship Id="rId3" Type="http://schemas.openxmlformats.org/officeDocument/2006/relationships/hyperlink" Target="https://www.linkedin.com/in/ed-pollack-65a3aa23/" TargetMode="External"/><Relationship Id="rId7" Type="http://schemas.openxmlformats.org/officeDocument/2006/relationships/hyperlink" Target="https://www.red-gate.com/simple-talk/author/ed7alum-rpi-edu/" TargetMode="External"/><Relationship Id="rId2" Type="http://schemas.openxmlformats.org/officeDocument/2006/relationships/hyperlink" Target="mailto:ed@edwardpollack.com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github.com/EdwardPollack" TargetMode="External"/><Relationship Id="rId5" Type="http://schemas.openxmlformats.org/officeDocument/2006/relationships/hyperlink" Target="https://sessionize.com/edward-pollack/" TargetMode="External"/><Relationship Id="rId4" Type="http://schemas.openxmlformats.org/officeDocument/2006/relationships/hyperlink" Target="https://mvp.microsoft.com/en-US/MVP/profile/c7dc42d5-ff3e-ed11-bba3-000d3a19733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74278" y="4000500"/>
            <a:ext cx="3975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800"/>
            <a:r>
              <a:rPr lang="en-IN" b="1" dirty="0">
                <a:solidFill>
                  <a:prstClr val="white"/>
                </a:solidFill>
                <a:latin typeface="Trebuchet MS" pitchFamily="34" charset="0"/>
              </a:rPr>
              <a:t>www.globalbigdataconference.com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2480" y="4400551"/>
            <a:ext cx="2634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85800"/>
            <a:r>
              <a:rPr lang="en-IN" b="1" dirty="0">
                <a:solidFill>
                  <a:prstClr val="white"/>
                </a:solidFill>
                <a:latin typeface="Trebuchet MS" pitchFamily="34" charset="0"/>
              </a:rPr>
              <a:t>Twitter : @</a:t>
            </a:r>
            <a:r>
              <a:rPr lang="en-IN" b="1" dirty="0" err="1">
                <a:solidFill>
                  <a:prstClr val="white"/>
                </a:solidFill>
                <a:latin typeface="Trebuchet MS" pitchFamily="34" charset="0"/>
              </a:rPr>
              <a:t>bigdataconf</a:t>
            </a:r>
            <a:endParaRPr lang="en-IN" b="1" dirty="0">
              <a:solidFill>
                <a:prstClr val="white"/>
              </a:solidFill>
              <a:latin typeface="Trebuchet MS" pitchFamily="34" charset="0"/>
            </a:endParaRPr>
          </a:p>
          <a:p>
            <a:pPr algn="ctr" defTabSz="685800"/>
            <a:r>
              <a:rPr lang="en-IN" b="1" dirty="0">
                <a:solidFill>
                  <a:prstClr val="white"/>
                </a:solidFill>
                <a:latin typeface="Trebuchet MS" pitchFamily="34" charset="0"/>
              </a:rPr>
              <a:t>    </a:t>
            </a:r>
          </a:p>
        </p:txBody>
      </p:sp>
      <p:sp>
        <p:nvSpPr>
          <p:cNvPr id="2050" name="AutoShape 2" descr="https://media.campaigner.com/media/71/718655/Seattle_Global_AI_Small.jpg?g=1548691506065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IN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52" name="AutoShape 4" descr="https://media.campaigner.com/media/71/718655/Seattle_Global_AI_Small.jpg?g=1548691506065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IN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AutoShape 2" descr="https://secure.campaigner.com/CSB/Telerik.Web.UI.WebResource.axd?type=iec&amp;pr=c&amp;key=c420d1f7-e99a-400c-b37e-0c131ff08099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IN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AutoShape 4" descr="https://secure.campaigner.com/CSB/Telerik.Web.UI.WebResource.axd?type=iec&amp;pr=c&amp;key=c420d1f7-e99a-400c-b37e-0c131ff08099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IN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71850" y="4686300"/>
            <a:ext cx="18859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IN" sz="2100" b="1" dirty="0">
                <a:solidFill>
                  <a:prstClr val="white"/>
                </a:solidFill>
                <a:latin typeface="Calibri"/>
              </a:rPr>
              <a:t> #</a:t>
            </a:r>
            <a:r>
              <a:rPr lang="en-IN" sz="2100" b="1" dirty="0" err="1">
                <a:solidFill>
                  <a:prstClr val="white"/>
                </a:solidFill>
                <a:latin typeface="Calibri"/>
              </a:rPr>
              <a:t>GlobalAI</a:t>
            </a:r>
            <a:endParaRPr lang="en-IN" sz="2100" b="1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AutoShape 2" descr="Banner Newslatter GlobalAI 2022.jpg"/>
          <p:cNvSpPr>
            <a:spLocks noChangeAspect="1" noChangeArrowheads="1"/>
          </p:cNvSpPr>
          <p:nvPr/>
        </p:nvSpPr>
        <p:spPr bwMode="auto">
          <a:xfrm>
            <a:off x="1259682" y="-606028"/>
            <a:ext cx="4979194" cy="1271588"/>
          </a:xfrm>
          <a:prstGeom prst="rect">
            <a:avLst/>
          </a:prstGeom>
          <a:noFill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IN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43253" y="2225502"/>
            <a:ext cx="138564" cy="692497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 defTabSz="685800"/>
            <a:endParaRPr lang="en-US" sz="4050" b="1" dirty="0">
              <a:ln w="31550" cmpd="sng">
                <a:gradFill>
                  <a:gsLst>
                    <a:gs pos="70000">
                      <a:srgbClr val="F79646">
                        <a:shade val="50000"/>
                        <a:satMod val="190000"/>
                      </a:srgbClr>
                    </a:gs>
                    <a:gs pos="0">
                      <a:srgbClr val="F79646">
                        <a:tint val="77000"/>
                        <a:satMod val="180000"/>
                      </a:srgbClr>
                    </a:gs>
                  </a:gsLst>
                  <a:lin ang="5400000"/>
                </a:gradFill>
                <a:prstDash val="solid"/>
              </a:ln>
              <a:solidFill>
                <a:srgbClr val="F79646">
                  <a:tint val="15000"/>
                  <a:satMod val="200000"/>
                </a:srgbClr>
              </a:solidFill>
              <a:effectLst>
                <a:outerShdw blurRad="50800" dist="40000" dir="5400000" algn="tl" rotWithShape="0">
                  <a:srgbClr val="000000">
                    <a:shade val="5000"/>
                    <a:satMod val="120000"/>
                    <a:alpha val="33000"/>
                  </a:srgbClr>
                </a:outerShdw>
              </a:effectLst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0" y="171450"/>
            <a:ext cx="2400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IN" sz="2400" dirty="0">
                <a:solidFill>
                  <a:srgbClr val="FF0000"/>
                </a:solidFill>
                <a:latin typeface="Calibri"/>
              </a:rPr>
              <a:t>    </a:t>
            </a:r>
            <a:r>
              <a:rPr lang="en-IN" sz="3000" b="1" dirty="0">
                <a:solidFill>
                  <a:prstClr val="white"/>
                </a:solidFill>
                <a:latin typeface="Calibri"/>
              </a:rPr>
              <a:t>Welcome To</a:t>
            </a:r>
            <a:endParaRPr lang="en-IN" sz="2400" b="1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281023"/>
            <a:ext cx="6858000" cy="25814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687501" y="2859512"/>
            <a:ext cx="5125220" cy="706657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tx2"/>
                </a:solidFill>
              </a:rPr>
              <a:t>Quality AI Requires Quality Data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849086" y="3563039"/>
            <a:ext cx="7963635" cy="453733"/>
          </a:xfrm>
        </p:spPr>
        <p:txBody>
          <a:bodyPr/>
          <a:lstStyle/>
          <a:p>
            <a:pPr algn="r"/>
            <a:r>
              <a:rPr lang="en-US" i="1" dirty="0"/>
              <a:t>Lower Risk, Improve Results, Avoid Disasters!</a:t>
            </a:r>
          </a:p>
        </p:txBody>
      </p:sp>
      <p:sp>
        <p:nvSpPr>
          <p:cNvPr id="6" name="Subtitle 5"/>
          <p:cNvSpPr txBox="1">
            <a:spLocks/>
          </p:cNvSpPr>
          <p:nvPr/>
        </p:nvSpPr>
        <p:spPr>
          <a:xfrm>
            <a:off x="5863008" y="4422526"/>
            <a:ext cx="2949713" cy="45373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lnSpc>
                <a:spcPts val="28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2400" kern="120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lnSpc>
                <a:spcPts val="2500"/>
              </a:lnSpc>
              <a:spcBef>
                <a:spcPts val="200"/>
              </a:spcBef>
              <a:spcAft>
                <a:spcPts val="20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SzPct val="100000"/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42913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1"/>
                </a:solidFill>
                <a:latin typeface="+mn-lt"/>
                <a:cs typeface="Century Gothic"/>
              </a:rPr>
              <a:t>Edward Pollack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tx1"/>
                </a:solidFill>
                <a:latin typeface="+mn-lt"/>
                <a:cs typeface="Century Gothic"/>
              </a:rPr>
              <a:t>Microsoft Data Platform MVP</a:t>
            </a:r>
            <a:endParaRPr lang="en-US" sz="1400" dirty="0">
              <a:solidFill>
                <a:schemeClr val="tx1"/>
              </a:solidFill>
              <a:latin typeface="+mn-lt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9568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943" y="-12101"/>
            <a:ext cx="7712651" cy="585661"/>
          </a:xfrm>
        </p:spPr>
        <p:txBody>
          <a:bodyPr/>
          <a:lstStyle/>
          <a:p>
            <a:r>
              <a:rPr lang="en-US" dirty="0"/>
              <a:t>Ed Pollack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942" y="519554"/>
            <a:ext cx="8224118" cy="3751008"/>
          </a:xfrm>
        </p:spPr>
        <p:txBody>
          <a:bodyPr>
            <a:normAutofit fontScale="77500" lnSpcReduction="20000"/>
          </a:bodyPr>
          <a:lstStyle/>
          <a:p>
            <a:pPr marL="257154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Microsoft Data Platform MVP</a:t>
            </a:r>
          </a:p>
          <a:p>
            <a:pPr marL="257154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Published author of:</a:t>
            </a:r>
          </a:p>
          <a:p>
            <a:pPr marL="600026" lvl="1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Dynamic SQL: Applications, Performance, and Security, 2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nd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2"/>
              </a:rPr>
              <a:t> Edition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Analytics Optimization with Columnstore Indexes in SQL Server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95301" lvl="2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</a:rPr>
              <a:t>nd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 edition forthcoming in spring 2026.</a:t>
            </a:r>
          </a:p>
          <a:p>
            <a:pPr marL="600026" lvl="1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Expert Performance Indexing in SQL Server, 4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th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 Edition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Published in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Expert T-SQL Functions in SQL Server, 3</a:t>
            </a:r>
            <a:r>
              <a:rPr lang="en-US" baseline="300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rd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 Edition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57154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Author on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Simple Talk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257154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Organizes:</a:t>
            </a:r>
          </a:p>
          <a:p>
            <a:pPr marL="600026" lvl="1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SQL Saturday Albany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SQL Saturday New York City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600026" lvl="1" indent="-257154"/>
            <a:r>
              <a:rPr lang="en-US">
                <a:latin typeface="Arial" panose="020B0604020202020204" pitchFamily="34" charset="0"/>
                <a:hlinkClick r:id="rId9"/>
              </a:rPr>
              <a:t>Capital </a:t>
            </a:r>
            <a:r>
              <a:rPr lang="en-US" dirty="0">
                <a:latin typeface="Arial" panose="020B0604020202020204" pitchFamily="34" charset="0"/>
                <a:hlinkClick r:id="rId9"/>
              </a:rPr>
              <a:t>Area SQL Server User Group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57154" indent="-257154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</a:rPr>
              <a:t>Speaker at many data events</a:t>
            </a:r>
          </a:p>
          <a:p>
            <a:pPr marL="257154" indent="-257154"/>
            <a:r>
              <a:rPr lang="en-IN" dirty="0">
                <a:solidFill>
                  <a:schemeClr val="tx1"/>
                </a:solidFill>
                <a:latin typeface="Arial" panose="020B0604020202020204" pitchFamily="34" charset="0"/>
              </a:rPr>
              <a:t>Find me on: </a:t>
            </a:r>
            <a:r>
              <a:rPr lang="en-IN" sz="1800" b="1" dirty="0">
                <a:latin typeface="Arial" panose="020B0604020202020204" pitchFamily="34" charset="0"/>
                <a:hlinkClick r:id="rId10"/>
              </a:rPr>
              <a:t>LinkedIn</a:t>
            </a:r>
            <a:endParaRPr lang="en-IN" sz="1800" b="1" i="1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9A8EF-B183-4015-BB48-2C07A22F56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048" y="2933050"/>
            <a:ext cx="1657837" cy="2210449"/>
          </a:xfrm>
          <a:prstGeom prst="rect">
            <a:avLst/>
          </a:prstGeom>
        </p:spPr>
      </p:pic>
      <p:pic>
        <p:nvPicPr>
          <p:cNvPr id="5" name="Picture 4" descr="A picture containing graphical user interface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D3F7A6C4-8D67-22BC-72B0-492FB7CFB8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7690" y="3922657"/>
            <a:ext cx="1220842" cy="1220842"/>
          </a:xfrm>
          <a:prstGeom prst="rect">
            <a:avLst/>
          </a:prstGeom>
        </p:spPr>
      </p:pic>
      <p:pic>
        <p:nvPicPr>
          <p:cNvPr id="6" name="Picture 5">
            <a:hlinkClick r:id="rId6"/>
            <a:extLst>
              <a:ext uri="{FF2B5EF4-FFF2-40B4-BE49-F238E27FC236}">
                <a16:creationId xmlns:a16="http://schemas.microsoft.com/office/drawing/2014/main" id="{C0150A70-4960-1467-2BCE-63525BFB5D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07681" y="4434746"/>
            <a:ext cx="1350008" cy="708754"/>
          </a:xfrm>
          <a:prstGeom prst="rect">
            <a:avLst/>
          </a:prstGeom>
        </p:spPr>
      </p:pic>
      <p:pic>
        <p:nvPicPr>
          <p:cNvPr id="9" name="Picture 8" descr="A blue and white sign&#10;&#10;Description automatically generated with low confidence">
            <a:hlinkClick r:id="rId15"/>
            <a:extLst>
              <a:ext uri="{FF2B5EF4-FFF2-40B4-BE49-F238E27FC236}">
                <a16:creationId xmlns:a16="http://schemas.microsoft.com/office/drawing/2014/main" id="{1EA7EEA1-2A6F-B598-BAAE-DC313E479F0A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206" y="3241296"/>
            <a:ext cx="1210608" cy="1899723"/>
          </a:xfrm>
          <a:prstGeom prst="rect">
            <a:avLst/>
          </a:prstGeom>
        </p:spPr>
      </p:pic>
      <p:pic>
        <p:nvPicPr>
          <p:cNvPr id="10" name="Picture 9" descr="A grey and orange logo&#10;&#10;Description automatically generated with low confidence">
            <a:hlinkClick r:id="rId17"/>
            <a:extLst>
              <a:ext uri="{FF2B5EF4-FFF2-40B4-BE49-F238E27FC236}">
                <a16:creationId xmlns:a16="http://schemas.microsoft.com/office/drawing/2014/main" id="{23D99231-E9AF-62EA-4A9E-A65939B3447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15" y="4545612"/>
            <a:ext cx="1466566" cy="611501"/>
          </a:xfrm>
          <a:prstGeom prst="rect">
            <a:avLst/>
          </a:prstGeom>
        </p:spPr>
      </p:pic>
      <p:pic>
        <p:nvPicPr>
          <p:cNvPr id="11" name="Picture 10">
            <a:hlinkClick r:id="rId19"/>
            <a:extLst>
              <a:ext uri="{FF2B5EF4-FFF2-40B4-BE49-F238E27FC236}">
                <a16:creationId xmlns:a16="http://schemas.microsoft.com/office/drawing/2014/main" id="{CE1D1CE2-6B81-A465-0427-26DEE99175A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71" y="4126459"/>
            <a:ext cx="2733184" cy="389479"/>
          </a:xfrm>
          <a:prstGeom prst="rect">
            <a:avLst/>
          </a:prstGeom>
        </p:spPr>
      </p:pic>
      <p:pic>
        <p:nvPicPr>
          <p:cNvPr id="8" name="Picture 7" descr="A red sign with white text&#10;&#10;Description automatically generated">
            <a:extLst>
              <a:ext uri="{FF2B5EF4-FFF2-40B4-BE49-F238E27FC236}">
                <a16:creationId xmlns:a16="http://schemas.microsoft.com/office/drawing/2014/main" id="{E22618DD-8B63-0416-0E5A-EFEA5D3C7869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532" y="3619733"/>
            <a:ext cx="1141971" cy="15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62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Life Cycle</a:t>
            </a:r>
            <a:br>
              <a:rPr lang="en-US" dirty="0"/>
            </a:br>
            <a:r>
              <a:rPr lang="en-US" sz="2000" i="1" dirty="0"/>
              <a:t>(Sometimes)</a:t>
            </a:r>
            <a:endParaRPr lang="en-US" sz="2000" dirty="0"/>
          </a:p>
        </p:txBody>
      </p:sp>
      <p:pic>
        <p:nvPicPr>
          <p:cNvPr id="6" name="Content Placeholder 5" descr="A diagram of a design&#10;&#10;Description automatically generated">
            <a:extLst>
              <a:ext uri="{FF2B5EF4-FFF2-40B4-BE49-F238E27FC236}">
                <a16:creationId xmlns:a16="http://schemas.microsoft.com/office/drawing/2014/main" id="{AF99A12C-7BD0-7D3F-BF0B-A680FBFA5A1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83" y="1580606"/>
            <a:ext cx="8613179" cy="2377439"/>
          </a:xfrm>
        </p:spPr>
      </p:pic>
    </p:spTree>
    <p:extLst>
      <p:ext uri="{BB962C8B-B14F-4D97-AF65-F5344CB8AC3E}">
        <p14:creationId xmlns:p14="http://schemas.microsoft.com/office/powerpoint/2010/main" val="2079728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Development Life Cycle</a:t>
            </a:r>
            <a:br>
              <a:rPr lang="en-US" dirty="0"/>
            </a:br>
            <a:r>
              <a:rPr lang="en-US" sz="2000" i="1" dirty="0"/>
              <a:t>(Sometimes)</a:t>
            </a:r>
          </a:p>
        </p:txBody>
      </p:sp>
      <p:pic>
        <p:nvPicPr>
          <p:cNvPr id="6" name="Content Placeholder 5" descr="A green sign with black text&#10;&#10;Description automatically generated">
            <a:extLst>
              <a:ext uri="{FF2B5EF4-FFF2-40B4-BE49-F238E27FC236}">
                <a16:creationId xmlns:a16="http://schemas.microsoft.com/office/drawing/2014/main" id="{566585EC-22B8-FC9C-1F73-479AADF909B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76" y="1742190"/>
            <a:ext cx="8722227" cy="1634559"/>
          </a:xfrm>
        </p:spPr>
      </p:pic>
    </p:spTree>
    <p:extLst>
      <p:ext uri="{BB962C8B-B14F-4D97-AF65-F5344CB8AC3E}">
        <p14:creationId xmlns:p14="http://schemas.microsoft.com/office/powerpoint/2010/main" val="418940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Data &amp; AI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05130" y="1031036"/>
            <a:ext cx="8242300" cy="3232727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Data grows and evolves over time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Data may be copied/moved/transformed many times prior to ML/AI</a:t>
            </a:r>
          </a:p>
          <a:p>
            <a:pPr marL="34290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Existing data quality is inherited by downstream processes</a:t>
            </a:r>
          </a:p>
          <a:p>
            <a:pPr marL="34290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AI processes are often quite authoritative</a:t>
            </a:r>
          </a:p>
        </p:txBody>
      </p:sp>
      <p:pic>
        <p:nvPicPr>
          <p:cNvPr id="4" name="Picture 3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F7B59EFD-7FDB-A9A3-6AB7-17DE78B94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3658925"/>
            <a:ext cx="872490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64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F64B-91F3-BF45-7856-A433F4441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6996-3B45-2F95-0132-AA93078BD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Important Reminder!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5F654AE-8211-C0A2-95DC-966FA0D499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5130" y="1031036"/>
            <a:ext cx="8242300" cy="3232727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AI Algorithms are </a:t>
            </a:r>
            <a:r>
              <a:rPr lang="en-US" sz="2600" b="1" dirty="0">
                <a:solidFill>
                  <a:schemeClr val="tx1"/>
                </a:solidFill>
              </a:rPr>
              <a:t>software tools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endParaRPr lang="en-US" sz="26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They are trained on, and act on </a:t>
            </a:r>
            <a:r>
              <a:rPr lang="en-US" sz="2600" b="1" dirty="0">
                <a:solidFill>
                  <a:schemeClr val="tx1"/>
                </a:solidFill>
              </a:rPr>
              <a:t>data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endParaRPr lang="en-US" sz="260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We</a:t>
            </a:r>
            <a:r>
              <a:rPr lang="en-US" sz="2600" dirty="0">
                <a:solidFill>
                  <a:schemeClr val="tx1"/>
                </a:solidFill>
              </a:rPr>
              <a:t> are responsible for software that uses these algorithms!</a:t>
            </a:r>
          </a:p>
        </p:txBody>
      </p:sp>
    </p:spTree>
    <p:extLst>
      <p:ext uri="{BB962C8B-B14F-4D97-AF65-F5344CB8AC3E}">
        <p14:creationId xmlns:p14="http://schemas.microsoft.com/office/powerpoint/2010/main" val="2169771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50850" y="1444238"/>
            <a:ext cx="8242300" cy="3232727"/>
          </a:xfrm>
        </p:spPr>
        <p:txBody>
          <a:bodyPr/>
          <a:lstStyle/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6500" b="1" i="1" dirty="0">
                <a:solidFill>
                  <a:schemeClr val="bg2">
                    <a:lumMod val="75000"/>
                  </a:schemeClr>
                </a:solidFill>
              </a:rPr>
              <a:t>How can we</a:t>
            </a:r>
          </a:p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6500" b="1" i="1" dirty="0">
                <a:solidFill>
                  <a:schemeClr val="bg2">
                    <a:lumMod val="75000"/>
                  </a:schemeClr>
                </a:solidFill>
              </a:rPr>
              <a:t>prevent bad data?</a:t>
            </a:r>
          </a:p>
        </p:txBody>
      </p:sp>
    </p:spTree>
    <p:extLst>
      <p:ext uri="{BB962C8B-B14F-4D97-AF65-F5344CB8AC3E}">
        <p14:creationId xmlns:p14="http://schemas.microsoft.com/office/powerpoint/2010/main" val="98953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OLTP/App/Edge Data: Data Starts Here!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This is </a:t>
            </a:r>
            <a:r>
              <a:rPr lang="en-US" sz="3000" b="1" dirty="0">
                <a:solidFill>
                  <a:schemeClr val="tx1"/>
                </a:solidFill>
              </a:rPr>
              <a:t>bad application data</a:t>
            </a:r>
            <a:r>
              <a:rPr lang="en-US" sz="3000" dirty="0">
                <a:solidFill>
                  <a:schemeClr val="tx1"/>
                </a:solidFill>
              </a:rPr>
              <a:t>!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Its data journey </a:t>
            </a:r>
            <a:r>
              <a:rPr lang="en-US" sz="3000" b="1" dirty="0">
                <a:solidFill>
                  <a:schemeClr val="tx1"/>
                </a:solidFill>
              </a:rPr>
              <a:t>begins here</a:t>
            </a:r>
            <a:r>
              <a:rPr lang="en-US" sz="30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Bad data from here will persist </a:t>
            </a:r>
            <a:r>
              <a:rPr lang="en-US" sz="3000" b="1" dirty="0">
                <a:solidFill>
                  <a:schemeClr val="tx1"/>
                </a:solidFill>
              </a:rPr>
              <a:t>forever</a:t>
            </a:r>
            <a:r>
              <a:rPr lang="en-US" sz="30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6" name="Picture 5" descr="A cartoon of a trash can&#10;&#10;Description automatically generated">
            <a:extLst>
              <a:ext uri="{FF2B5EF4-FFF2-40B4-BE49-F238E27FC236}">
                <a16:creationId xmlns:a16="http://schemas.microsoft.com/office/drawing/2014/main" id="{BDE94873-D4D8-22A1-B686-400995E90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603" y="2945482"/>
            <a:ext cx="1500794" cy="201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6A16-903B-FB50-2526-E3763970E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6FFA-2B2A-CFD0-6D75-BE04A0B8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OLTP/App/Edge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2E89D3-C32E-C541-4B1E-A436081583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Application</a:t>
            </a:r>
            <a:r>
              <a:rPr lang="en-US" sz="3000" dirty="0">
                <a:solidFill>
                  <a:schemeClr val="tx1"/>
                </a:solidFill>
              </a:rPr>
              <a:t> constraints/restrictions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Routine data </a:t>
            </a:r>
            <a:r>
              <a:rPr lang="en-US" sz="3000" b="1" dirty="0">
                <a:solidFill>
                  <a:schemeClr val="tx1"/>
                </a:solidFill>
              </a:rPr>
              <a:t>validation</a:t>
            </a:r>
            <a:r>
              <a:rPr lang="en-US" sz="3000" dirty="0">
                <a:solidFill>
                  <a:schemeClr val="tx1"/>
                </a:solidFill>
              </a:rPr>
              <a:t> processes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Unique</a:t>
            </a:r>
            <a:r>
              <a:rPr lang="en-US" sz="3000" dirty="0">
                <a:solidFill>
                  <a:schemeClr val="tx1"/>
                </a:solidFill>
              </a:rPr>
              <a:t> indexes/constraints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Foreign </a:t>
            </a:r>
            <a:r>
              <a:rPr lang="en-US" sz="3000" b="1" dirty="0">
                <a:solidFill>
                  <a:schemeClr val="tx1"/>
                </a:solidFill>
              </a:rPr>
              <a:t>keys</a:t>
            </a:r>
            <a:r>
              <a:rPr lang="en-US" sz="3000" dirty="0">
                <a:solidFill>
                  <a:schemeClr val="tx1"/>
                </a:solidFill>
              </a:rPr>
              <a:t>/check constraints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Many of the above!</a:t>
            </a:r>
          </a:p>
        </p:txBody>
      </p:sp>
    </p:spTree>
    <p:extLst>
      <p:ext uri="{BB962C8B-B14F-4D97-AF65-F5344CB8AC3E}">
        <p14:creationId xmlns:p14="http://schemas.microsoft.com/office/powerpoint/2010/main" val="2796471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A9C8A-0B3D-FF2A-92BE-A1366BAB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67B4-EB5C-41BE-09DF-91D5A9AA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ETL/ELT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137EA2-8851-E94B-DFB7-14DF12BD326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Validate</a:t>
            </a:r>
            <a:r>
              <a:rPr lang="en-US" sz="3000" dirty="0">
                <a:solidFill>
                  <a:schemeClr val="tx1"/>
                </a:solidFill>
              </a:rPr>
              <a:t> data during movement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Before vs. after testing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Metrics</a:t>
            </a:r>
            <a:r>
              <a:rPr lang="en-US" sz="3000" dirty="0">
                <a:solidFill>
                  <a:schemeClr val="tx1"/>
                </a:solidFill>
              </a:rPr>
              <a:t> (Counts, min, max, sum, </a:t>
            </a:r>
            <a:r>
              <a:rPr lang="en-US" sz="3000" dirty="0" err="1">
                <a:solidFill>
                  <a:schemeClr val="tx1"/>
                </a:solidFill>
              </a:rPr>
              <a:t>etc</a:t>
            </a:r>
            <a:r>
              <a:rPr lang="en-US" sz="3000" dirty="0">
                <a:solidFill>
                  <a:schemeClr val="tx1"/>
                </a:solidFill>
              </a:rPr>
              <a:t>…)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Value-based validation</a:t>
            </a:r>
          </a:p>
          <a:p>
            <a:pPr marL="685800" lvl="1">
              <a:spcBef>
                <a:spcPts val="0"/>
              </a:spcBef>
            </a:pPr>
            <a:r>
              <a:rPr lang="en-US" sz="2600" dirty="0">
                <a:solidFill>
                  <a:schemeClr val="tx1"/>
                </a:solidFill>
              </a:rPr>
              <a:t>Are values realistic/correct?</a:t>
            </a:r>
          </a:p>
        </p:txBody>
      </p:sp>
    </p:spTree>
    <p:extLst>
      <p:ext uri="{BB962C8B-B14F-4D97-AF65-F5344CB8AC3E}">
        <p14:creationId xmlns:p14="http://schemas.microsoft.com/office/powerpoint/2010/main" val="312459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OLAP/Report/Analytic Data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44500" y="1189512"/>
            <a:ext cx="8242300" cy="3232727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Validate data </a:t>
            </a:r>
            <a:r>
              <a:rPr lang="en-US" sz="3000" b="1" dirty="0">
                <a:solidFill>
                  <a:schemeClr val="tx1"/>
                </a:solidFill>
              </a:rPr>
              <a:t>after</a:t>
            </a:r>
            <a:r>
              <a:rPr lang="en-US" sz="3000" dirty="0">
                <a:solidFill>
                  <a:schemeClr val="tx1"/>
                </a:solidFill>
              </a:rPr>
              <a:t> movement:</a:t>
            </a:r>
          </a:p>
          <a:p>
            <a:pPr marL="685800" lvl="1">
              <a:spcBef>
                <a:spcPts val="0"/>
              </a:spcBef>
            </a:pPr>
            <a:r>
              <a:rPr lang="en-US" sz="2600" dirty="0">
                <a:solidFill>
                  <a:schemeClr val="tx1"/>
                </a:solidFill>
              </a:rPr>
              <a:t>Data </a:t>
            </a:r>
            <a:r>
              <a:rPr lang="en-US" sz="2600" b="1" dirty="0">
                <a:solidFill>
                  <a:schemeClr val="tx1"/>
                </a:solidFill>
              </a:rPr>
              <a:t>size</a:t>
            </a:r>
            <a:r>
              <a:rPr lang="en-US" sz="2600" dirty="0">
                <a:solidFill>
                  <a:schemeClr val="tx1"/>
                </a:solidFill>
              </a:rPr>
              <a:t> (row count, byte count, </a:t>
            </a:r>
            <a:r>
              <a:rPr lang="en-US" sz="2600" dirty="0" err="1">
                <a:solidFill>
                  <a:schemeClr val="tx1"/>
                </a:solidFill>
              </a:rPr>
              <a:t>etc</a:t>
            </a:r>
            <a:r>
              <a:rPr lang="en-US" sz="2600" dirty="0">
                <a:solidFill>
                  <a:schemeClr val="tx1"/>
                </a:solidFill>
              </a:rPr>
              <a:t>…)</a:t>
            </a:r>
          </a:p>
          <a:p>
            <a:pPr marL="685800" lvl="1">
              <a:spcBef>
                <a:spcPts val="0"/>
              </a:spcBef>
            </a:pPr>
            <a:r>
              <a:rPr lang="en-US" sz="2500" dirty="0">
                <a:solidFill>
                  <a:schemeClr val="tx1"/>
                </a:solidFill>
              </a:rPr>
              <a:t>Validate </a:t>
            </a:r>
            <a:r>
              <a:rPr lang="en-US" sz="2500" b="1" dirty="0">
                <a:solidFill>
                  <a:schemeClr val="tx1"/>
                </a:solidFill>
              </a:rPr>
              <a:t>values</a:t>
            </a:r>
            <a:r>
              <a:rPr lang="en-US" sz="2500" dirty="0">
                <a:solidFill>
                  <a:schemeClr val="tx1"/>
                </a:solidFill>
              </a:rPr>
              <a:t> (uniqueness, NULL? invalid values?)</a:t>
            </a:r>
          </a:p>
          <a:p>
            <a:pPr marL="685800" lvl="1">
              <a:spcBef>
                <a:spcPts val="0"/>
              </a:spcBef>
            </a:pPr>
            <a:r>
              <a:rPr lang="en-US" sz="2600" b="1" dirty="0">
                <a:solidFill>
                  <a:schemeClr val="tx1"/>
                </a:solidFill>
              </a:rPr>
              <a:t>Missing</a:t>
            </a:r>
            <a:r>
              <a:rPr lang="en-US" sz="2600" dirty="0">
                <a:solidFill>
                  <a:schemeClr val="tx1"/>
                </a:solidFill>
              </a:rPr>
              <a:t> data?</a:t>
            </a:r>
          </a:p>
          <a:p>
            <a:pPr marL="685800" lvl="1">
              <a:spcBef>
                <a:spcPts val="0"/>
              </a:spcBef>
            </a:pPr>
            <a:r>
              <a:rPr lang="en-US" sz="2600" b="1" dirty="0">
                <a:solidFill>
                  <a:schemeClr val="tx1"/>
                </a:solidFill>
              </a:rPr>
              <a:t>Duplicate</a:t>
            </a:r>
            <a:r>
              <a:rPr lang="en-US" sz="2600" dirty="0">
                <a:solidFill>
                  <a:schemeClr val="tx1"/>
                </a:solidFill>
              </a:rPr>
              <a:t> data?</a:t>
            </a:r>
          </a:p>
          <a:p>
            <a:pPr marL="685800" lvl="1">
              <a:spcBef>
                <a:spcPts val="0"/>
              </a:spcBef>
            </a:pPr>
            <a:r>
              <a:rPr lang="en-US" sz="2600" dirty="0">
                <a:solidFill>
                  <a:schemeClr val="tx1"/>
                </a:solidFill>
              </a:rPr>
              <a:t>Edge-cases?</a:t>
            </a:r>
          </a:p>
          <a:p>
            <a:pPr marL="685800" lvl="1">
              <a:spcBef>
                <a:spcPts val="0"/>
              </a:spcBef>
            </a:pPr>
            <a:r>
              <a:rPr lang="en-US" sz="2600" dirty="0">
                <a:solidFill>
                  <a:schemeClr val="tx1"/>
                </a:solidFill>
              </a:rPr>
              <a:t>Inconsistent values?</a:t>
            </a:r>
            <a:br>
              <a:rPr lang="en-US" sz="2600" dirty="0">
                <a:solidFill>
                  <a:schemeClr val="tx1"/>
                </a:solidFill>
              </a:rPr>
            </a:br>
            <a:endParaRPr lang="en-US" sz="2600" dirty="0">
              <a:solidFill>
                <a:schemeClr val="tx1"/>
              </a:solidFill>
            </a:endParaRPr>
          </a:p>
          <a:p>
            <a:pPr lvl="1" indent="0" algn="ctr">
              <a:spcBef>
                <a:spcPts val="0"/>
              </a:spcBef>
              <a:buNone/>
            </a:pPr>
            <a:r>
              <a:rPr lang="en-US" sz="2600" b="1" i="1" dirty="0">
                <a:solidFill>
                  <a:schemeClr val="bg2">
                    <a:lumMod val="75000"/>
                  </a:schemeClr>
                </a:solidFill>
              </a:rPr>
              <a:t>Validate BEFORE training models/RAG!</a:t>
            </a:r>
          </a:p>
        </p:txBody>
      </p:sp>
    </p:spTree>
    <p:extLst>
      <p:ext uri="{BB962C8B-B14F-4D97-AF65-F5344CB8AC3E}">
        <p14:creationId xmlns:p14="http://schemas.microsoft.com/office/powerpoint/2010/main" val="3151584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Post-Release Validation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When </a:t>
            </a:r>
            <a:r>
              <a:rPr lang="en-US" sz="3000" b="1" dirty="0">
                <a:solidFill>
                  <a:schemeClr val="tx1"/>
                </a:solidFill>
              </a:rPr>
              <a:t>code changes</a:t>
            </a:r>
            <a:r>
              <a:rPr lang="en-US" sz="3000" dirty="0">
                <a:solidFill>
                  <a:schemeClr val="tx1"/>
                </a:solidFill>
              </a:rPr>
              <a:t>, validate impacted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Back up </a:t>
            </a:r>
            <a:r>
              <a:rPr lang="en-US" sz="3000" dirty="0">
                <a:solidFill>
                  <a:schemeClr val="tx1"/>
                </a:solidFill>
              </a:rPr>
              <a:t>any data-to-be-modified!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Without </a:t>
            </a:r>
            <a:r>
              <a:rPr lang="en-US" sz="3000" b="1" dirty="0">
                <a:solidFill>
                  <a:schemeClr val="tx1"/>
                </a:solidFill>
              </a:rPr>
              <a:t>QA</a:t>
            </a:r>
            <a:r>
              <a:rPr lang="en-US" sz="3000" dirty="0">
                <a:solidFill>
                  <a:schemeClr val="tx1"/>
                </a:solidFill>
              </a:rPr>
              <a:t>, existing data/validation may become incomplete/incorrect.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0F6E9-1B57-D8D6-D288-CDFAFA6BC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314" y="2827232"/>
            <a:ext cx="1476581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6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Names/Data Types Matter!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52438" y="966651"/>
            <a:ext cx="8242300" cy="3651531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Poorly named data </a:t>
            </a:r>
            <a:r>
              <a:rPr lang="en-US" sz="3000" dirty="0">
                <a:solidFill>
                  <a:schemeClr val="tx1"/>
                </a:solidFill>
              </a:rPr>
              <a:t>elements can trick AI (or us!) into making bad decisions.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Poorly typed data </a:t>
            </a:r>
            <a:r>
              <a:rPr lang="en-US" sz="3000" dirty="0">
                <a:solidFill>
                  <a:schemeClr val="tx1"/>
                </a:solidFill>
              </a:rPr>
              <a:t>can confuse AI.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Is data </a:t>
            </a:r>
            <a:r>
              <a:rPr lang="en-US" sz="3000" b="1" dirty="0">
                <a:solidFill>
                  <a:schemeClr val="tx1"/>
                </a:solidFill>
              </a:rPr>
              <a:t>excluded</a:t>
            </a:r>
            <a:r>
              <a:rPr lang="en-US" sz="3000" dirty="0">
                <a:solidFill>
                  <a:schemeClr val="tx1"/>
                </a:solidFill>
              </a:rPr>
              <a:t> due to metadata values?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Check with </a:t>
            </a:r>
            <a:r>
              <a:rPr lang="en-US" sz="3000" b="1" dirty="0">
                <a:solidFill>
                  <a:schemeClr val="tx1"/>
                </a:solidFill>
              </a:rPr>
              <a:t>original data source</a:t>
            </a:r>
            <a:r>
              <a:rPr lang="en-US" sz="3000" dirty="0">
                <a:solidFill>
                  <a:schemeClr val="tx1"/>
                </a:solidFill>
              </a:rPr>
              <a:t>, if needed.</a:t>
            </a:r>
          </a:p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2600" i="1" dirty="0">
                <a:solidFill>
                  <a:schemeClr val="bg2">
                    <a:lumMod val="75000"/>
                  </a:schemeClr>
                </a:solidFill>
              </a:rPr>
              <a:t>Integer named “</a:t>
            </a:r>
            <a:r>
              <a:rPr lang="en-US" sz="2600" b="1" i="1" dirty="0">
                <a:solidFill>
                  <a:schemeClr val="bg2">
                    <a:lumMod val="75000"/>
                  </a:schemeClr>
                </a:solidFill>
              </a:rPr>
              <a:t>Invoice</a:t>
            </a:r>
            <a:r>
              <a:rPr lang="en-US" sz="2600" i="1" dirty="0">
                <a:solidFill>
                  <a:schemeClr val="bg2">
                    <a:lumMod val="75000"/>
                  </a:schemeClr>
                </a:solidFill>
              </a:rPr>
              <a:t>”? What is it?</a:t>
            </a:r>
          </a:p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2600" i="1" dirty="0">
                <a:solidFill>
                  <a:schemeClr val="bg2">
                    <a:lumMod val="75000"/>
                  </a:schemeClr>
                </a:solidFill>
              </a:rPr>
              <a:t>Datetime named “</a:t>
            </a:r>
            <a:r>
              <a:rPr lang="en-US" sz="2600" b="1" i="1" dirty="0" err="1">
                <a:solidFill>
                  <a:schemeClr val="bg2">
                    <a:lumMod val="75000"/>
                  </a:schemeClr>
                </a:solidFill>
              </a:rPr>
              <a:t>EntryTime</a:t>
            </a:r>
            <a:r>
              <a:rPr lang="en-US" sz="2600" i="1" dirty="0">
                <a:solidFill>
                  <a:schemeClr val="bg2">
                    <a:lumMod val="75000"/>
                  </a:schemeClr>
                </a:solidFill>
              </a:rPr>
              <a:t>”? Is it date/time or time?</a:t>
            </a:r>
          </a:p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2600" i="1" dirty="0">
                <a:solidFill>
                  <a:schemeClr val="bg2">
                    <a:lumMod val="75000"/>
                  </a:schemeClr>
                </a:solidFill>
              </a:rPr>
              <a:t>Column named “</a:t>
            </a:r>
            <a:r>
              <a:rPr lang="en-US" sz="2600" b="1" i="1" dirty="0" err="1">
                <a:solidFill>
                  <a:schemeClr val="bg2">
                    <a:lumMod val="75000"/>
                  </a:schemeClr>
                </a:solidFill>
              </a:rPr>
              <a:t>IsDeleted</a:t>
            </a:r>
            <a:r>
              <a:rPr lang="en-US" sz="2600" i="1" dirty="0">
                <a:solidFill>
                  <a:schemeClr val="bg2">
                    <a:lumMod val="75000"/>
                  </a:schemeClr>
                </a:solidFill>
              </a:rPr>
              <a:t>”: Should AI use this data?</a:t>
            </a:r>
          </a:p>
        </p:txBody>
      </p:sp>
    </p:spTree>
    <p:extLst>
      <p:ext uri="{BB962C8B-B14F-4D97-AF65-F5344CB8AC3E}">
        <p14:creationId xmlns:p14="http://schemas.microsoft.com/office/powerpoint/2010/main" val="1688198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Training Data vs. RAG Data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Both are important for a scalable AI application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Both can experience bad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Bad training data = </a:t>
            </a:r>
            <a:r>
              <a:rPr lang="en-US" sz="2800" b="1" dirty="0">
                <a:solidFill>
                  <a:schemeClr val="tx1"/>
                </a:solidFill>
              </a:rPr>
              <a:t>misbehaving model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Bad RAG data = </a:t>
            </a:r>
            <a:r>
              <a:rPr lang="en-US" sz="2800" b="1" dirty="0">
                <a:solidFill>
                  <a:schemeClr val="tx1"/>
                </a:solidFill>
              </a:rPr>
              <a:t>incorrect responses</a:t>
            </a:r>
          </a:p>
        </p:txBody>
      </p:sp>
    </p:spTree>
    <p:extLst>
      <p:ext uri="{BB962C8B-B14F-4D97-AF65-F5344CB8AC3E}">
        <p14:creationId xmlns:p14="http://schemas.microsoft.com/office/powerpoint/2010/main" val="3053296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274501" y="511249"/>
            <a:ext cx="8242300" cy="3232727"/>
          </a:xfrm>
        </p:spPr>
        <p:txBody>
          <a:bodyPr/>
          <a:lstStyle/>
          <a:p>
            <a:pPr lvl="0" algn="ctr">
              <a:spcBef>
                <a:spcPts val="0"/>
              </a:spcBef>
              <a:buClr>
                <a:srgbClr val="0090D2"/>
              </a:buClr>
            </a:pPr>
            <a:endParaRPr lang="en-US" sz="6500" b="1" i="1" dirty="0">
              <a:solidFill>
                <a:schemeClr val="bg2">
                  <a:lumMod val="75000"/>
                </a:schemeClr>
              </a:solidFill>
            </a:endParaRPr>
          </a:p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6500" b="1" i="1" dirty="0">
                <a:solidFill>
                  <a:schemeClr val="bg2">
                    <a:lumMod val="75000"/>
                  </a:schemeClr>
                </a:solidFill>
              </a:rPr>
              <a:t>How do we</a:t>
            </a:r>
            <a:br>
              <a:rPr lang="en-US" sz="6500" b="1" i="1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6500" b="1" i="1" dirty="0">
                <a:solidFill>
                  <a:schemeClr val="bg2">
                    <a:lumMod val="75000"/>
                  </a:schemeClr>
                </a:solidFill>
              </a:rPr>
              <a:t>cheat bad data?</a:t>
            </a:r>
          </a:p>
        </p:txBody>
      </p:sp>
    </p:spTree>
    <p:extLst>
      <p:ext uri="{BB962C8B-B14F-4D97-AF65-F5344CB8AC3E}">
        <p14:creationId xmlns:p14="http://schemas.microsoft.com/office/powerpoint/2010/main" val="446410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Improves AI interactions and output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Delineates </a:t>
            </a:r>
            <a:r>
              <a:rPr lang="en-US" sz="3000" b="1" dirty="0">
                <a:solidFill>
                  <a:schemeClr val="tx1"/>
                </a:solidFill>
              </a:rPr>
              <a:t>purpose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Ensures </a:t>
            </a:r>
            <a:r>
              <a:rPr lang="en-US" sz="3000" b="1" dirty="0">
                <a:solidFill>
                  <a:schemeClr val="tx1"/>
                </a:solidFill>
              </a:rPr>
              <a:t>relevance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Refines inputs/outputs</a:t>
            </a:r>
            <a:br>
              <a:rPr lang="en-US" sz="3000" dirty="0">
                <a:solidFill>
                  <a:schemeClr val="tx1"/>
                </a:solidFill>
              </a:rPr>
            </a:br>
            <a:endParaRPr lang="en-US" sz="3000" dirty="0">
              <a:solidFill>
                <a:schemeClr val="tx1"/>
              </a:solidFill>
            </a:endParaRPr>
          </a:p>
          <a:p>
            <a:pPr lvl="0" algn="ctr">
              <a:spcBef>
                <a:spcPts val="0"/>
              </a:spcBef>
              <a:buClr>
                <a:srgbClr val="0090D2"/>
              </a:buClr>
            </a:pPr>
            <a:r>
              <a:rPr lang="en-US" sz="3000" b="1" i="1" dirty="0">
                <a:solidFill>
                  <a:schemeClr val="bg2">
                    <a:lumMod val="75000"/>
                  </a:schemeClr>
                </a:solidFill>
              </a:rPr>
              <a:t>Cannot prompt your way out of bad data!</a:t>
            </a:r>
          </a:p>
        </p:txBody>
      </p:sp>
    </p:spTree>
    <p:extLst>
      <p:ext uri="{BB962C8B-B14F-4D97-AF65-F5344CB8AC3E}">
        <p14:creationId xmlns:p14="http://schemas.microsoft.com/office/powerpoint/2010/main" val="3552820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</a:t>
            </a:r>
            <a:r>
              <a:rPr lang="en-US" sz="3000" i="1" dirty="0"/>
              <a:t> (Retrieval Augmented Generation)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990" dirty="0">
                <a:solidFill>
                  <a:schemeClr val="tx1"/>
                </a:solidFill>
              </a:rPr>
              <a:t>This data used to provide </a:t>
            </a:r>
            <a:r>
              <a:rPr lang="en-US" sz="2990" b="1" dirty="0">
                <a:solidFill>
                  <a:schemeClr val="tx1"/>
                </a:solidFill>
              </a:rPr>
              <a:t>meaningful output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Train model on one data set, use </a:t>
            </a:r>
            <a:r>
              <a:rPr lang="en-US" sz="3000" b="1" dirty="0">
                <a:solidFill>
                  <a:schemeClr val="tx1"/>
                </a:solidFill>
              </a:rPr>
              <a:t>another data set</a:t>
            </a:r>
            <a:r>
              <a:rPr lang="en-US" sz="3000" dirty="0">
                <a:solidFill>
                  <a:schemeClr val="tx1"/>
                </a:solidFill>
              </a:rPr>
              <a:t> for RAG.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Cannot “fix” bad training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Fixing/updating bad RAG data is not hard.</a:t>
            </a:r>
          </a:p>
        </p:txBody>
      </p:sp>
    </p:spTree>
    <p:extLst>
      <p:ext uri="{BB962C8B-B14F-4D97-AF65-F5344CB8AC3E}">
        <p14:creationId xmlns:p14="http://schemas.microsoft.com/office/powerpoint/2010/main" val="389246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52438" y="864183"/>
            <a:ext cx="8242300" cy="3753999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Tailors model to a more </a:t>
            </a:r>
            <a:r>
              <a:rPr lang="en-US" sz="3000" b="1" dirty="0">
                <a:solidFill>
                  <a:schemeClr val="tx1"/>
                </a:solidFill>
              </a:rPr>
              <a:t>specific</a:t>
            </a:r>
            <a:r>
              <a:rPr lang="en-US" sz="3000" dirty="0">
                <a:solidFill>
                  <a:schemeClr val="tx1"/>
                </a:solidFill>
              </a:rPr>
              <a:t> use-case.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Adds specific </a:t>
            </a:r>
            <a:r>
              <a:rPr lang="en-US" sz="3000" b="1" dirty="0">
                <a:solidFill>
                  <a:schemeClr val="tx1"/>
                </a:solidFill>
              </a:rPr>
              <a:t>domain-knowledge</a:t>
            </a:r>
            <a:r>
              <a:rPr lang="en-US" sz="3000" dirty="0">
                <a:solidFill>
                  <a:schemeClr val="tx1"/>
                </a:solidFill>
              </a:rPr>
              <a:t> to data.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Required </a:t>
            </a:r>
            <a:r>
              <a:rPr lang="en-US" sz="3000" b="1" dirty="0">
                <a:solidFill>
                  <a:schemeClr val="tx1"/>
                </a:solidFill>
              </a:rPr>
              <a:t>specific</a:t>
            </a:r>
            <a:r>
              <a:rPr lang="en-US" sz="3000" dirty="0">
                <a:solidFill>
                  <a:schemeClr val="tx1"/>
                </a:solidFill>
              </a:rPr>
              <a:t> goals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Is </a:t>
            </a:r>
            <a:r>
              <a:rPr lang="en-US" sz="3000" b="1" dirty="0">
                <a:solidFill>
                  <a:schemeClr val="tx1"/>
                </a:solidFill>
              </a:rPr>
              <a:t>NOT</a:t>
            </a:r>
            <a:r>
              <a:rPr lang="en-US" sz="3000" dirty="0">
                <a:solidFill>
                  <a:schemeClr val="tx1"/>
                </a:solidFill>
              </a:rPr>
              <a:t> a solution to bad data.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endParaRPr lang="en-US" sz="3000" dirty="0">
              <a:solidFill>
                <a:schemeClr val="tx1"/>
              </a:solidFill>
            </a:endParaRPr>
          </a:p>
        </p:txBody>
      </p:sp>
      <p:pic>
        <p:nvPicPr>
          <p:cNvPr id="6" name="Picture 5" descr="A red screwdriver with a red handle&#10;&#10;Description automatically generated">
            <a:extLst>
              <a:ext uri="{FF2B5EF4-FFF2-40B4-BE49-F238E27FC236}">
                <a16:creationId xmlns:a16="http://schemas.microsoft.com/office/drawing/2014/main" id="{06A4A55E-8C9F-A787-D158-96DF1F620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748" y="3276051"/>
            <a:ext cx="1828504" cy="17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693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4519-7353-B261-14E7-563F5200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289E-FCDC-7E8E-0238-5A2C1B93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is Not Always Better!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5A892B-4B2A-DC90-5B2E-B2C67B75EE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864183"/>
            <a:ext cx="8242300" cy="3232727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Ensure data points are:</a:t>
            </a:r>
          </a:p>
          <a:p>
            <a:pPr marL="685800" lvl="1">
              <a:spcBef>
                <a:spcPts val="0"/>
              </a:spcBef>
            </a:pPr>
            <a:r>
              <a:rPr lang="en-US" sz="2600" b="1" dirty="0">
                <a:solidFill>
                  <a:schemeClr val="tx1"/>
                </a:solidFill>
              </a:rPr>
              <a:t>Accurate</a:t>
            </a:r>
          </a:p>
          <a:p>
            <a:pPr marL="685800" lvl="1">
              <a:spcBef>
                <a:spcPts val="0"/>
              </a:spcBef>
            </a:pPr>
            <a:r>
              <a:rPr lang="en-US" sz="2600" b="1" dirty="0">
                <a:solidFill>
                  <a:schemeClr val="tx1"/>
                </a:solidFill>
              </a:rPr>
              <a:t>Relevant</a:t>
            </a:r>
          </a:p>
          <a:p>
            <a:pPr marL="685800" lvl="1">
              <a:spcBef>
                <a:spcPts val="0"/>
              </a:spcBef>
            </a:pPr>
            <a:r>
              <a:rPr lang="en-US" sz="2600" b="1" dirty="0">
                <a:solidFill>
                  <a:schemeClr val="tx1"/>
                </a:solidFill>
              </a:rPr>
              <a:t>Complete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b="1" dirty="0">
                <a:solidFill>
                  <a:schemeClr val="tx1"/>
                </a:solidFill>
              </a:rPr>
              <a:t>Reduce</a:t>
            </a:r>
            <a:r>
              <a:rPr lang="en-US" sz="3000" dirty="0">
                <a:solidFill>
                  <a:schemeClr val="tx1"/>
                </a:solidFill>
              </a:rPr>
              <a:t> Noise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3000" dirty="0">
                <a:solidFill>
                  <a:schemeClr val="tx1"/>
                </a:solidFill>
              </a:rPr>
              <a:t>Remove data that will lead to bad training or bad responses.</a:t>
            </a:r>
          </a:p>
        </p:txBody>
      </p:sp>
    </p:spTree>
    <p:extLst>
      <p:ext uri="{BB962C8B-B14F-4D97-AF65-F5344CB8AC3E}">
        <p14:creationId xmlns:p14="http://schemas.microsoft.com/office/powerpoint/2010/main" val="3451417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D228-D731-3AAC-B119-8A8A7218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8B03-EF97-64F3-E87A-960CCBCA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Data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8C14BB-7171-F777-FAF7-FA81E01687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955386"/>
            <a:ext cx="8242300" cy="3232727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Artificially-generated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Mimics real-world data</a:t>
            </a:r>
          </a:p>
          <a:p>
            <a:pPr marL="685800" lvl="1"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</a:rPr>
              <a:t>Same mathematical properties</a:t>
            </a:r>
          </a:p>
          <a:p>
            <a:pPr marL="685800" lvl="1">
              <a:spcBef>
                <a:spcPts val="0"/>
              </a:spcBef>
            </a:pPr>
            <a:r>
              <a:rPr lang="en-US" sz="2200" dirty="0">
                <a:solidFill>
                  <a:schemeClr val="tx1"/>
                </a:solidFill>
              </a:rPr>
              <a:t>Can replace PII/protected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Hard to generate without bias/replication/bad data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Need to prove that new data is </a:t>
            </a:r>
            <a:r>
              <a:rPr lang="en-US" sz="2200" b="1" i="1" dirty="0">
                <a:solidFill>
                  <a:schemeClr val="tx1"/>
                </a:solidFill>
              </a:rPr>
              <a:t>valid</a:t>
            </a:r>
            <a:r>
              <a:rPr lang="en-US" sz="2200" dirty="0">
                <a:solidFill>
                  <a:schemeClr val="tx1"/>
                </a:solidFill>
              </a:rPr>
              <a:t> AND </a:t>
            </a:r>
            <a:r>
              <a:rPr lang="en-US" sz="2200" b="1" i="1" dirty="0">
                <a:solidFill>
                  <a:schemeClr val="tx1"/>
                </a:solidFill>
              </a:rPr>
              <a:t>unique</a:t>
            </a:r>
            <a:r>
              <a:rPr lang="en-US" sz="2200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Validate: Does it </a:t>
            </a:r>
            <a:r>
              <a:rPr lang="en-US" sz="2200" b="1" dirty="0">
                <a:solidFill>
                  <a:schemeClr val="tx1"/>
                </a:solidFill>
              </a:rPr>
              <a:t>add value </a:t>
            </a:r>
            <a:r>
              <a:rPr lang="en-US" sz="2200" dirty="0">
                <a:solidFill>
                  <a:schemeClr val="tx1"/>
                </a:solidFill>
              </a:rPr>
              <a:t>to existing data?</a:t>
            </a:r>
          </a:p>
        </p:txBody>
      </p:sp>
    </p:spTree>
    <p:extLst>
      <p:ext uri="{BB962C8B-B14F-4D97-AF65-F5344CB8AC3E}">
        <p14:creationId xmlns:p14="http://schemas.microsoft.com/office/powerpoint/2010/main" val="2533081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Unlearning Data Can Harm Models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457200" y="955386"/>
            <a:ext cx="8242300" cy="3232727"/>
          </a:xfrm>
        </p:spPr>
        <p:txBody>
          <a:bodyPr/>
          <a:lstStyle/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Unlearning involves forcing a model to </a:t>
            </a:r>
            <a:r>
              <a:rPr lang="en-US" b="1" dirty="0">
                <a:solidFill>
                  <a:schemeClr val="tx1"/>
                </a:solidFill>
              </a:rPr>
              <a:t>forget specific information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685800" lvl="1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PII</a:t>
            </a:r>
          </a:p>
          <a:p>
            <a:pPr marL="685800" lvl="1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Bad data</a:t>
            </a:r>
          </a:p>
          <a:p>
            <a:pPr marL="685800" lvl="1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Copyrighted material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Beware </a:t>
            </a:r>
            <a:r>
              <a:rPr lang="en-US" b="1" dirty="0">
                <a:solidFill>
                  <a:schemeClr val="tx1"/>
                </a:solidFill>
              </a:rPr>
              <a:t>legal/compliance </a:t>
            </a:r>
            <a:r>
              <a:rPr lang="en-US" dirty="0">
                <a:solidFill>
                  <a:schemeClr val="tx1"/>
                </a:solidFill>
              </a:rPr>
              <a:t>issues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Test carefully to ensure no </a:t>
            </a:r>
            <a:r>
              <a:rPr lang="en-US" b="1" dirty="0">
                <a:solidFill>
                  <a:schemeClr val="tx1"/>
                </a:solidFill>
              </a:rPr>
              <a:t>adverse side-effects</a:t>
            </a:r>
          </a:p>
          <a:p>
            <a:pPr marL="342900" lvl="0" indent="-342900">
              <a:spcBef>
                <a:spcPts val="0"/>
              </a:spcBef>
              <a:buClr>
                <a:srgbClr val="0090D2"/>
              </a:buCl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Consider updating training data &amp; </a:t>
            </a:r>
            <a:r>
              <a:rPr lang="en-US" b="1" dirty="0">
                <a:solidFill>
                  <a:schemeClr val="tx1"/>
                </a:solidFill>
              </a:rPr>
              <a:t>retraining</a:t>
            </a:r>
            <a:r>
              <a:rPr lang="en-US" dirty="0">
                <a:solidFill>
                  <a:schemeClr val="tx1"/>
                </a:solidFill>
              </a:rPr>
              <a:t> a model</a:t>
            </a:r>
          </a:p>
        </p:txBody>
      </p:sp>
    </p:spTree>
    <p:extLst>
      <p:ext uri="{BB962C8B-B14F-4D97-AF65-F5344CB8AC3E}">
        <p14:creationId xmlns:p14="http://schemas.microsoft.com/office/powerpoint/2010/main" val="106091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493" dirty="0"/>
              <a:t>Conclusion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457200" y="816429"/>
            <a:ext cx="8229600" cy="370892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Bad data is most easily resolved </a:t>
            </a:r>
            <a:r>
              <a:rPr lang="en-US" b="1" dirty="0"/>
              <a:t>at its source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Data quality </a:t>
            </a:r>
            <a:r>
              <a:rPr lang="en-US" dirty="0"/>
              <a:t>rules have not changed over the years!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model manipulation is not a substitute for </a:t>
            </a:r>
            <a:r>
              <a:rPr lang="en-US" b="1" dirty="0"/>
              <a:t>good data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Carefully test models and ensure that invalid responses are identified and resolved by </a:t>
            </a:r>
            <a:r>
              <a:rPr lang="en-US" b="1" dirty="0"/>
              <a:t>finding their origin</a:t>
            </a:r>
            <a:r>
              <a:rPr lang="en-US" dirty="0"/>
              <a:t>.</a:t>
            </a:r>
          </a:p>
        </p:txBody>
      </p:sp>
      <p:pic>
        <p:nvPicPr>
          <p:cNvPr id="3" name="Picture 2" descr="A red tick in a box&#10;&#10;Description automatically generated">
            <a:extLst>
              <a:ext uri="{FF2B5EF4-FFF2-40B4-BE49-F238E27FC236}">
                <a16:creationId xmlns:a16="http://schemas.microsoft.com/office/drawing/2014/main" id="{FD4926A8-2C49-48ED-C470-4CD5AC503E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42" y="2930333"/>
            <a:ext cx="1856275" cy="214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647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8FE4AF-B348-5DEE-C10F-85D8705B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03" y="205979"/>
            <a:ext cx="8252828" cy="857250"/>
          </a:xfrm>
        </p:spPr>
        <p:txBody>
          <a:bodyPr/>
          <a:lstStyle/>
          <a:p>
            <a:r>
              <a:rPr lang="en-US" dirty="0"/>
              <a:t>Questions? Thank You!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7694-6D38-D578-B6BE-6A0138EC0E4E}"/>
              </a:ext>
            </a:extLst>
          </p:cNvPr>
          <p:cNvSpPr txBox="1"/>
          <p:nvPr/>
        </p:nvSpPr>
        <p:spPr>
          <a:xfrm>
            <a:off x="456902" y="860032"/>
            <a:ext cx="57806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Find me here:</a:t>
            </a:r>
            <a:endParaRPr lang="en-US" b="1" dirty="0">
              <a:hlinkClick r:id="rId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Ed Pollack | LinkedIn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Edward Pollack | Most Valuable Professionals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https://sessionize.com/edward-pollack/</a:t>
            </a:r>
            <a:endParaRPr lang="en-US" dirty="0"/>
          </a:p>
          <a:p>
            <a:r>
              <a:rPr lang="en-US" b="1" dirty="0"/>
              <a:t>Find my content here: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hlinkClick r:id="rId6"/>
              </a:rPr>
              <a:t>EdwardPollack</a:t>
            </a:r>
            <a:r>
              <a:rPr lang="en-US" dirty="0">
                <a:hlinkClick r:id="rId6"/>
              </a:rPr>
              <a:t> (Ed Pollack) (github.com)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Edward Pollack, Author at Simple Talk (red-gate.com)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8"/>
              </a:rPr>
              <a:t>Ed Pollack, Author at SQL Shack - articles about database auditing, server performance, data recovery, and more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041313"/>
      </p:ext>
    </p:extLst>
  </p:cSld>
  <p:clrMapOvr>
    <a:masterClrMapping/>
  </p:clrMapOvr>
</p:sld>
</file>

<file path=ppt/theme/theme1.xml><?xml version="1.0" encoding="utf-8"?>
<a:theme xmlns:a="http://schemas.openxmlformats.org/drawingml/2006/main" name="PASS 2013_SpeakerTemplate_16x9">
  <a:themeElements>
    <a:clrScheme name="Custom 3">
      <a:dk1>
        <a:srgbClr val="58585A"/>
      </a:dk1>
      <a:lt1>
        <a:srgbClr val="FFFFFF"/>
      </a:lt1>
      <a:dk2>
        <a:srgbClr val="003A78"/>
      </a:dk2>
      <a:lt2>
        <a:srgbClr val="0061B0"/>
      </a:lt2>
      <a:accent1>
        <a:srgbClr val="5FBB46"/>
      </a:accent1>
      <a:accent2>
        <a:srgbClr val="0090D2"/>
      </a:accent2>
      <a:accent3>
        <a:srgbClr val="FFD800"/>
      </a:accent3>
      <a:accent4>
        <a:srgbClr val="B3191E"/>
      </a:accent4>
      <a:accent5>
        <a:srgbClr val="003677"/>
      </a:accent5>
      <a:accent6>
        <a:srgbClr val="939598"/>
      </a:accent6>
      <a:hlink>
        <a:srgbClr val="0084CC"/>
      </a:hlink>
      <a:folHlink>
        <a:srgbClr val="505150"/>
      </a:folHlink>
    </a:clrScheme>
    <a:fontScheme name="PAS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PASS 2013_SpeakerTemplate_16x9.potx</Template>
  <TotalTime>8314</TotalTime>
  <Words>844</Words>
  <Application>Microsoft Office PowerPoint</Application>
  <PresentationFormat>On-screen Show (16:9)</PresentationFormat>
  <Paragraphs>136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Consolas</vt:lpstr>
      <vt:lpstr>Segoe UI</vt:lpstr>
      <vt:lpstr>Trebuchet MS</vt:lpstr>
      <vt:lpstr>PASS 2013_SpeakerTemplate_16x9</vt:lpstr>
      <vt:lpstr>Office Theme</vt:lpstr>
      <vt:lpstr>PowerPoint Presentation</vt:lpstr>
      <vt:lpstr>Quality AI Requires Quality Data</vt:lpstr>
      <vt:lpstr>Ed Pollack</vt:lpstr>
      <vt:lpstr>Software Development Life Cycle (Sometimes)</vt:lpstr>
      <vt:lpstr>AI Development Life Cycle (Sometimes)</vt:lpstr>
      <vt:lpstr>Challenges of Data &amp; AI</vt:lpstr>
      <vt:lpstr>An Important Reminder!</vt:lpstr>
      <vt:lpstr>PowerPoint Presentation</vt:lpstr>
      <vt:lpstr>OLTP/App/Edge Data: Data Starts Here!</vt:lpstr>
      <vt:lpstr>Validate OLTP/App/Edge Data</vt:lpstr>
      <vt:lpstr>Validate ETL/ELT Data</vt:lpstr>
      <vt:lpstr>Validate OLAP/Report/Analytic Data</vt:lpstr>
      <vt:lpstr>Post-Release Validation</vt:lpstr>
      <vt:lpstr>Names/Data Types Matter!</vt:lpstr>
      <vt:lpstr>Note: Training Data vs. RAG Data</vt:lpstr>
      <vt:lpstr>PowerPoint Presentation</vt:lpstr>
      <vt:lpstr>Prompt Engineering</vt:lpstr>
      <vt:lpstr>RAG (Retrieval Augmented Generation)</vt:lpstr>
      <vt:lpstr>Fine-Tuning</vt:lpstr>
      <vt:lpstr>More Data is Not Always Better!</vt:lpstr>
      <vt:lpstr>Synthetic Data</vt:lpstr>
      <vt:lpstr>Unlearning Data Can Harm Models</vt:lpstr>
      <vt:lpstr>Conclusion</vt:lpstr>
      <vt:lpstr>Questions?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No more than 2 lines</dc:title>
  <dc:creator>Lana Montgomery</dc:creator>
  <cp:lastModifiedBy> </cp:lastModifiedBy>
  <cp:revision>504</cp:revision>
  <dcterms:created xsi:type="dcterms:W3CDTF">2013-07-12T18:23:55Z</dcterms:created>
  <dcterms:modified xsi:type="dcterms:W3CDTF">2025-12-17T16:27:05Z</dcterms:modified>
</cp:coreProperties>
</file>