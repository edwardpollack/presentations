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0" r:id="rId2"/>
    <p:sldId id="434" r:id="rId3"/>
    <p:sldId id="266" r:id="rId4"/>
    <p:sldId id="441" r:id="rId5"/>
    <p:sldId id="278" r:id="rId6"/>
    <p:sldId id="442" r:id="rId7"/>
    <p:sldId id="443" r:id="rId8"/>
    <p:sldId id="445" r:id="rId9"/>
    <p:sldId id="444" r:id="rId10"/>
    <p:sldId id="447" r:id="rId11"/>
    <p:sldId id="449" r:id="rId12"/>
    <p:sldId id="464" r:id="rId13"/>
    <p:sldId id="448" r:id="rId14"/>
    <p:sldId id="450" r:id="rId15"/>
    <p:sldId id="451" r:id="rId16"/>
    <p:sldId id="452" r:id="rId17"/>
    <p:sldId id="454" r:id="rId18"/>
    <p:sldId id="465" r:id="rId19"/>
    <p:sldId id="453" r:id="rId20"/>
    <p:sldId id="455" r:id="rId21"/>
    <p:sldId id="466" r:id="rId22"/>
    <p:sldId id="456" r:id="rId23"/>
    <p:sldId id="457" r:id="rId24"/>
    <p:sldId id="458" r:id="rId25"/>
    <p:sldId id="459" r:id="rId26"/>
    <p:sldId id="460" r:id="rId27"/>
    <p:sldId id="462" r:id="rId28"/>
    <p:sldId id="463" r:id="rId29"/>
    <p:sldId id="328" r:id="rId30"/>
    <p:sldId id="43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4D2D-41F8-ED67-5A95-E5BA9BAE9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33C59-CB11-9A02-1FC8-5588A7212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C358-284D-DCF2-D2EA-9AB9B795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8A2BD-48B6-286F-6ECF-3F070CBC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69D85-9E12-2C3F-4B82-F4C7597C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E83F-D4F9-E2CA-F4AC-31C9EE2A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FF34-48A6-D1B5-0B5D-99262D194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9344-6EA1-771B-A6CF-B64C8273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62EE-7DD7-ECDD-7C18-19B8751E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D990-6660-1FA5-FE03-C4D1AAD9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0D3A-D15E-781B-BBCB-E4277475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D6638-C50A-02AA-5209-DF80DEE6F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5D3F-B54B-A400-C304-9B47D42C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4EEC5-BA61-45D0-8CFC-78B72127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5FE48-484F-AE34-30E3-860AAC3C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0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748B-E286-CD80-42FD-611825BE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75F3-E175-C4E2-6392-C0D5FE187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F35DB-DBAF-53B5-7365-37608FF2A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20D7-5FCB-EB38-95B7-9416764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5AAD3-7A86-7AF6-2694-2FEB806A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E3E79-D433-99CC-491D-B4C17EA0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FA8-C302-C9F1-47FF-CDE6D2C3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1E468-EDC7-0FC6-98B1-7B7E3857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75641-DC68-0FC6-BBC2-88CFAF35F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79FB7-1DC7-11C8-A679-E557F7FC1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87ACD-02BA-733D-63A2-0BBE03EE9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2244D-0478-BFD6-78E8-991522BA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C10BE-0C1F-B0B1-0D0D-346A3A43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F46B3-BF58-392F-366B-0A724440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5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1A29-906A-FC19-1578-97C28628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B9184-248E-BC44-8991-A678A80C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6F98A-0A6E-D189-9B11-BD5AED7A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C010F-AD02-DCEC-2355-A721EBA4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9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14304-D131-AD05-8307-3F91ED45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A8129-F65F-58DE-C802-2A79141E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E8900-E4E1-9299-4FAC-C4D860B1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2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762E-99C0-65FA-7EED-D60D9BA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BFC3-C68C-C9B2-A57B-448405A1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75EAA-5857-D261-D1F7-5B7F0408C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50EF3-F0F9-2C4B-16F2-1B5F0B83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F8F37-8854-744D-7ADB-5F59173F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AF0FF-7AFD-591F-9CCD-FA3026CB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D613-793D-D2C8-7578-F0864786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AD657-EA50-3BA0-8D15-B53215B01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106BB-1E26-158F-EAE0-03963F8E0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0AEAC-132F-FCD7-CF2A-F7FCED97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E3788-9C86-ED6D-189F-CC911722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67632-5CA9-C19F-6F30-A636DA40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0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A9A8-E109-3714-A09E-6D0F8E97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AFE5F-5CD2-B75D-0DFF-475BA179B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BEF7-1EFD-8A03-5385-C95B654F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6AC8-25B7-D303-4765-0E40DBC7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AD62D-4E40-ABDF-4260-5C907856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5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B1E37-7849-10ED-8C32-81BA288EE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24C1-8908-5491-BBCC-C2BF874A5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4DE49-B263-EF85-8D96-BD953DE8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979D-E1CF-C16A-4997-95B7940FE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74D8-E316-E52E-11ED-461045EC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1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B868E-35B1-A1DE-A847-70B8D6B8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5984-F6B9-B936-F3EE-ED54CB7B0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2B61C-E2A3-108A-9DFE-A3F4B3ED2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1199D-F4D8-4FB7-A8CF-B4911B34E9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F01C3-1E41-E0F2-9E9F-D1A4FCD8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3451-CCC0-6CEA-E227-C3511439A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qlsaturday.com/nyc" TargetMode="External"/><Relationship Id="rId13" Type="http://schemas.openxmlformats.org/officeDocument/2006/relationships/image" Target="../media/image3.png"/><Relationship Id="rId3" Type="http://schemas.openxmlformats.org/officeDocument/2006/relationships/hyperlink" Target="https://link.springer.com/book/10.1007/978-1-4842-8048-5" TargetMode="External"/><Relationship Id="rId7" Type="http://schemas.openxmlformats.org/officeDocument/2006/relationships/hyperlink" Target="https://dayofdata.org/albany" TargetMode="External"/><Relationship Id="rId12" Type="http://schemas.openxmlformats.org/officeDocument/2006/relationships/image" Target="../media/image2.jpeg"/><Relationship Id="rId17" Type="http://schemas.openxmlformats.org/officeDocument/2006/relationships/image" Target="../media/image6.svg"/><Relationship Id="rId2" Type="http://schemas.openxmlformats.org/officeDocument/2006/relationships/hyperlink" Target="https://link.springer.com/book/10.1007/978-1-4842-4318-3" TargetMode="Externa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-gate.com/simple-talk/author/ed7alum-rpi-edu/" TargetMode="External"/><Relationship Id="rId11" Type="http://schemas.openxmlformats.org/officeDocument/2006/relationships/hyperlink" Target="https://link.springer.com/search?dc.creator=Edward+Pollack" TargetMode="External"/><Relationship Id="rId5" Type="http://schemas.openxmlformats.org/officeDocument/2006/relationships/hyperlink" Target="https://link.springer.com/book/10.1007/978-1-4842-5197-3" TargetMode="External"/><Relationship Id="rId15" Type="http://schemas.openxmlformats.org/officeDocument/2006/relationships/image" Target="../media/image4.jpeg"/><Relationship Id="rId10" Type="http://schemas.openxmlformats.org/officeDocument/2006/relationships/image" Target="../media/image1.jpeg"/><Relationship Id="rId4" Type="http://schemas.openxmlformats.org/officeDocument/2006/relationships/hyperlink" Target="https://link.springer.com/book/10.1007/978-1-4842-9215-0" TargetMode="External"/><Relationship Id="rId9" Type="http://schemas.openxmlformats.org/officeDocument/2006/relationships/hyperlink" Target="https://www.meetup.com/capital-area-sql-server-user-group/" TargetMode="External"/><Relationship Id="rId14" Type="http://schemas.openxmlformats.org/officeDocument/2006/relationships/hyperlink" Target="https://mvp.microsoft.com/en-US/MVP/profile/c7dc42d5-ff3e-ed11-bba3-000d3a19733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learn.microsoft.com/en-us/sql/t-sql/data-types/data-type-precedence-transact-sq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dwardPollack/presentations/blob/cf0d46da603b94d05cb415197bc4d6ca75ed9aed/Parameter%20Sniffing%20-%20Everything%20You%20Know%20is%20Wrong!/Parameter%20Sniffing%20-%20Everything%20You%20Know%20is%20Wrong!_IowaDataProfessionals_04072025.zi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hack.com/author/edward-pollack/" TargetMode="External"/><Relationship Id="rId3" Type="http://schemas.openxmlformats.org/officeDocument/2006/relationships/hyperlink" Target="https://www.linkedin.com/in/ed-pollack-65a3aa23/" TargetMode="External"/><Relationship Id="rId7" Type="http://schemas.openxmlformats.org/officeDocument/2006/relationships/hyperlink" Target="https://www.red-gate.com/simple-talk/author/ed7alum-rpi-edu/" TargetMode="External"/><Relationship Id="rId2" Type="http://schemas.openxmlformats.org/officeDocument/2006/relationships/hyperlink" Target="mailto:ed@edwardpollack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dwardPollack" TargetMode="External"/><Relationship Id="rId5" Type="http://schemas.openxmlformats.org/officeDocument/2006/relationships/hyperlink" Target="https://sessionize.com/edward-pollack/" TargetMode="External"/><Relationship Id="rId4" Type="http://schemas.openxmlformats.org/officeDocument/2006/relationships/hyperlink" Target="https://mvp.microsoft.com/en-US/MVP/profile/c7dc42d5-ff3e-ed11-bba3-000d3a1973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B647-D563-874C-C0FE-A2E1BC95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32DF2CE1-4143-BF07-A86B-D0BCC74DA941}"/>
              </a:ext>
            </a:extLst>
          </p:cNvPr>
          <p:cNvSpPr txBox="1">
            <a:spLocks/>
          </p:cNvSpPr>
          <p:nvPr/>
        </p:nvSpPr>
        <p:spPr>
          <a:xfrm>
            <a:off x="2703576" y="1609077"/>
            <a:ext cx="6784847" cy="20482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000" b="0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Segoe UI Ligh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3A78"/>
                </a:solidFill>
                <a:effectLst/>
                <a:uLnTx/>
                <a:uFillTx/>
                <a:latin typeface="Segoe UI"/>
                <a:ea typeface="+mj-ea"/>
                <a:cs typeface="Segoe UI Light"/>
              </a:rPr>
              <a:t>Query Optimization Fundamentals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558430EB-05C8-C445-15FA-41FE5A5EE402}"/>
              </a:ext>
            </a:extLst>
          </p:cNvPr>
          <p:cNvSpPr txBox="1">
            <a:spLocks/>
          </p:cNvSpPr>
          <p:nvPr/>
        </p:nvSpPr>
        <p:spPr>
          <a:xfrm>
            <a:off x="850392" y="3800783"/>
            <a:ext cx="10277856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/>
              <a:buNone/>
              <a:defRPr lang="en-US" sz="2400" kern="1200" dirty="0">
                <a:solidFill>
                  <a:srgbClr val="0090D2"/>
                </a:solidFill>
                <a:latin typeface="+mn-lt"/>
                <a:ea typeface="+mn-ea"/>
                <a:cs typeface="Segoe UI Light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2000" kern="1200" dirty="0" smtClean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1800" kern="1200" dirty="0" smtClean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1800" kern="1200" dirty="0" smtClean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1800" kern="1200" dirty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90D2"/>
                </a:solidFill>
                <a:effectLst/>
                <a:uLnTx/>
                <a:uFillTx/>
                <a:latin typeface="Segoe UI"/>
                <a:ea typeface="+mn-ea"/>
                <a:cs typeface="Segoe UI Light"/>
              </a:rPr>
              <a:t>Improve uptime and performance through query-</a:t>
            </a:r>
            <a:r>
              <a:rPr lang="en-US" sz="2600" i="1" dirty="0">
                <a:latin typeface="Segoe UI"/>
              </a:rPr>
              <a:t>tuning strategies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90D2"/>
                </a:solidFill>
                <a:effectLst/>
                <a:uLnTx/>
                <a:uFillTx/>
                <a:latin typeface="Segoe UI"/>
                <a:ea typeface="+mn-ea"/>
                <a:cs typeface="Segoe UI Light"/>
              </a:rPr>
              <a:t>!</a:t>
            </a: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1DB62D59-DBEF-76E7-FCA9-BF444191E1D8}"/>
              </a:ext>
            </a:extLst>
          </p:cNvPr>
          <p:cNvSpPr txBox="1">
            <a:spLocks/>
          </p:cNvSpPr>
          <p:nvPr/>
        </p:nvSpPr>
        <p:spPr>
          <a:xfrm>
            <a:off x="2596896" y="4577974"/>
            <a:ext cx="6784847" cy="112788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58585A"/>
                </a:solidFill>
                <a:latin typeface="Segoe UI"/>
                <a:cs typeface="Century Gothic"/>
              </a:rPr>
              <a:t>Edward Pollack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58585A"/>
                </a:solidFill>
                <a:latin typeface="Segoe UI"/>
                <a:cs typeface="Century Gothic"/>
              </a:rPr>
              <a:t>Microsoft Data Platform MVP</a:t>
            </a:r>
            <a:endParaRPr lang="en-US" sz="2000" dirty="0">
              <a:solidFill>
                <a:srgbClr val="58585A"/>
              </a:solidFill>
              <a:latin typeface="Segoe UI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2558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56" y="-16135"/>
            <a:ext cx="10283535" cy="780881"/>
          </a:xfrm>
        </p:spPr>
        <p:txBody>
          <a:bodyPr/>
          <a:lstStyle/>
          <a:p>
            <a:r>
              <a:rPr lang="en-US" dirty="0"/>
              <a:t>Ed Pollack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256" y="692738"/>
            <a:ext cx="10965490" cy="5001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Microsoft Data Platform MVP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Published author of:</a:t>
            </a: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Dynamic SQL: Applications, Performance, and Security, 2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Analytics Optimization with Columnstore Indexes in SQL Server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257235" lvl="2" indent="-342872"/>
            <a:r>
              <a:rPr lang="en-US" sz="1600" dirty="0">
                <a:latin typeface="Arial" panose="020B0604020202020204" pitchFamily="34" charset="0"/>
              </a:rPr>
              <a:t>2</a:t>
            </a:r>
            <a:r>
              <a:rPr lang="en-US" sz="1600" baseline="30000" dirty="0">
                <a:latin typeface="Arial" panose="020B0604020202020204" pitchFamily="34" charset="0"/>
              </a:rPr>
              <a:t>nd</a:t>
            </a:r>
            <a:r>
              <a:rPr lang="en-US" sz="1600" dirty="0">
                <a:latin typeface="Arial" panose="020B0604020202020204" pitchFamily="34" charset="0"/>
              </a:rPr>
              <a:t> edition released this year!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Expert Performance Indexing in SQL Server, 4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th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Published in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Expert T-SQL Functions in SQL Server, 3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rd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Author on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Simple Talk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Organizes:</a:t>
            </a:r>
          </a:p>
          <a:p>
            <a:pPr marL="800072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Day of Data Albany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latin typeface="Arial" panose="020B0604020202020204" pitchFamily="34" charset="0"/>
                <a:hlinkClick r:id="rId8"/>
              </a:rPr>
              <a:t>SQL Saturday New York City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latin typeface="Arial" panose="020B0604020202020204" pitchFamily="34" charset="0"/>
                <a:hlinkClick r:id="rId9"/>
              </a:rPr>
              <a:t>Capital Area SQL Server User Group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</a:rPr>
              <a:t>Speaker at many data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9A8EF-B183-4015-BB48-2C07A22F56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691" y="4121739"/>
            <a:ext cx="2052196" cy="2736261"/>
          </a:xfrm>
          <a:prstGeom prst="rect">
            <a:avLst/>
          </a:prstGeom>
        </p:spPr>
      </p:pic>
      <p:pic>
        <p:nvPicPr>
          <p:cNvPr id="5" name="Picture 4" descr="A picture containing graphical user interface&#10;&#10;Description automatically generated">
            <a:hlinkClick r:id="rId11"/>
            <a:extLst>
              <a:ext uri="{FF2B5EF4-FFF2-40B4-BE49-F238E27FC236}">
                <a16:creationId xmlns:a16="http://schemas.microsoft.com/office/drawing/2014/main" id="{D3F7A6C4-8D67-22BC-72B0-492FB7CFB8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8335" y="5349240"/>
            <a:ext cx="1508760" cy="1508760"/>
          </a:xfrm>
          <a:prstGeom prst="rect">
            <a:avLst/>
          </a:prstGeom>
        </p:spPr>
      </p:pic>
      <p:pic>
        <p:nvPicPr>
          <p:cNvPr id="6" name="Picture 5">
            <a:hlinkClick r:id="rId6"/>
            <a:extLst>
              <a:ext uri="{FF2B5EF4-FFF2-40B4-BE49-F238E27FC236}">
                <a16:creationId xmlns:a16="http://schemas.microsoft.com/office/drawing/2014/main" id="{C0150A70-4960-1467-2BCE-63525BFB5D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431" y="5676012"/>
            <a:ext cx="2251408" cy="1181988"/>
          </a:xfrm>
          <a:prstGeom prst="rect">
            <a:avLst/>
          </a:prstGeom>
        </p:spPr>
      </p:pic>
      <p:pic>
        <p:nvPicPr>
          <p:cNvPr id="9" name="Picture 8" descr="A blue and white sign&#10;&#10;Description automatically generated with low confidence">
            <a:hlinkClick r:id="rId14"/>
            <a:extLst>
              <a:ext uri="{FF2B5EF4-FFF2-40B4-BE49-F238E27FC236}">
                <a16:creationId xmlns:a16="http://schemas.microsoft.com/office/drawing/2014/main" id="{1EA7EEA1-2A6F-B598-BAAE-DC313E479F0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037" y="4499404"/>
            <a:ext cx="1522628" cy="23893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C8B68-47C5-6DDC-87A7-4EEFCFF85C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591" y="5052928"/>
            <a:ext cx="2019212" cy="167089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ABE099C-A8BC-0E0B-C4EC-8754920E1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64849" y="4735629"/>
            <a:ext cx="1585721" cy="21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4DF8-4A8C-1E7C-EB53-7AF0591D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497C8-4216-2109-0D21-757B7032D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Why does query tuning matter in 2026?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b="1" i="1" dirty="0"/>
              <a:t>Common</a:t>
            </a:r>
            <a:r>
              <a:rPr lang="en-CA" dirty="0"/>
              <a:t> application query problems (and solutions)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Best practices and guidelines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The future!</a:t>
            </a:r>
          </a:p>
        </p:txBody>
      </p:sp>
    </p:spTree>
    <p:extLst>
      <p:ext uri="{BB962C8B-B14F-4D97-AF65-F5344CB8AC3E}">
        <p14:creationId xmlns:p14="http://schemas.microsoft.com/office/powerpoint/2010/main" val="27828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02BD-B3EF-F2B0-C3EB-5BDD4895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B7A0-AA7B-A57F-4E61-5216F7F2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Does This Matter?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AFD2-FB93-5534-DAF9-E934AE31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Can’t AI do this for 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Can’t automation solve this?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Isn’t better hardware the solution?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Better app code can solve this, right?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0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4DF8-4A8C-1E7C-EB53-7AF0591D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Does This Matter?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497C8-4216-2109-0D21-757B7032D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Can’t AI do this for 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Can’t automation solve this?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Isn’t better hardware the solution?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Better app code can solve this, right?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0F71E-0E7C-11A8-94B3-866D6BB00EFA}"/>
              </a:ext>
            </a:extLst>
          </p:cNvPr>
          <p:cNvSpPr/>
          <p:nvPr/>
        </p:nvSpPr>
        <p:spPr>
          <a:xfrm>
            <a:off x="7306163" y="3670645"/>
            <a:ext cx="42723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Logic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1013D-552A-761E-2CB5-B9776861DB9A}"/>
              </a:ext>
            </a:extLst>
          </p:cNvPr>
          <p:cNvSpPr/>
          <p:nvPr/>
        </p:nvSpPr>
        <p:spPr>
          <a:xfrm>
            <a:off x="7173200" y="2585442"/>
            <a:ext cx="3746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Legacy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A8438-94B8-3626-7599-2779C82412AC}"/>
              </a:ext>
            </a:extLst>
          </p:cNvPr>
          <p:cNvSpPr/>
          <p:nvPr/>
        </p:nvSpPr>
        <p:spPr>
          <a:xfrm>
            <a:off x="6767874" y="5466160"/>
            <a:ext cx="52835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Query Complexity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CFFBFD-5F67-6D5E-3766-43823DA12374}"/>
              </a:ext>
            </a:extLst>
          </p:cNvPr>
          <p:cNvSpPr/>
          <p:nvPr/>
        </p:nvSpPr>
        <p:spPr>
          <a:xfrm>
            <a:off x="140564" y="4001294"/>
            <a:ext cx="46860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 Complexity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C2E89A-A29A-02BF-89A9-BEAB675CFF23}"/>
              </a:ext>
            </a:extLst>
          </p:cNvPr>
          <p:cNvSpPr/>
          <p:nvPr/>
        </p:nvSpPr>
        <p:spPr>
          <a:xfrm>
            <a:off x="6313968" y="273696"/>
            <a:ext cx="57374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App/DB Disconnect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3A57F-EF9D-4C58-172A-7B8A0386C320}"/>
              </a:ext>
            </a:extLst>
          </p:cNvPr>
          <p:cNvSpPr/>
          <p:nvPr/>
        </p:nvSpPr>
        <p:spPr>
          <a:xfrm>
            <a:off x="513982" y="5850235"/>
            <a:ext cx="57999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Domain Knowledge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B51E77-E74A-DB70-3F14-E7DD50918A21}"/>
              </a:ext>
            </a:extLst>
          </p:cNvPr>
          <p:cNvSpPr/>
          <p:nvPr/>
        </p:nvSpPr>
        <p:spPr>
          <a:xfrm>
            <a:off x="5392895" y="1504606"/>
            <a:ext cx="6799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Mismatched Standards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2DEC6-8442-9D03-8D62-E5F8508B013F}"/>
              </a:ext>
            </a:extLst>
          </p:cNvPr>
          <p:cNvSpPr/>
          <p:nvPr/>
        </p:nvSpPr>
        <p:spPr>
          <a:xfrm>
            <a:off x="4959851" y="4568403"/>
            <a:ext cx="62606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That Scary Cloud Bill!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9232AB-D7E9-4891-9167-38C438D2FB77}"/>
              </a:ext>
            </a:extLst>
          </p:cNvPr>
          <p:cNvSpPr/>
          <p:nvPr/>
        </p:nvSpPr>
        <p:spPr>
          <a:xfrm>
            <a:off x="693140" y="4926905"/>
            <a:ext cx="38474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152179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1C21-2708-A895-46FF-78FFD08C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ED9D-2E50-344D-6CBA-5EAEA9C7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Typical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7611-EAFE-CA54-7B84-E4927C99D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User complains about poor app performance (IT’S SLOW!)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You are handed no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Now what?</a:t>
            </a:r>
          </a:p>
          <a:p>
            <a:endParaRPr lang="en-US" dirty="0"/>
          </a:p>
        </p:txBody>
      </p:sp>
      <p:pic>
        <p:nvPicPr>
          <p:cNvPr id="5" name="Picture 4" descr="A cartoon of a turtle&#10;&#10;AI-generated content may be incorrect.">
            <a:extLst>
              <a:ext uri="{FF2B5EF4-FFF2-40B4-BE49-F238E27FC236}">
                <a16:creationId xmlns:a16="http://schemas.microsoft.com/office/drawing/2014/main" id="{2F311BC1-5588-96CD-8DA5-2D6E29AB2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06" y="3429000"/>
            <a:ext cx="4376187" cy="303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8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DC1A-8CA6-34CB-2BFA-12C9ECE5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760B-C8AD-05E3-7B78-5448F0F4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Basic Workflow for Success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A01C3-D8C1-CEA9-65C4-E21A33B63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Can the problem be </a:t>
            </a:r>
            <a:r>
              <a:rPr lang="en-US" b="1" dirty="0"/>
              <a:t>reproduced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YES </a:t>
            </a:r>
            <a:r>
              <a:rPr lang="en-US" dirty="0">
                <a:sym typeface="Wingdings" panose="05000000000000000000" pitchFamily="2" charset="2"/>
              </a:rPr>
              <a:t>  Profiler/Extended Events/DMV/Query Store/3</a:t>
            </a:r>
            <a:r>
              <a:rPr lang="en-US" baseline="30000" dirty="0">
                <a:sym typeface="Wingdings" panose="05000000000000000000" pitchFamily="2" charset="2"/>
              </a:rPr>
              <a:t>rd</a:t>
            </a:r>
            <a:r>
              <a:rPr lang="en-US" dirty="0">
                <a:sym typeface="Wingdings" panose="05000000000000000000" pitchFamily="2" charset="2"/>
              </a:rPr>
              <a:t> party app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Get details!</a:t>
            </a:r>
          </a:p>
          <a:p>
            <a:pPr lvl="1"/>
            <a:r>
              <a:rPr lang="en-US" dirty="0"/>
              <a:t>NO </a:t>
            </a:r>
            <a:r>
              <a:rPr lang="en-US" dirty="0">
                <a:sym typeface="Wingdings" panose="05000000000000000000" pitchFamily="2" charset="2"/>
              </a:rPr>
              <a:t>  Logs to get query info or </a:t>
            </a:r>
            <a:r>
              <a:rPr lang="en-US" i="1" dirty="0">
                <a:sym typeface="Wingdings" panose="05000000000000000000" pitchFamily="2" charset="2"/>
              </a:rPr>
              <a:t>push back for more info</a:t>
            </a:r>
            <a:r>
              <a:rPr lang="en-US" dirty="0">
                <a:sym typeface="Wingdings" panose="05000000000000000000" pitchFamily="2" charset="2"/>
              </a:rPr>
              <a:t>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Get the </a:t>
            </a:r>
            <a:r>
              <a:rPr lang="en-US" b="1" dirty="0">
                <a:sym typeface="Wingdings" panose="05000000000000000000" pitchFamily="2" charset="2"/>
              </a:rPr>
              <a:t>query 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Get resource metrics on query execution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CPU, memory, IO,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Get SQL Server metrics on query execution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Duration, waits, locking, blocking, execution plan,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Find the cause of latency and resolve</a:t>
            </a:r>
          </a:p>
        </p:txBody>
      </p:sp>
    </p:spTree>
    <p:extLst>
      <p:ext uri="{BB962C8B-B14F-4D97-AF65-F5344CB8AC3E}">
        <p14:creationId xmlns:p14="http://schemas.microsoft.com/office/powerpoint/2010/main" val="34404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97D6-2DA6-30FD-A7F9-4BCD23FF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3FA0-CEDC-4112-6B33-0C99EF9B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Identify a Query’s Purpose!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AFD9-752E-6D26-5C15-A2D3177DA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is hard without understanding a query</a:t>
            </a:r>
          </a:p>
          <a:p>
            <a:r>
              <a:rPr lang="en-US" dirty="0"/>
              <a:t>What is the query’s </a:t>
            </a:r>
            <a:r>
              <a:rPr lang="en-US" b="1" dirty="0"/>
              <a:t>source</a:t>
            </a:r>
            <a:r>
              <a:rPr lang="en-US" dirty="0"/>
              <a:t>?</a:t>
            </a:r>
          </a:p>
          <a:p>
            <a:r>
              <a:rPr lang="en-US" b="1" dirty="0"/>
              <a:t>How often </a:t>
            </a:r>
            <a:r>
              <a:rPr lang="en-US" dirty="0"/>
              <a:t>is it executed?</a:t>
            </a:r>
          </a:p>
          <a:p>
            <a:r>
              <a:rPr lang="en-US" dirty="0"/>
              <a:t>Is the size/shape of the </a:t>
            </a:r>
            <a:r>
              <a:rPr lang="en-US" b="1" dirty="0"/>
              <a:t>result set </a:t>
            </a:r>
            <a:r>
              <a:rPr lang="en-US" dirty="0"/>
              <a:t>sensible?</a:t>
            </a:r>
          </a:p>
          <a:p>
            <a:r>
              <a:rPr lang="en-US" dirty="0"/>
              <a:t>Who/what is consuming the query output?</a:t>
            </a:r>
          </a:p>
          <a:p>
            <a:r>
              <a:rPr lang="en-US" dirty="0"/>
              <a:t>Is the thing even used!?</a:t>
            </a:r>
          </a:p>
        </p:txBody>
      </p:sp>
      <p:pic>
        <p:nvPicPr>
          <p:cNvPr id="5" name="Picture 4" descr="A yellow smiley with blue eyes and a white hand on his chin&#10;&#10;AI-generated content may be incorrect.">
            <a:extLst>
              <a:ext uri="{FF2B5EF4-FFF2-40B4-BE49-F238E27FC236}">
                <a16:creationId xmlns:a16="http://schemas.microsoft.com/office/drawing/2014/main" id="{1AEF72EA-919B-E720-BC69-AD6DB22E5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492" y="2341776"/>
            <a:ext cx="2981374" cy="41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1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7BAF2-AD54-F52E-A454-0AC3ADA1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9904-B427-CC33-6F71-47BF0821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When Do We Stop Optimizing?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84E0-1004-237C-7F98-AC4EFCEF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Further optimization is too expensive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Point of </a:t>
            </a:r>
            <a:r>
              <a:rPr lang="en-US" b="1" dirty="0">
                <a:sym typeface="Wingdings" panose="05000000000000000000" pitchFamily="2" charset="2"/>
              </a:rPr>
              <a:t>diminishing returns </a:t>
            </a:r>
            <a:r>
              <a:rPr lang="en-US" dirty="0">
                <a:sym typeface="Wingdings" panose="05000000000000000000" pitchFamily="2" charset="2"/>
              </a:rPr>
              <a:t>is reached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An alternate solution is identified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 all optimization problems require database/query changes to solve!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Performance is now acceptable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b="1" i="1" dirty="0">
                <a:sym typeface="Wingdings" panose="05000000000000000000" pitchFamily="2" charset="2"/>
              </a:rPr>
              <a:t>Note: Optimal means “fast enough” - not as fast as possible!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61510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BFEF-07DD-6368-13AB-554EF95B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3EF4AE5-0E57-E7B3-A48C-849FB5E1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Optimization Tools</a:t>
            </a:r>
          </a:p>
        </p:txBody>
      </p:sp>
    </p:spTree>
    <p:extLst>
      <p:ext uri="{BB962C8B-B14F-4D97-AF65-F5344CB8AC3E}">
        <p14:creationId xmlns:p14="http://schemas.microsoft.com/office/powerpoint/2010/main" val="144352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5B2B-9ED7-538A-29D9-8C88844F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2752EF1-6001-758E-4D5D-7A212694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6000" b="1" dirty="0"/>
          </a:p>
          <a:p>
            <a:pPr marL="0" indent="0">
              <a:buNone/>
            </a:pPr>
            <a:r>
              <a:rPr lang="en-CA" sz="6000" b="1" dirty="0"/>
              <a:t>Common Optimization Challenges (and Solutions!)</a:t>
            </a:r>
          </a:p>
        </p:txBody>
      </p:sp>
    </p:spTree>
    <p:extLst>
      <p:ext uri="{BB962C8B-B14F-4D97-AF65-F5344CB8AC3E}">
        <p14:creationId xmlns:p14="http://schemas.microsoft.com/office/powerpoint/2010/main" val="250295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02AA-AD1D-2AD5-931F-70190299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6B10-0DBE-4EA8-B53E-13977BB8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Indexing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6801D-C253-EE81-B3CD-742A813D1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Benefit</a:t>
            </a:r>
            <a:r>
              <a:rPr lang="en-US" dirty="0"/>
              <a:t>: Indexes provide efficient table access for common queries.</a:t>
            </a:r>
          </a:p>
          <a:p>
            <a:r>
              <a:rPr lang="en-US" b="1" dirty="0"/>
              <a:t>Cost</a:t>
            </a:r>
            <a:r>
              <a:rPr lang="en-US" dirty="0"/>
              <a:t>: Indexes must be written (IO/memory), stored, and backed up.</a:t>
            </a:r>
          </a:p>
          <a:p>
            <a:r>
              <a:rPr lang="en-US" b="1" dirty="0"/>
              <a:t>Do not </a:t>
            </a:r>
            <a:r>
              <a:rPr lang="en-US" dirty="0"/>
              <a:t>index every query!</a:t>
            </a:r>
          </a:p>
          <a:p>
            <a:r>
              <a:rPr lang="en-US" b="1" dirty="0"/>
              <a:t>Do not </a:t>
            </a:r>
            <a:r>
              <a:rPr lang="en-US" dirty="0"/>
              <a:t>blindly use recommended indexes!</a:t>
            </a:r>
          </a:p>
          <a:p>
            <a:r>
              <a:rPr lang="en-US" b="1" dirty="0"/>
              <a:t>Do not </a:t>
            </a:r>
            <a:r>
              <a:rPr lang="en-US" dirty="0"/>
              <a:t>add INCLUDE columns unless needed.</a:t>
            </a:r>
          </a:p>
          <a:p>
            <a:r>
              <a:rPr lang="en-US" b="1" dirty="0"/>
              <a:t>Do</a:t>
            </a:r>
            <a:r>
              <a:rPr lang="en-US" dirty="0"/>
              <a:t> check index usage periodically</a:t>
            </a:r>
          </a:p>
          <a:p>
            <a:pPr lvl="1"/>
            <a:r>
              <a:rPr lang="en-US" dirty="0"/>
              <a:t>Remove or tweak unused/underused indexes</a:t>
            </a:r>
          </a:p>
          <a:p>
            <a:pPr lvl="1"/>
            <a:r>
              <a:rPr lang="en-US" dirty="0"/>
              <a:t>Add critical missing indexes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2400" i="1" dirty="0"/>
              <a:t>Indexes improve read access at the cost of write speeds and storage.</a:t>
            </a:r>
          </a:p>
        </p:txBody>
      </p:sp>
    </p:spTree>
    <p:extLst>
      <p:ext uri="{BB962C8B-B14F-4D97-AF65-F5344CB8AC3E}">
        <p14:creationId xmlns:p14="http://schemas.microsoft.com/office/powerpoint/2010/main" val="336214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3AF15-F50D-5981-D975-E069DD81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DD76-D80A-59EF-6305-D3735A45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Execution Plan: Seeks, Scans, and Lookups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44D9-3461-2B14-E80B-0E0C27D5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Scan</a:t>
            </a:r>
            <a:r>
              <a:rPr lang="en-US" dirty="0"/>
              <a:t> = Read an entire table/index</a:t>
            </a:r>
          </a:p>
          <a:p>
            <a:pPr lvl="1"/>
            <a:r>
              <a:rPr lang="en-US" dirty="0"/>
              <a:t>Ideal when a large amount of data is needed*</a:t>
            </a:r>
          </a:p>
          <a:p>
            <a:r>
              <a:rPr lang="en-US" b="1" dirty="0"/>
              <a:t>Seek</a:t>
            </a:r>
            <a:r>
              <a:rPr lang="en-US" dirty="0"/>
              <a:t> = Narrow search using an index</a:t>
            </a:r>
          </a:p>
          <a:p>
            <a:pPr lvl="1"/>
            <a:r>
              <a:rPr lang="en-US" dirty="0"/>
              <a:t>Best when filtering for a small data set.</a:t>
            </a:r>
          </a:p>
          <a:p>
            <a:r>
              <a:rPr lang="en-US" b="1" dirty="0"/>
              <a:t>Lookup</a:t>
            </a:r>
            <a:r>
              <a:rPr lang="en-US" dirty="0"/>
              <a:t> = Need more columns</a:t>
            </a:r>
          </a:p>
          <a:p>
            <a:pPr lvl="1"/>
            <a:r>
              <a:rPr lang="en-US" dirty="0"/>
              <a:t>Good when an index gets performance to be sufficient, without adding more INCLUDE columns.</a:t>
            </a:r>
          </a:p>
        </p:txBody>
      </p:sp>
      <p:pic>
        <p:nvPicPr>
          <p:cNvPr id="5" name="Picture 4" descr="A close-up of a label&#10;&#10;AI-generated content may be incorrect.">
            <a:extLst>
              <a:ext uri="{FF2B5EF4-FFF2-40B4-BE49-F238E27FC236}">
                <a16:creationId xmlns:a16="http://schemas.microsoft.com/office/drawing/2014/main" id="{4BFAC62F-A903-5D45-9884-D3C20A6DC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355" y="1522857"/>
            <a:ext cx="2305050" cy="1123950"/>
          </a:xfrm>
          <a:prstGeom prst="rect">
            <a:avLst/>
          </a:prstGeom>
        </p:spPr>
      </p:pic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85D30DC-D867-5602-81CE-B214FC0A5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859" y="2805112"/>
            <a:ext cx="2333625" cy="1247775"/>
          </a:xfrm>
          <a:prstGeom prst="rect">
            <a:avLst/>
          </a:prstGeom>
        </p:spPr>
      </p:pic>
      <p:pic>
        <p:nvPicPr>
          <p:cNvPr id="9" name="Picture 8" descr="A close-up of a document&#10;&#10;AI-generated content may be incorrect.">
            <a:extLst>
              <a:ext uri="{FF2B5EF4-FFF2-40B4-BE49-F238E27FC236}">
                <a16:creationId xmlns:a16="http://schemas.microsoft.com/office/drawing/2014/main" id="{357520DE-19FF-695C-2D55-26ED07C73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642" y="4754308"/>
            <a:ext cx="1943100" cy="1171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37A1E3-AA95-47EC-C6B8-3F18E1FBF4AC}"/>
              </a:ext>
            </a:extLst>
          </p:cNvPr>
          <p:cNvSpPr txBox="1"/>
          <p:nvPr/>
        </p:nvSpPr>
        <p:spPr>
          <a:xfrm>
            <a:off x="1880435" y="6176963"/>
            <a:ext cx="734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***Note: all columnstore index reads are logged as Columnstore Index Scans</a:t>
            </a:r>
          </a:p>
        </p:txBody>
      </p:sp>
    </p:spTree>
    <p:extLst>
      <p:ext uri="{BB962C8B-B14F-4D97-AF65-F5344CB8AC3E}">
        <p14:creationId xmlns:p14="http://schemas.microsoft.com/office/powerpoint/2010/main" val="2952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3F16-F247-481D-FECF-E31CC34F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FF57-90E1-34BA-DFD5-5175E263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Data Types &amp; Conversions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00E7-A4C2-5605-BA11-4C631207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data has a </a:t>
            </a:r>
            <a:r>
              <a:rPr lang="en-US" b="1" dirty="0"/>
              <a:t>data type </a:t>
            </a:r>
            <a:r>
              <a:rPr lang="en-US" dirty="0"/>
              <a:t>(!)</a:t>
            </a:r>
          </a:p>
          <a:p>
            <a:r>
              <a:rPr lang="en-US" dirty="0"/>
              <a:t>When columns of different types are compared…</a:t>
            </a:r>
          </a:p>
          <a:p>
            <a:r>
              <a:rPr lang="en-US" dirty="0"/>
              <a:t>…SQL Server will try to convert one to the other for you.</a:t>
            </a:r>
          </a:p>
          <a:p>
            <a:pPr lvl="1"/>
            <a:r>
              <a:rPr lang="en-US" dirty="0"/>
              <a:t>Microsoft documents this </a:t>
            </a:r>
            <a:r>
              <a:rPr lang="en-US" b="1" i="1" dirty="0">
                <a:hlinkClick r:id="rId2"/>
              </a:rPr>
              <a:t>quite thoroughly</a:t>
            </a:r>
            <a:r>
              <a:rPr lang="en-US" dirty="0"/>
              <a:t>.</a:t>
            </a:r>
          </a:p>
          <a:p>
            <a:r>
              <a:rPr lang="en-US" dirty="0"/>
              <a:t>For similar data types, this </a:t>
            </a:r>
            <a:r>
              <a:rPr lang="en-US" b="1" i="1" dirty="0"/>
              <a:t>may</a:t>
            </a:r>
            <a:r>
              <a:rPr lang="en-US" dirty="0"/>
              <a:t> be OK.</a:t>
            </a:r>
          </a:p>
          <a:p>
            <a:r>
              <a:rPr lang="en-US" dirty="0"/>
              <a:t>For different data types…</a:t>
            </a:r>
          </a:p>
          <a:p>
            <a:pPr lvl="1"/>
            <a:r>
              <a:rPr lang="en-US" dirty="0"/>
              <a:t>It may throw an </a:t>
            </a:r>
            <a:r>
              <a:rPr lang="en-US" b="1" dirty="0"/>
              <a:t>error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It may </a:t>
            </a:r>
            <a:r>
              <a:rPr lang="en-US" b="1" dirty="0"/>
              <a:t>round/change the value </a:t>
            </a:r>
            <a:r>
              <a:rPr lang="en-US" dirty="0"/>
              <a:t>of one column.</a:t>
            </a:r>
          </a:p>
          <a:p>
            <a:pPr lvl="1"/>
            <a:r>
              <a:rPr lang="en-US" dirty="0"/>
              <a:t>If a filter, then an </a:t>
            </a:r>
            <a:r>
              <a:rPr lang="en-US" b="1" dirty="0"/>
              <a:t>unneeded scan </a:t>
            </a:r>
            <a:r>
              <a:rPr lang="en-US" dirty="0"/>
              <a:t>may be forced on the converted column.</a:t>
            </a:r>
          </a:p>
          <a:p>
            <a:pPr lvl="1"/>
            <a:endParaRPr lang="en-US" dirty="0"/>
          </a:p>
        </p:txBody>
      </p:sp>
      <p:pic>
        <p:nvPicPr>
          <p:cNvPr id="10" name="Picture 9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C3EE1AE-242F-DF68-C62F-E7FADA7CB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95" y="3750421"/>
            <a:ext cx="2629732" cy="135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3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1533-9A4B-69AE-A4A9-AA3BDC02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FCF8703-13BB-BCD1-CBCB-05DAB1613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Implicit Conversions</a:t>
            </a:r>
          </a:p>
        </p:txBody>
      </p:sp>
    </p:spTree>
    <p:extLst>
      <p:ext uri="{BB962C8B-B14F-4D97-AF65-F5344CB8AC3E}">
        <p14:creationId xmlns:p14="http://schemas.microsoft.com/office/powerpoint/2010/main" val="3055436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0458-D888-0B9E-B975-E8116BC8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15865-B9A6-8D0A-DFC9-C486EFCF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Inefficient Joins &amp; Filters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CB579-ED0E-DEBD-2597-090B9FB5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should </a:t>
            </a:r>
            <a:r>
              <a:rPr lang="en-US" b="1" dirty="0"/>
              <a:t>reduce data size</a:t>
            </a:r>
            <a:r>
              <a:rPr lang="en-US" dirty="0"/>
              <a:t> quickly and efficiently.</a:t>
            </a:r>
          </a:p>
          <a:p>
            <a:r>
              <a:rPr lang="en-US" dirty="0"/>
              <a:t>Filter/Join columns should be clean and AVOID: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CAST/CONVERT</a:t>
            </a:r>
          </a:p>
          <a:p>
            <a:pPr lvl="1"/>
            <a:r>
              <a:rPr lang="en-US" dirty="0"/>
              <a:t>OR </a:t>
            </a:r>
            <a:r>
              <a:rPr lang="en-US" sz="1800" i="1" dirty="0"/>
              <a:t>(this may be a sign of bad logic, too)</a:t>
            </a:r>
          </a:p>
          <a:p>
            <a:pPr lvl="1"/>
            <a:r>
              <a:rPr lang="en-US" dirty="0"/>
              <a:t>CASE</a:t>
            </a:r>
          </a:p>
          <a:p>
            <a:pPr lvl="1"/>
            <a:r>
              <a:rPr lang="en-US" dirty="0"/>
              <a:t>Leading wildcard/fuzzy searches</a:t>
            </a:r>
          </a:p>
          <a:p>
            <a:pPr lvl="1"/>
            <a:r>
              <a:rPr lang="en-US" dirty="0"/>
              <a:t>XML, JSON, or other non-relational complexity</a:t>
            </a:r>
          </a:p>
          <a:p>
            <a:r>
              <a:rPr lang="en-US" dirty="0"/>
              <a:t>Move those to a scalar or process elsewhere</a:t>
            </a:r>
          </a:p>
        </p:txBody>
      </p:sp>
    </p:spTree>
    <p:extLst>
      <p:ext uri="{BB962C8B-B14F-4D97-AF65-F5344CB8AC3E}">
        <p14:creationId xmlns:p14="http://schemas.microsoft.com/office/powerpoint/2010/main" val="982170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7C350-EA4F-920C-7B54-C721F956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691056A-C870-41E3-EB07-DEC14BF9A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Inefficient Joins &amp; Filters</a:t>
            </a:r>
          </a:p>
        </p:txBody>
      </p:sp>
    </p:spTree>
    <p:extLst>
      <p:ext uri="{BB962C8B-B14F-4D97-AF65-F5344CB8AC3E}">
        <p14:creationId xmlns:p14="http://schemas.microsoft.com/office/powerpoint/2010/main" val="1408594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9E83-1D94-4C23-EE2B-C9262402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1F38-9A83-9AEB-EC6B-0F39B20B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The SORT 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5DF16-B64D-3919-898E-F60EE0A87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is one of the </a:t>
            </a:r>
            <a:r>
              <a:rPr lang="en-US" b="1" dirty="0"/>
              <a:t>most expensive </a:t>
            </a:r>
            <a:r>
              <a:rPr lang="en-US" dirty="0"/>
              <a:t>things a database engine can do.</a:t>
            </a:r>
          </a:p>
          <a:p>
            <a:r>
              <a:rPr lang="en-US" dirty="0"/>
              <a:t>Can be caused by:</a:t>
            </a:r>
          </a:p>
          <a:p>
            <a:pPr lvl="1"/>
            <a:r>
              <a:rPr lang="en-US" dirty="0"/>
              <a:t>DISTINCT</a:t>
            </a:r>
          </a:p>
          <a:p>
            <a:pPr lvl="1"/>
            <a:r>
              <a:rPr lang="en-US" dirty="0"/>
              <a:t>ORDER BY</a:t>
            </a:r>
          </a:p>
          <a:p>
            <a:pPr lvl="1"/>
            <a:r>
              <a:rPr lang="en-US" dirty="0"/>
              <a:t>ROW_NUMBER(ORDER BY)</a:t>
            </a:r>
          </a:p>
          <a:p>
            <a:pPr lvl="1"/>
            <a:r>
              <a:rPr lang="en-US" dirty="0"/>
              <a:t>Query against unindexed column</a:t>
            </a:r>
          </a:p>
          <a:p>
            <a:pPr lvl="1"/>
            <a:r>
              <a:rPr lang="en-US" dirty="0"/>
              <a:t>TOP</a:t>
            </a:r>
          </a:p>
          <a:p>
            <a:r>
              <a:rPr lang="en-US" dirty="0"/>
              <a:t>Sort in the application, not in the database.</a:t>
            </a:r>
          </a:p>
          <a:p>
            <a:r>
              <a:rPr lang="en-US" dirty="0"/>
              <a:t>Filter/join before sort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Sort on less data</a:t>
            </a:r>
            <a:r>
              <a:rPr lang="en-US" dirty="0">
                <a:sym typeface="Wingdings" panose="05000000000000000000" pitchFamily="2" charset="2"/>
              </a:rPr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C1E5-888E-9D25-C3BD-1882A683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746E-5E7A-17AD-22CA-693372A0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The Spammy 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CE095-2E51-7D21-737A-44F677F9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Sometimes, a query performs </a:t>
            </a:r>
            <a:r>
              <a:rPr lang="en-US" b="1" dirty="0"/>
              <a:t>perfectly</a:t>
            </a:r>
            <a:r>
              <a:rPr lang="en-US" dirty="0"/>
              <a:t>.</a:t>
            </a:r>
          </a:p>
          <a:p>
            <a:r>
              <a:rPr lang="en-US" dirty="0"/>
              <a:t>But it is run more often than makes sense!</a:t>
            </a:r>
          </a:p>
          <a:p>
            <a:r>
              <a:rPr lang="en-US" dirty="0"/>
              <a:t>Often a sign of an application bug or bad design.</a:t>
            </a:r>
          </a:p>
          <a:p>
            <a:r>
              <a:rPr lang="en-US" dirty="0"/>
              <a:t>Don’t tolerate spam!</a:t>
            </a:r>
          </a:p>
        </p:txBody>
      </p:sp>
      <p:pic>
        <p:nvPicPr>
          <p:cNvPr id="5" name="Picture 4" descr="A can of food with a burger&#10;&#10;AI-generated content may be incorrect.">
            <a:extLst>
              <a:ext uri="{FF2B5EF4-FFF2-40B4-BE49-F238E27FC236}">
                <a16:creationId xmlns:a16="http://schemas.microsoft.com/office/drawing/2014/main" id="{5114AC3F-9839-1BCB-E13A-C8408C63B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001294"/>
            <a:ext cx="24384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93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0D34-2F32-575B-6CE1-5B1B96D1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4F7E-CBF5-4B70-5B4D-7B3D320F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245E-EFEF-C34E-8D2D-DFE0FBF86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Server is optimized for set-based operations.</a:t>
            </a:r>
          </a:p>
          <a:p>
            <a:r>
              <a:rPr lang="en-US" dirty="0"/>
              <a:t>Accessing a table repeatedly is less efficient than all-at-once.</a:t>
            </a:r>
          </a:p>
          <a:p>
            <a:pPr marL="0" indent="0" algn="ctr">
              <a:buNone/>
            </a:pPr>
            <a:r>
              <a:rPr lang="en-US" sz="4000" b="1" i="1" dirty="0">
                <a:solidFill>
                  <a:srgbClr val="FF0000"/>
                </a:solidFill>
              </a:rPr>
              <a:t>100 rows in 1 query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&lt;&gt;</a:t>
            </a:r>
          </a:p>
          <a:p>
            <a:pPr marL="0" indent="0" algn="ctr">
              <a:buNone/>
            </a:pPr>
            <a:r>
              <a:rPr lang="en-US" sz="4000" b="1" i="1" dirty="0">
                <a:solidFill>
                  <a:srgbClr val="FF0000"/>
                </a:solidFill>
              </a:rPr>
              <a:t>1 row at a time in 100 queries</a:t>
            </a:r>
            <a:r>
              <a:rPr lang="en-US" sz="4000" b="1" dirty="0">
                <a:solidFill>
                  <a:srgbClr val="FF0000"/>
                </a:solidFill>
              </a:rPr>
              <a:t>!</a:t>
            </a:r>
          </a:p>
          <a:p>
            <a:r>
              <a:rPr lang="en-US" dirty="0"/>
              <a:t>There is a balance between blocking and performance</a:t>
            </a:r>
          </a:p>
          <a:p>
            <a:pPr marL="457200" lvl="1" indent="0">
              <a:buNone/>
            </a:pPr>
            <a:r>
              <a:rPr lang="en-US" b="1" dirty="0"/>
              <a:t>***It is not subtle***</a:t>
            </a:r>
          </a:p>
          <a:p>
            <a:pPr marL="0" indent="0">
              <a:buNone/>
            </a:pP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4176155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2E6F-F559-8A70-7D7F-FF855AB0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7F893B0-315F-41EB-45EC-317945AD0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591942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D531-68EE-5A77-895C-80401592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09B3-AA3C-2C45-5A9E-D459E8AE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Query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AB2E3-511C-C089-ED46-2F173304A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700" dirty="0"/>
              <a:t>The optimizer evaluates </a:t>
            </a:r>
            <a:r>
              <a:rPr lang="en-US" sz="3700" b="1" dirty="0"/>
              <a:t>many combinations </a:t>
            </a:r>
            <a:r>
              <a:rPr lang="en-US" sz="3700" dirty="0"/>
              <a:t>of tables, joins, operators, </a:t>
            </a:r>
            <a:r>
              <a:rPr lang="en-US" sz="3700" dirty="0" err="1"/>
              <a:t>etc</a:t>
            </a:r>
            <a:r>
              <a:rPr lang="en-US" sz="3700" dirty="0"/>
              <a:t>…</a:t>
            </a:r>
          </a:p>
          <a:p>
            <a:r>
              <a:rPr lang="en-US" sz="3700" dirty="0"/>
              <a:t>More tables/views/functions = more </a:t>
            </a:r>
            <a:r>
              <a:rPr lang="en-US" sz="3700" b="1" dirty="0"/>
              <a:t>complexity</a:t>
            </a:r>
          </a:p>
          <a:p>
            <a:pPr lvl="1"/>
            <a:r>
              <a:rPr lang="en-US" sz="3300" dirty="0"/>
              <a:t>More chances to not get a good plan</a:t>
            </a:r>
          </a:p>
          <a:p>
            <a:r>
              <a:rPr lang="en-US" sz="3700" dirty="0"/>
              <a:t>Big problem? Break it into </a:t>
            </a:r>
            <a:r>
              <a:rPr lang="en-US" sz="3700" b="1" dirty="0"/>
              <a:t>smaller problems</a:t>
            </a:r>
            <a:r>
              <a:rPr lang="en-US" sz="3700" dirty="0"/>
              <a:t>!</a:t>
            </a:r>
          </a:p>
        </p:txBody>
      </p:sp>
      <p:pic>
        <p:nvPicPr>
          <p:cNvPr id="5" name="Picture 4" descr="A diagram of a problem&#10;&#10;AI-generated content may be incorrect.">
            <a:extLst>
              <a:ext uri="{FF2B5EF4-FFF2-40B4-BE49-F238E27FC236}">
                <a16:creationId xmlns:a16="http://schemas.microsoft.com/office/drawing/2014/main" id="{2F0F060E-409D-07DC-0873-C2EAF3DB6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62" y="4731258"/>
            <a:ext cx="7607876" cy="18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46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F324-49B7-0EDB-2ADC-A7C85973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34422D7-E37F-3F25-11B4-52BD352F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Query Complexity</a:t>
            </a:r>
          </a:p>
        </p:txBody>
      </p:sp>
    </p:spTree>
    <p:extLst>
      <p:ext uri="{BB962C8B-B14F-4D97-AF65-F5344CB8AC3E}">
        <p14:creationId xmlns:p14="http://schemas.microsoft.com/office/powerpoint/2010/main" val="3760091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5886-CD49-D376-C7A2-E1FE6672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D49F-BF4D-D145-C16A-CDB9AB1E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Nested Views/Functions/Triggers/Stored Procs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0BF0-37AF-1949-BAB0-04B6831BF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700" dirty="0"/>
              <a:t>Encapsulation is not bad, but…</a:t>
            </a:r>
          </a:p>
          <a:p>
            <a:pPr marL="0" indent="0">
              <a:buNone/>
            </a:pPr>
            <a:r>
              <a:rPr lang="en-US" sz="3700" dirty="0"/>
              <a:t>…nesting </a:t>
            </a:r>
            <a:r>
              <a:rPr lang="en-US" sz="3700" b="1" dirty="0"/>
              <a:t>too many objects </a:t>
            </a:r>
            <a:r>
              <a:rPr lang="en-US" sz="3700" dirty="0"/>
              <a:t>creates a lot of complexity</a:t>
            </a:r>
          </a:p>
          <a:p>
            <a:r>
              <a:rPr lang="en-US" sz="3700" dirty="0"/>
              <a:t>Hard to document</a:t>
            </a:r>
          </a:p>
          <a:p>
            <a:r>
              <a:rPr lang="en-US" sz="3700" dirty="0"/>
              <a:t>Objects are accessed too many times</a:t>
            </a:r>
          </a:p>
          <a:p>
            <a:r>
              <a:rPr lang="en-US" sz="3700" dirty="0"/>
              <a:t>Too much business logic in the database = bad</a:t>
            </a:r>
          </a:p>
          <a:p>
            <a:r>
              <a:rPr lang="en-US" sz="3700" dirty="0"/>
              <a:t>Objects calling </a:t>
            </a:r>
            <a:r>
              <a:rPr lang="en-US" sz="3000" dirty="0"/>
              <a:t>objects calling </a:t>
            </a:r>
            <a:r>
              <a:rPr lang="en-US" sz="2000" dirty="0"/>
              <a:t>objects calling</a:t>
            </a:r>
            <a:r>
              <a:rPr lang="en-US" sz="1000" dirty="0"/>
              <a:t> objects calling </a:t>
            </a:r>
            <a:r>
              <a:rPr lang="en-US" sz="500" dirty="0"/>
              <a:t>objects calling</a:t>
            </a:r>
            <a:r>
              <a:rPr lang="en-US" sz="300" dirty="0"/>
              <a:t> objects calling</a:t>
            </a:r>
          </a:p>
        </p:txBody>
      </p:sp>
      <p:pic>
        <p:nvPicPr>
          <p:cNvPr id="6" name="Picture 5" descr="A hallway with many doorways&#10;&#10;AI-generated content may be incorrect.">
            <a:extLst>
              <a:ext uri="{FF2B5EF4-FFF2-40B4-BE49-F238E27FC236}">
                <a16:creationId xmlns:a16="http://schemas.microsoft.com/office/drawing/2014/main" id="{0FC30BFC-F2BE-1024-A66F-16225FD9C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536" y="3580919"/>
            <a:ext cx="2057971" cy="312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75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B21E-EBC2-8732-3D28-49F43582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2C0F-A4AA-14E8-68DD-4ACB3232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Nested Objects: Symptoms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77164-3DCB-49BB-D263-E1A49A39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700" dirty="0"/>
              <a:t>Access against </a:t>
            </a:r>
            <a:r>
              <a:rPr lang="en-US" sz="3700" b="1" dirty="0"/>
              <a:t>unexpected tables </a:t>
            </a:r>
            <a:r>
              <a:rPr lang="en-US" sz="3700" dirty="0"/>
              <a:t>(or too much IO)</a:t>
            </a:r>
          </a:p>
          <a:p>
            <a:r>
              <a:rPr lang="en-US" sz="3700" dirty="0"/>
              <a:t>Larger execution plan than expected</a:t>
            </a:r>
          </a:p>
          <a:p>
            <a:r>
              <a:rPr lang="en-US" sz="3700" dirty="0"/>
              <a:t>Latency for a very small/simple query</a:t>
            </a:r>
          </a:p>
          <a:p>
            <a:r>
              <a:rPr lang="en-US" sz="3700" dirty="0"/>
              <a:t>Unexpected results</a:t>
            </a:r>
          </a:p>
          <a:p>
            <a:r>
              <a:rPr lang="en-US" sz="3700" dirty="0"/>
              <a:t>Higher row counts than anticipated</a:t>
            </a:r>
          </a:p>
          <a:p>
            <a:pPr marL="0" indent="0">
              <a:buNone/>
            </a:pPr>
            <a:endParaRPr lang="en-US" sz="300" dirty="0"/>
          </a:p>
        </p:txBody>
      </p:sp>
      <p:pic>
        <p:nvPicPr>
          <p:cNvPr id="6" name="Picture 5" descr="A hallway with many doorways&#10;&#10;AI-generated content may be incorrect.">
            <a:extLst>
              <a:ext uri="{FF2B5EF4-FFF2-40B4-BE49-F238E27FC236}">
                <a16:creationId xmlns:a16="http://schemas.microsoft.com/office/drawing/2014/main" id="{95E5F50D-EBDD-23E8-659B-CD4E2E8BB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536" y="3580919"/>
            <a:ext cx="2057971" cy="312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82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CBAE-5D51-E7CB-9264-A58CFDBA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B8726B2-361D-F83E-3D6A-56223E164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6000" i="1" dirty="0"/>
              <a:t>Demo</a:t>
            </a:r>
          </a:p>
          <a:p>
            <a:pPr marL="0" indent="0">
              <a:buNone/>
            </a:pPr>
            <a:endParaRPr lang="en-CA" sz="6000" dirty="0"/>
          </a:p>
          <a:p>
            <a:pPr marL="0" indent="0">
              <a:buNone/>
            </a:pPr>
            <a:r>
              <a:rPr lang="en-CA" sz="6000" dirty="0"/>
              <a:t>Nested Objects</a:t>
            </a:r>
          </a:p>
        </p:txBody>
      </p:sp>
    </p:spTree>
    <p:extLst>
      <p:ext uri="{BB962C8B-B14F-4D97-AF65-F5344CB8AC3E}">
        <p14:creationId xmlns:p14="http://schemas.microsoft.com/office/powerpoint/2010/main" val="2669377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997D-E085-750B-8E18-31773062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C957-9445-830E-2460-EB88F6FA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Parameterization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B52F6-85B5-6735-B8A9-7116692E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Execution plan reuse </a:t>
            </a:r>
            <a:r>
              <a:rPr lang="en-US" dirty="0"/>
              <a:t>is a very good thing</a:t>
            </a:r>
          </a:p>
          <a:p>
            <a:r>
              <a:rPr lang="en-US" dirty="0"/>
              <a:t>By default, we want all queries/procs to reuse plans whenever possible</a:t>
            </a:r>
          </a:p>
          <a:p>
            <a:r>
              <a:rPr lang="en-US" dirty="0"/>
              <a:t>Parameter sniffing is an </a:t>
            </a:r>
            <a:r>
              <a:rPr lang="en-US" b="1" dirty="0"/>
              <a:t>outlier</a:t>
            </a:r>
            <a:r>
              <a:rPr lang="en-US" dirty="0"/>
              <a:t> and not a norm. Do not architect around it. Do not cheat the optimizer.</a:t>
            </a:r>
          </a:p>
          <a:p>
            <a:r>
              <a:rPr lang="en-US" dirty="0"/>
              <a:t>Local variables incur a poor cardinality estimate as values are not known until runtime. Avoid when issues arise.</a:t>
            </a:r>
          </a:p>
          <a:p>
            <a:r>
              <a:rPr lang="en-US" dirty="0"/>
              <a:t>This problem is handled </a:t>
            </a:r>
            <a:r>
              <a:rPr lang="en-US" b="1" dirty="0"/>
              <a:t>very poorly </a:t>
            </a:r>
            <a:r>
              <a:rPr lang="en-US" dirty="0"/>
              <a:t>by the internet.</a:t>
            </a:r>
          </a:p>
          <a:p>
            <a:pPr marL="0" indent="0" algn="ctr">
              <a:buNone/>
            </a:pPr>
            <a:r>
              <a:rPr lang="en-US" sz="2200" i="1" dirty="0"/>
              <a:t>Want more? Check out my </a:t>
            </a:r>
            <a:r>
              <a:rPr lang="en-US" sz="2200" i="1" dirty="0">
                <a:hlinkClick r:id="rId2"/>
              </a:rPr>
              <a:t>parameter sniffing presentation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2506384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B7FF-BB87-90B8-23E3-ADF28D62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C458-57BC-B533-7131-875C627F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Hacks and Quick Fixes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22A4-0A8B-E880-B572-0DE053989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Best practices </a:t>
            </a:r>
            <a:r>
              <a:rPr lang="en-US" dirty="0"/>
              <a:t>will guide us most of the time.</a:t>
            </a:r>
          </a:p>
          <a:p>
            <a:pPr lvl="1"/>
            <a:r>
              <a:rPr lang="en-US" dirty="0"/>
              <a:t>Outliers should be treated as case-by-case exceptions to best practices</a:t>
            </a:r>
          </a:p>
          <a:p>
            <a:r>
              <a:rPr lang="en-US" dirty="0"/>
              <a:t>Query hints</a:t>
            </a:r>
          </a:p>
          <a:p>
            <a:r>
              <a:rPr lang="en-US" dirty="0"/>
              <a:t>Plan forcing</a:t>
            </a:r>
          </a:p>
          <a:p>
            <a:r>
              <a:rPr lang="en-US" dirty="0"/>
              <a:t>Trace flags</a:t>
            </a:r>
          </a:p>
          <a:p>
            <a:r>
              <a:rPr lang="en-US" dirty="0"/>
              <a:t>Frequent adjustment of database/server features to non-defaults</a:t>
            </a:r>
          </a:p>
          <a:p>
            <a:r>
              <a:rPr lang="en-US" dirty="0"/>
              <a:t>Index spam</a:t>
            </a:r>
          </a:p>
          <a:p>
            <a:r>
              <a:rPr lang="en-US" dirty="0"/>
              <a:t>Awkward/temperamental tweaks</a:t>
            </a:r>
            <a:r>
              <a:rPr lang="en-US" sz="2400" i="1" dirty="0"/>
              <a:t> </a:t>
            </a:r>
            <a:r>
              <a:rPr lang="en-US" sz="2000" i="1" dirty="0"/>
              <a:t>(IN vs EXISTS, for example)</a:t>
            </a:r>
          </a:p>
          <a:p>
            <a:endParaRPr lang="en-US" sz="2000" dirty="0"/>
          </a:p>
          <a:p>
            <a:pPr marL="0" indent="0" algn="ctr">
              <a:buNone/>
            </a:pPr>
            <a:r>
              <a:rPr lang="en-US" sz="2600" i="1" dirty="0"/>
              <a:t>Hacks are acceptable to solve emergencies, but should not remain forever!</a:t>
            </a:r>
          </a:p>
          <a:p>
            <a:pPr marL="0" indent="0">
              <a:buNone/>
            </a:pP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260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657" b="1" dirty="0"/>
              <a:t>Conclusion</a:t>
            </a:r>
            <a:endParaRPr lang="en-US" b="1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2891" indent="-362891"/>
            <a:r>
              <a:rPr lang="en-US" dirty="0"/>
              <a:t>Efficient data access is critical to the success of an application</a:t>
            </a:r>
          </a:p>
          <a:p>
            <a:pPr marL="362891" indent="-362891"/>
            <a:r>
              <a:rPr lang="en-US" dirty="0"/>
              <a:t>Our ability to do this is complicated by:</a:t>
            </a:r>
          </a:p>
          <a:p>
            <a:pPr marL="820091" lvl="1" indent="-362891"/>
            <a:r>
              <a:rPr lang="en-US" dirty="0"/>
              <a:t>Business logic</a:t>
            </a:r>
          </a:p>
          <a:p>
            <a:pPr marL="820091" lvl="1" indent="-362891"/>
            <a:r>
              <a:rPr lang="en-US" dirty="0"/>
              <a:t>Human error</a:t>
            </a:r>
          </a:p>
          <a:p>
            <a:pPr marL="820091" lvl="1" indent="-362891"/>
            <a:r>
              <a:rPr lang="en-US" dirty="0"/>
              <a:t>Technical debt</a:t>
            </a:r>
          </a:p>
          <a:p>
            <a:pPr marL="820091" lvl="1" indent="-362891"/>
            <a:r>
              <a:rPr lang="en-US" dirty="0"/>
              <a:t>Assumptions</a:t>
            </a:r>
          </a:p>
          <a:p>
            <a:pPr marL="362891" indent="-362891"/>
            <a:r>
              <a:rPr lang="en-US" dirty="0"/>
              <a:t>AI can assist with many common issues…</a:t>
            </a:r>
          </a:p>
          <a:p>
            <a:pPr marL="820091" lvl="1" indent="-362891"/>
            <a:r>
              <a:rPr lang="en-US" dirty="0"/>
              <a:t>…but falls short on complex/nuanced challenges…</a:t>
            </a:r>
          </a:p>
          <a:p>
            <a:pPr marL="820091" lvl="1" indent="-362891"/>
            <a:r>
              <a:rPr lang="en-US" dirty="0"/>
              <a:t>or will provide MANY options for you to choose from</a:t>
            </a:r>
          </a:p>
          <a:p>
            <a:pPr marL="362891" indent="-362891"/>
            <a:r>
              <a:rPr lang="en-US" dirty="0"/>
              <a:t>Optimization is a valuable skill that leads to better software!</a:t>
            </a:r>
          </a:p>
        </p:txBody>
      </p:sp>
    </p:spTree>
    <p:extLst>
      <p:ext uri="{BB962C8B-B14F-4D97-AF65-F5344CB8AC3E}">
        <p14:creationId xmlns:p14="http://schemas.microsoft.com/office/powerpoint/2010/main" val="2168647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FE4AF-B348-5DEE-C10F-85D870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04" y="274639"/>
            <a:ext cx="11003771" cy="1143000"/>
          </a:xfrm>
        </p:spPr>
        <p:txBody>
          <a:bodyPr/>
          <a:lstStyle/>
          <a:p>
            <a:r>
              <a:rPr lang="en-US" b="1" dirty="0"/>
              <a:t>Questions? Thank You!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7694-6D38-D578-B6BE-6A0138EC0E4E}"/>
              </a:ext>
            </a:extLst>
          </p:cNvPr>
          <p:cNvSpPr txBox="1"/>
          <p:nvPr/>
        </p:nvSpPr>
        <p:spPr>
          <a:xfrm>
            <a:off x="609204" y="1146710"/>
            <a:ext cx="99978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Find me here:</a:t>
            </a:r>
            <a:endParaRPr lang="en-US" sz="2800" b="1" dirty="0">
              <a:hlinkClick r:id="rId2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3"/>
              </a:rPr>
              <a:t>Ed Pollack | LinkedIn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4"/>
              </a:rPr>
              <a:t>Edward Pollack | Most Valuable Professionals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5"/>
              </a:rPr>
              <a:t>https://sessionize.com/edward-pollack/</a:t>
            </a:r>
            <a:endParaRPr lang="en-US" sz="2800" dirty="0"/>
          </a:p>
          <a:p>
            <a:r>
              <a:rPr lang="en-US" sz="2800" b="1" dirty="0"/>
              <a:t>Find my content here: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 err="1">
                <a:hlinkClick r:id="rId6"/>
              </a:rPr>
              <a:t>EdwardPollack</a:t>
            </a:r>
            <a:r>
              <a:rPr lang="en-US" sz="2800" dirty="0">
                <a:hlinkClick r:id="rId6"/>
              </a:rPr>
              <a:t> (Ed Pollack) (github.com)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7"/>
              </a:rPr>
              <a:t>Edward Pollack, Author at Simple Talk (red-gate.com)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8"/>
              </a:rPr>
              <a:t>Ed Pollack, Author at SQL Shack - articles about database auditing, server performance, data recovery, and more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583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17663</TotalTime>
  <Words>1319</Words>
  <Application>Microsoft Office PowerPoint</Application>
  <PresentationFormat>Widescreen</PresentationFormat>
  <Paragraphs>210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Ed Pollack</vt:lpstr>
      <vt:lpstr>Agenda</vt:lpstr>
      <vt:lpstr>Why Does This Matter?</vt:lpstr>
      <vt:lpstr>Why Does This Matter?</vt:lpstr>
      <vt:lpstr>Typical Workflow</vt:lpstr>
      <vt:lpstr>Basic Workflow for Success</vt:lpstr>
      <vt:lpstr>Identify a Query’s Purpose!</vt:lpstr>
      <vt:lpstr>When Do We Stop Optimizing?</vt:lpstr>
      <vt:lpstr>PowerPoint Presentation</vt:lpstr>
      <vt:lpstr>PowerPoint Presentation</vt:lpstr>
      <vt:lpstr>Indexing</vt:lpstr>
      <vt:lpstr>Execution Plan: Seeks, Scans, and Lookups</vt:lpstr>
      <vt:lpstr>Data Types &amp; Conversions</vt:lpstr>
      <vt:lpstr>PowerPoint Presentation</vt:lpstr>
      <vt:lpstr>Inefficient Joins &amp; Filters</vt:lpstr>
      <vt:lpstr>PowerPoint Presentation</vt:lpstr>
      <vt:lpstr>The SORT Operator</vt:lpstr>
      <vt:lpstr>The Spammy Query</vt:lpstr>
      <vt:lpstr>Iteration</vt:lpstr>
      <vt:lpstr>PowerPoint Presentation</vt:lpstr>
      <vt:lpstr>Query Complexity</vt:lpstr>
      <vt:lpstr>PowerPoint Presentation</vt:lpstr>
      <vt:lpstr>Nested Views/Functions/Triggers/Stored Procs</vt:lpstr>
      <vt:lpstr>Nested Objects: Symptoms</vt:lpstr>
      <vt:lpstr>PowerPoint Presentation</vt:lpstr>
      <vt:lpstr>Parameterization</vt:lpstr>
      <vt:lpstr>Hacks and Quick Fixes</vt:lpstr>
      <vt:lpstr>Conclusion</vt:lpstr>
      <vt:lpstr>Questions?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Pollack</dc:creator>
  <cp:lastModifiedBy>Edward Pollack</cp:lastModifiedBy>
  <cp:revision>232</cp:revision>
  <dcterms:created xsi:type="dcterms:W3CDTF">2022-11-29T17:09:54Z</dcterms:created>
  <dcterms:modified xsi:type="dcterms:W3CDTF">2026-07-20T16:53:46Z</dcterms:modified>
</cp:coreProperties>
</file>