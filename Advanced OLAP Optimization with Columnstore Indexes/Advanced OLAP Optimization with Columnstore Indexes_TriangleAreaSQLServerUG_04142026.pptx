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49"/>
  </p:notesMasterIdLst>
  <p:sldIdLst>
    <p:sldId id="263" r:id="rId2"/>
    <p:sldId id="370" r:id="rId3"/>
    <p:sldId id="264" r:id="rId4"/>
    <p:sldId id="330" r:id="rId5"/>
    <p:sldId id="332" r:id="rId6"/>
    <p:sldId id="331" r:id="rId7"/>
    <p:sldId id="334" r:id="rId8"/>
    <p:sldId id="335" r:id="rId9"/>
    <p:sldId id="306" r:id="rId10"/>
    <p:sldId id="337" r:id="rId11"/>
    <p:sldId id="338" r:id="rId12"/>
    <p:sldId id="339" r:id="rId13"/>
    <p:sldId id="340" r:id="rId14"/>
    <p:sldId id="336" r:id="rId15"/>
    <p:sldId id="341" r:id="rId16"/>
    <p:sldId id="343" r:id="rId17"/>
    <p:sldId id="345" r:id="rId18"/>
    <p:sldId id="346" r:id="rId19"/>
    <p:sldId id="333" r:id="rId20"/>
    <p:sldId id="262" r:id="rId21"/>
    <p:sldId id="344" r:id="rId22"/>
    <p:sldId id="348" r:id="rId23"/>
    <p:sldId id="349" r:id="rId24"/>
    <p:sldId id="350" r:id="rId25"/>
    <p:sldId id="342" r:id="rId26"/>
    <p:sldId id="351" r:id="rId27"/>
    <p:sldId id="352" r:id="rId28"/>
    <p:sldId id="353" r:id="rId29"/>
    <p:sldId id="354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4" r:id="rId38"/>
    <p:sldId id="365" r:id="rId39"/>
    <p:sldId id="363" r:id="rId40"/>
    <p:sldId id="366" r:id="rId41"/>
    <p:sldId id="367" r:id="rId42"/>
    <p:sldId id="369" r:id="rId43"/>
    <p:sldId id="355" r:id="rId44"/>
    <p:sldId id="368" r:id="rId45"/>
    <p:sldId id="436" r:id="rId46"/>
    <p:sldId id="328" r:id="rId47"/>
    <p:sldId id="435" r:id="rId48"/>
  </p:sldIdLst>
  <p:sldSz cx="11520488" cy="64801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51794-FE7D-4028-8036-1B80BE5CA903}" v="30" dt="2020-11-03T01:08:19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792" y="96"/>
      </p:cViewPr>
      <p:guideLst>
        <p:guide orient="horz" pos="2041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ote" userId="9fc346731770da84" providerId="LiveId" clId="{A5151794-FE7D-4028-8036-1B80BE5CA903}"/>
    <pc:docChg chg="undo custSel modSld">
      <pc:chgData name="Christian Cote" userId="9fc346731770da84" providerId="LiveId" clId="{A5151794-FE7D-4028-8036-1B80BE5CA903}" dt="2020-11-03T01:08:19.177" v="76" actId="14100"/>
      <pc:docMkLst>
        <pc:docMk/>
      </pc:docMkLst>
      <pc:sldChg chg="addSp delSp modSp mod">
        <pc:chgData name="Christian Cote" userId="9fc346731770da84" providerId="LiveId" clId="{A5151794-FE7D-4028-8036-1B80BE5CA903}" dt="2020-11-03T01:08:19.177" v="76" actId="14100"/>
        <pc:sldMkLst>
          <pc:docMk/>
          <pc:sldMk cId="3880213463" sldId="257"/>
        </pc:sldMkLst>
        <pc:spChg chg="add del mod">
          <ac:chgData name="Christian Cote" userId="9fc346731770da84" providerId="LiveId" clId="{A5151794-FE7D-4028-8036-1B80BE5CA903}" dt="2020-11-02T23:52:49.397" v="58" actId="478"/>
          <ac:spMkLst>
            <pc:docMk/>
            <pc:sldMk cId="3880213463" sldId="257"/>
            <ac:spMk id="10" creationId="{E008D159-C3A5-4CA3-A326-5BF5F2D4F99D}"/>
          </ac:spMkLst>
        </pc:spChg>
        <pc:spChg chg="add del">
          <ac:chgData name="Christian Cote" userId="9fc346731770da84" providerId="LiveId" clId="{A5151794-FE7D-4028-8036-1B80BE5CA903}" dt="2020-11-02T23:52:49.397" v="58" actId="478"/>
          <ac:spMkLst>
            <pc:docMk/>
            <pc:sldMk cId="3880213463" sldId="257"/>
            <ac:spMk id="18" creationId="{00000000-0000-0000-0000-000000000000}"/>
          </ac:spMkLst>
        </pc:spChg>
        <pc:spChg chg="mod">
          <ac:chgData name="Christian Cote" userId="9fc346731770da84" providerId="LiveId" clId="{A5151794-FE7D-4028-8036-1B80BE5CA903}" dt="2020-11-02T23:52:49.981" v="59" actId="1076"/>
          <ac:spMkLst>
            <pc:docMk/>
            <pc:sldMk cId="3880213463" sldId="257"/>
            <ac:spMk id="19" creationId="{00000000-0000-0000-0000-000000000000}"/>
          </ac:spMkLst>
        </pc:spChg>
        <pc:graphicFrameChg chg="mod modGraphic">
          <ac:chgData name="Christian Cote" userId="9fc346731770da84" providerId="LiveId" clId="{A5151794-FE7D-4028-8036-1B80BE5CA903}" dt="2020-11-02T23:50:42.217" v="37" actId="14100"/>
          <ac:graphicFrameMkLst>
            <pc:docMk/>
            <pc:sldMk cId="3880213463" sldId="257"/>
            <ac:graphicFrameMk id="2" creationId="{8ABFF388-2321-4CDF-85D2-CA78EC9CC6B7}"/>
          </ac:graphicFrameMkLst>
        </pc:graphicFrameChg>
        <pc:picChg chg="add mod">
          <ac:chgData name="Christian Cote" userId="9fc346731770da84" providerId="LiveId" clId="{A5151794-FE7D-4028-8036-1B80BE5CA903}" dt="2020-11-03T01:06:36.243" v="75" actId="14100"/>
          <ac:picMkLst>
            <pc:docMk/>
            <pc:sldMk cId="3880213463" sldId="257"/>
            <ac:picMk id="3" creationId="{303739D5-FFA4-46C3-8E83-D32C75832447}"/>
          </ac:picMkLst>
        </pc:picChg>
        <pc:picChg chg="del mod">
          <ac:chgData name="Christian Cote" userId="9fc346731770da84" providerId="LiveId" clId="{A5151794-FE7D-4028-8036-1B80BE5CA903}" dt="2020-11-02T23:51:14.297" v="50" actId="478"/>
          <ac:picMkLst>
            <pc:docMk/>
            <pc:sldMk cId="3880213463" sldId="257"/>
            <ac:picMk id="4" creationId="{23C8939E-154B-4693-B1AD-59AA945EB6D4}"/>
          </ac:picMkLst>
        </pc:picChg>
        <pc:picChg chg="del">
          <ac:chgData name="Christian Cote" userId="9fc346731770da84" providerId="LiveId" clId="{A5151794-FE7D-4028-8036-1B80BE5CA903}" dt="2020-11-02T23:49:03.143" v="8" actId="478"/>
          <ac:picMkLst>
            <pc:docMk/>
            <pc:sldMk cId="3880213463" sldId="257"/>
            <ac:picMk id="6" creationId="{1C488B5B-457B-4A96-A596-89F741F33C92}"/>
          </ac:picMkLst>
        </pc:picChg>
        <pc:picChg chg="del">
          <ac:chgData name="Christian Cote" userId="9fc346731770da84" providerId="LiveId" clId="{A5151794-FE7D-4028-8036-1B80BE5CA903}" dt="2020-11-02T23:49:56.938" v="29" actId="478"/>
          <ac:picMkLst>
            <pc:docMk/>
            <pc:sldMk cId="3880213463" sldId="257"/>
            <ac:picMk id="7" creationId="{7A902059-0A12-4C41-8900-A7836596CF43}"/>
          </ac:picMkLst>
        </pc:picChg>
        <pc:picChg chg="del">
          <ac:chgData name="Christian Cote" userId="9fc346731770da84" providerId="LiveId" clId="{A5151794-FE7D-4028-8036-1B80BE5CA903}" dt="2020-11-02T23:50:37.507" v="35" actId="478"/>
          <ac:picMkLst>
            <pc:docMk/>
            <pc:sldMk cId="3880213463" sldId="257"/>
            <ac:picMk id="8" creationId="{F18F7A46-87C1-4C87-9D28-0234186BA5A2}"/>
          </ac:picMkLst>
        </pc:picChg>
        <pc:picChg chg="mod modCrop">
          <ac:chgData name="Christian Cote" userId="9fc346731770da84" providerId="LiveId" clId="{A5151794-FE7D-4028-8036-1B80BE5CA903}" dt="2020-11-02T23:53:57.656" v="69" actId="1076"/>
          <ac:picMkLst>
            <pc:docMk/>
            <pc:sldMk cId="3880213463" sldId="257"/>
            <ac:picMk id="9" creationId="{C634D6CE-3A42-44B2-B905-F4374A9D32A7}"/>
          </ac:picMkLst>
        </pc:picChg>
        <pc:picChg chg="del">
          <ac:chgData name="Christian Cote" userId="9fc346731770da84" providerId="LiveId" clId="{A5151794-FE7D-4028-8036-1B80BE5CA903}" dt="2020-11-02T23:50:38.233" v="36" actId="478"/>
          <ac:picMkLst>
            <pc:docMk/>
            <pc:sldMk cId="3880213463" sldId="257"/>
            <ac:picMk id="12" creationId="{469E5C0A-5619-4586-90DA-F45817AA9CB9}"/>
          </ac:picMkLst>
        </pc:picChg>
        <pc:picChg chg="add mod">
          <ac:chgData name="Christian Cote" userId="9fc346731770da84" providerId="LiveId" clId="{A5151794-FE7D-4028-8036-1B80BE5CA903}" dt="2020-11-03T01:08:19.177" v="76" actId="14100"/>
          <ac:picMkLst>
            <pc:docMk/>
            <pc:sldMk cId="3880213463" sldId="257"/>
            <ac:picMk id="2050" creationId="{D20F88E4-1B48-4DC0-9E49-EEF6C120306D}"/>
          </ac:picMkLst>
        </pc:picChg>
        <pc:picChg chg="add mod">
          <ac:chgData name="Christian Cote" userId="9fc346731770da84" providerId="LiveId" clId="{A5151794-FE7D-4028-8036-1B80BE5CA903}" dt="2020-11-02T23:53:18.896" v="63" actId="1076"/>
          <ac:picMkLst>
            <pc:docMk/>
            <pc:sldMk cId="3880213463" sldId="257"/>
            <ac:picMk id="2052" creationId="{F05114AF-69D0-4FA9-829F-25FB2B8867F9}"/>
          </ac:picMkLst>
        </pc:picChg>
      </pc:sldChg>
      <pc:sldChg chg="addSp modSp">
        <pc:chgData name="Christian Cote" userId="9fc346731770da84" providerId="LiveId" clId="{A5151794-FE7D-4028-8036-1B80BE5CA903}" dt="2020-11-03T01:04:35.660" v="73" actId="1076"/>
        <pc:sldMkLst>
          <pc:docMk/>
          <pc:sldMk cId="3947886400" sldId="263"/>
        </pc:sldMkLst>
        <pc:picChg chg="add mod">
          <ac:chgData name="Christian Cote" userId="9fc346731770da84" providerId="LiveId" clId="{A5151794-FE7D-4028-8036-1B80BE5CA903}" dt="2020-11-03T01:04:35.660" v="73" actId="1076"/>
          <ac:picMkLst>
            <pc:docMk/>
            <pc:sldMk cId="3947886400" sldId="263"/>
            <ac:picMk id="3074" creationId="{8BF2DC4E-6825-442D-826C-D7EE0453F0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96050-B3B9-4A56-8FF7-BEF0B3EF2A31}" type="datetimeFigureOut">
              <a:rPr lang="en-CA" smtClean="0"/>
              <a:t>2026-04-13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BD992-ACC6-4654-ABFE-ECA7A805A5C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506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07EA-382F-4754-85A4-77B953157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6E8BE-968C-4BEB-BDFF-377CC816D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4FB5-CA84-4C4E-8E3D-961E8D40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72B3B-B5A0-4154-8A97-DAFF3C6B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868A7-15D3-40BE-AC5C-5033BD8B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2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C771-EA88-47A6-A613-66BA5878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9A32-1242-4692-8CA0-E25E5CEA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E28B-8D91-4B97-96D1-00D00160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FEB2-3DFA-4B40-9C39-44CA81B4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EB7AD-0EBD-4237-B1D9-20E53338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6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34AC-B48B-4525-A7C4-0093A2C5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2B47B-DF45-421F-BC6D-F0D1F1AD0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BAD6A-3604-4401-96EE-2AF3DEB6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9744E-AF53-4691-8F49-D0224ABD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A1EDF-C172-4A08-BDDD-758644A4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5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DE86-5959-45D5-83D2-DA56FD2E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8284-0285-4F48-B56E-E795E97C3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5D184-F13F-428D-8DD0-338C924F0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25015-B9AF-40EB-9C14-A0DFFDA8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0DAD0-85F7-49B7-899B-C6BF301C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09C47-D586-435D-9B4A-1F7C968A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2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D169-0F84-47BF-899F-6D19C3AC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957ED-2350-4350-A2FD-171B1B5BC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49252-CE57-4431-9390-585A83876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58566-28FC-4D87-AE5C-DC0F682A5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5D0DF2-1DB2-41EF-ABE5-720F39812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A15D6-2B65-42B0-B802-0AC99FC8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CDF22-A6AA-4C30-A209-462E215D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27A44-1839-405F-9054-9F34CFB6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73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55D6-B012-44A1-AEBC-9D4EBFAF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0048E-C65C-470F-B79D-805BDF08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0807D-572B-4EAA-9381-83E6CDBD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FB7C9-2E33-4E79-ADD6-5666B9C7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228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BA177-D582-47C9-94B3-61F2F2DC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F402A-6F09-4C10-BE0D-B6F92567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65B2-F7F0-4C48-BBDC-E7123AC3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5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AE852-087C-4B86-896F-8BE0D316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B3BB3-914F-468C-83C3-675E6227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1F912-A1F6-4B3A-9F50-F88DB0B5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DD372-6FD3-47AE-A40E-CB989DD6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64370-6F23-47C8-B8A0-D5640AA4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23194-12F2-42D6-A13A-D2DBCF61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7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6CA3-E097-4773-8584-91602B56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88169-FDD5-41D4-86E5-0A664E04D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E7294-FE1F-4370-BF76-CE264419B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9A449-06CD-4B58-B282-86A9660D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47F71-DC6C-4A88-B0AB-6621E6CBB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7745C-16CB-4AAB-807C-6B31310C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2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F589-311E-4EC6-B4EA-7A7EC21B9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149ED-745A-4E2E-B3F2-76BF7E336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3952-6AF7-4570-839A-05A5ACBF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241FD-7700-4B3F-ABCC-4D062E6E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1D856-1C80-4933-8762-884D05AE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8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92D5B-78AF-46C2-9964-847A41703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1D818-0494-4DDA-BC31-AD06A8011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BCAFC-76FD-4397-9BE1-89208BB1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FCA98-2479-4E6B-93BF-6AE4289C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84A59-729D-41E8-8B7D-58BA19AF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09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2245BA-3E6C-4FAA-8C55-9232354DEF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55600" y="-359912"/>
            <a:ext cx="5324400" cy="7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9907" y="3779838"/>
            <a:ext cx="10800218" cy="2339975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61157" y="360588"/>
            <a:ext cx="10799762" cy="1079500"/>
          </a:xfrm>
        </p:spPr>
        <p:txBody>
          <a:bodyPr anchor="t">
            <a:noAutofit/>
          </a:bodyPr>
          <a:lstStyle>
            <a:lvl1pPr algn="l">
              <a:defRPr lang="en-US" sz="4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73244" y="3060087"/>
            <a:ext cx="2486881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4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7E2290-D773-46C2-A868-25CAA97A1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0000" y="-359912"/>
            <a:ext cx="5328001" cy="720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364" y="360363"/>
            <a:ext cx="10799762" cy="5759449"/>
          </a:xfrm>
        </p:spPr>
        <p:txBody>
          <a:bodyPr anchor="ctr"/>
          <a:lstStyle>
            <a:lvl1pPr algn="r">
              <a:defRPr sz="6000" b="0" i="0" cap="none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76356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125" y="360363"/>
            <a:ext cx="10800000" cy="5759450"/>
          </a:xfrm>
        </p:spPr>
        <p:txBody>
          <a:bodyPr/>
          <a:lstStyle>
            <a:lvl1pPr marL="0" indent="0">
              <a:buFont typeface="Wingdings" charset="2"/>
              <a:buNone/>
              <a:defRPr>
                <a:solidFill>
                  <a:schemeClr val="tx2"/>
                </a:solidFill>
              </a:defRPr>
            </a:lvl1pPr>
            <a:lvl2pPr marL="576027" indent="0">
              <a:buFont typeface="Wingdings" charset="2"/>
              <a:buNone/>
              <a:defRPr>
                <a:solidFill>
                  <a:srgbClr val="474947"/>
                </a:solidFill>
              </a:defRPr>
            </a:lvl2pPr>
            <a:lvl3pPr marL="1152053" indent="0">
              <a:buFont typeface="Wingdings" charset="2"/>
              <a:buNone/>
              <a:defRPr>
                <a:solidFill>
                  <a:srgbClr val="474947"/>
                </a:solidFill>
              </a:defRPr>
            </a:lvl3pPr>
            <a:lvl4pPr marL="1728079" indent="0">
              <a:buFont typeface="Wingdings" charset="2"/>
              <a:buNone/>
              <a:defRPr>
                <a:solidFill>
                  <a:srgbClr val="474947"/>
                </a:solidFill>
              </a:defRPr>
            </a:lvl4pPr>
            <a:lvl5pPr marL="2304105" indent="0">
              <a:buFont typeface="Wingdings" charset="2"/>
              <a:buNone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5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5A7974-8C9C-4A13-AA91-2A382556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B9B4A-9B94-447E-AAD5-0C1743413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19CF-F6FD-42D8-95F6-9D6E3B5C4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5E02F-BDDF-4296-910B-D1E7C2463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EAA82-DD79-4113-B3ED-ED09B8AAE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49079-EDB5-4E4F-AE74-66D98C405649}"/>
              </a:ext>
            </a:extLst>
          </p:cNvPr>
          <p:cNvSpPr txBox="1"/>
          <p:nvPr userDrawn="1"/>
        </p:nvSpPr>
        <p:spPr>
          <a:xfrm>
            <a:off x="1587525" y="1153073"/>
            <a:ext cx="184731" cy="441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68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0B2182D-3A9F-4816-A974-9CCEB581020C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855242954"/>
              </p:ext>
            </p:extLst>
          </p:nvPr>
        </p:nvGraphicFramePr>
        <p:xfrm>
          <a:off x="10713600" y="5940175"/>
          <a:ext cx="62661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6" imgW="2279520" imgH="1310400" progId="Photoshop.Image.18">
                  <p:embed/>
                </p:oleObj>
              </mc:Choice>
              <mc:Fallback>
                <p:oleObj name="Image" r:id="rId16" imgW="2279520" imgH="1310400" progId="Photoshop.Image.18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2D97063-5A23-4A28-BA12-299D39E45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713600" y="5940175"/>
                        <a:ext cx="626616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673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9" r:id="rId13"/>
    <p:sldLayoutId id="2147483656" r:id="rId14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qlsaturday.com/nyc" TargetMode="External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openxmlformats.org/officeDocument/2006/relationships/hyperlink" Target="https://link.springer.com/book/10.1007/978-1-4842-8048-5" TargetMode="External"/><Relationship Id="rId7" Type="http://schemas.openxmlformats.org/officeDocument/2006/relationships/hyperlink" Target="https://sqlsaturday.com/2024-08-03-sqlsaturday1083/" TargetMode="External"/><Relationship Id="rId12" Type="http://schemas.openxmlformats.org/officeDocument/2006/relationships/image" Target="../media/image6.jpeg"/><Relationship Id="rId17" Type="http://schemas.openxmlformats.org/officeDocument/2006/relationships/image" Target="../media/image9.jpg"/><Relationship Id="rId2" Type="http://schemas.openxmlformats.org/officeDocument/2006/relationships/hyperlink" Target="https://link.springer.com/book/10.1007/978-1-4842-4318-3" TargetMode="External"/><Relationship Id="rId16" Type="http://schemas.openxmlformats.org/officeDocument/2006/relationships/hyperlink" Target="https://www.transfinder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d-gate.com/simple-talk/author/ed7alum-rpi-edu/" TargetMode="External"/><Relationship Id="rId11" Type="http://schemas.openxmlformats.org/officeDocument/2006/relationships/hyperlink" Target="https://link.springer.com/search?dc.creator=Edward+Pollack" TargetMode="External"/><Relationship Id="rId5" Type="http://schemas.openxmlformats.org/officeDocument/2006/relationships/hyperlink" Target="https://link.springer.com/book/10.1007/978-1-4842-5197-3" TargetMode="External"/><Relationship Id="rId15" Type="http://schemas.openxmlformats.org/officeDocument/2006/relationships/image" Target="../media/image8.jpeg"/><Relationship Id="rId10" Type="http://schemas.openxmlformats.org/officeDocument/2006/relationships/image" Target="../media/image5.jpeg"/><Relationship Id="rId19" Type="http://schemas.openxmlformats.org/officeDocument/2006/relationships/image" Target="../media/image11.png"/><Relationship Id="rId4" Type="http://schemas.openxmlformats.org/officeDocument/2006/relationships/hyperlink" Target="https://link.springer.com/book/10.1007/978-1-4842-9215-0" TargetMode="External"/><Relationship Id="rId9" Type="http://schemas.openxmlformats.org/officeDocument/2006/relationships/hyperlink" Target="https://www.meetup.com/capital-area-sql-server-user-group/" TargetMode="External"/><Relationship Id="rId14" Type="http://schemas.openxmlformats.org/officeDocument/2006/relationships/hyperlink" Target="https://mvp.microsoft.com/en-US/MVP/profile/c7dc42d5-ff3e-ed11-bba3-000d3a19733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shack.com/author/edward-pollack/" TargetMode="External"/><Relationship Id="rId3" Type="http://schemas.openxmlformats.org/officeDocument/2006/relationships/hyperlink" Target="https://www.linkedin.com/in/ed-pollack-65a3aa23/" TargetMode="External"/><Relationship Id="rId7" Type="http://schemas.openxmlformats.org/officeDocument/2006/relationships/hyperlink" Target="https://www.red-gate.com/simple-talk/author/ed7alum-rpi-edu/" TargetMode="External"/><Relationship Id="rId2" Type="http://schemas.openxmlformats.org/officeDocument/2006/relationships/hyperlink" Target="mailto:ed@edwardpollack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dwardPollack" TargetMode="External"/><Relationship Id="rId5" Type="http://schemas.openxmlformats.org/officeDocument/2006/relationships/hyperlink" Target="https://sessionize.com/edward-pollack/" TargetMode="External"/><Relationship Id="rId4" Type="http://schemas.openxmlformats.org/officeDocument/2006/relationships/hyperlink" Target="https://mvp.microsoft.com/en-US/MVP/profile/c7dc42d5-ff3e-ed11-bba3-000d3a1973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157" y="1440088"/>
            <a:ext cx="10800218" cy="2339975"/>
          </a:xfrm>
        </p:spPr>
        <p:txBody>
          <a:bodyPr/>
          <a:lstStyle/>
          <a:p>
            <a:r>
              <a:rPr lang="en-US" b="1" dirty="0"/>
              <a:t>Advanced OLAP Optimization with Columnstore Indexes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Edward Pollack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3AD0E-803B-4369-9C60-B48ABB5A5D73}"/>
              </a:ext>
            </a:extLst>
          </p:cNvPr>
          <p:cNvSpPr txBox="1"/>
          <p:nvPr/>
        </p:nvSpPr>
        <p:spPr>
          <a:xfrm>
            <a:off x="360135" y="5019151"/>
            <a:ext cx="10306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Using Columnstore Architecture to Perfect OLAP Data Storage in SQL Server</a:t>
            </a:r>
          </a:p>
        </p:txBody>
      </p:sp>
    </p:spTree>
    <p:extLst>
      <p:ext uri="{BB962C8B-B14F-4D97-AF65-F5344CB8AC3E}">
        <p14:creationId xmlns:p14="http://schemas.microsoft.com/office/powerpoint/2010/main" val="394788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25D3F-9ED3-602A-38D6-127ABEFF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82" y="-117559"/>
            <a:ext cx="9936421" cy="1252534"/>
          </a:xfrm>
        </p:spPr>
        <p:txBody>
          <a:bodyPr/>
          <a:lstStyle/>
          <a:p>
            <a:r>
              <a:rPr lang="en-US" sz="3779" b="1" dirty="0"/>
              <a:t>Ed Pollack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9F84-C661-F3BE-6070-30D64808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641" y="740140"/>
            <a:ext cx="9936268" cy="4882864"/>
          </a:xfrm>
        </p:spPr>
        <p:txBody>
          <a:bodyPr/>
          <a:lstStyle/>
          <a:p>
            <a:pPr marL="0" indent="0">
              <a:buNone/>
            </a:pPr>
            <a:r>
              <a:rPr lang="en-US" sz="1827" dirty="0">
                <a:latin typeface="Arial" panose="020B0604020202020204" pitchFamily="34" charset="0"/>
              </a:rPr>
              <a:t>Microsoft Data Platform MVP</a:t>
            </a:r>
          </a:p>
          <a:p>
            <a:pPr marL="0" indent="0">
              <a:buNone/>
            </a:pPr>
            <a:r>
              <a:rPr lang="en-US" sz="1827" dirty="0">
                <a:latin typeface="Arial" panose="020B0604020202020204" pitchFamily="34" charset="0"/>
              </a:rPr>
              <a:t>Published author of:</a:t>
            </a:r>
          </a:p>
          <a:p>
            <a:pPr marL="503942" lvl="1" indent="-215975"/>
            <a:r>
              <a:rPr lang="en-US" sz="1827" dirty="0">
                <a:latin typeface="Arial" panose="020B0604020202020204" pitchFamily="34" charset="0"/>
                <a:hlinkClick r:id="rId2"/>
              </a:rPr>
              <a:t>Dynamic SQL: Applications, Performance, and Security, 2</a:t>
            </a:r>
            <a:r>
              <a:rPr lang="en-US" sz="1827" baseline="30000" dirty="0">
                <a:latin typeface="Arial" panose="020B0604020202020204" pitchFamily="34" charset="0"/>
                <a:hlinkClick r:id="rId2"/>
              </a:rPr>
              <a:t>nd</a:t>
            </a:r>
            <a:r>
              <a:rPr lang="en-US" sz="1827" dirty="0">
                <a:latin typeface="Arial" panose="020B0604020202020204" pitchFamily="34" charset="0"/>
                <a:hlinkClick r:id="rId2"/>
              </a:rPr>
              <a:t> Edition</a:t>
            </a:r>
            <a:endParaRPr lang="en-US" sz="1827" dirty="0">
              <a:latin typeface="Arial" panose="020B0604020202020204" pitchFamily="34" charset="0"/>
            </a:endParaRPr>
          </a:p>
          <a:p>
            <a:pPr marL="503942" lvl="1" indent="-215975"/>
            <a:r>
              <a:rPr lang="en-US" sz="1827" dirty="0">
                <a:latin typeface="Arial" panose="020B0604020202020204" pitchFamily="34" charset="0"/>
                <a:hlinkClick r:id="rId3"/>
              </a:rPr>
              <a:t>Analytics Optimization with Columnstore Indexes in SQL Server</a:t>
            </a:r>
            <a:endParaRPr lang="en-US" sz="1827" dirty="0">
              <a:latin typeface="Arial" panose="020B0604020202020204" pitchFamily="34" charset="0"/>
            </a:endParaRPr>
          </a:p>
          <a:p>
            <a:pPr marL="791932" lvl="2" indent="-215975"/>
            <a:r>
              <a:rPr lang="en-US" i="1" dirty="0">
                <a:latin typeface="Arial" panose="020B0604020202020204" pitchFamily="34" charset="0"/>
              </a:rPr>
              <a:t>2</a:t>
            </a:r>
            <a:r>
              <a:rPr lang="en-US" i="1" baseline="30000" dirty="0">
                <a:latin typeface="Arial" panose="020B0604020202020204" pitchFamily="34" charset="0"/>
              </a:rPr>
              <a:t>nd</a:t>
            </a:r>
            <a:r>
              <a:rPr lang="en-US" i="1" dirty="0">
                <a:latin typeface="Arial" panose="020B0604020202020204" pitchFamily="34" charset="0"/>
              </a:rPr>
              <a:t> edition forthcoming</a:t>
            </a:r>
          </a:p>
          <a:p>
            <a:pPr marL="503942" lvl="1" indent="-215975"/>
            <a:r>
              <a:rPr lang="en-US" sz="1827" dirty="0">
                <a:latin typeface="Arial" panose="020B0604020202020204" pitchFamily="34" charset="0"/>
                <a:hlinkClick r:id="rId4"/>
              </a:rPr>
              <a:t>Expert Performance Indexing in SQL Server, 4</a:t>
            </a:r>
            <a:r>
              <a:rPr lang="en-US" sz="1827" baseline="30000" dirty="0">
                <a:latin typeface="Arial" panose="020B0604020202020204" pitchFamily="34" charset="0"/>
                <a:hlinkClick r:id="rId4"/>
              </a:rPr>
              <a:t>th</a:t>
            </a:r>
            <a:r>
              <a:rPr lang="en-US" sz="1827" dirty="0">
                <a:latin typeface="Arial" panose="020B0604020202020204" pitchFamily="34" charset="0"/>
                <a:hlinkClick r:id="rId4"/>
              </a:rPr>
              <a:t> Edition</a:t>
            </a:r>
            <a:endParaRPr lang="en-US" sz="1827" dirty="0">
              <a:latin typeface="Arial" panose="020B0604020202020204" pitchFamily="34" charset="0"/>
            </a:endParaRPr>
          </a:p>
          <a:p>
            <a:pPr marL="503942" lvl="1" indent="-215975"/>
            <a:r>
              <a:rPr lang="en-US" sz="1827" dirty="0">
                <a:latin typeface="Arial" panose="020B0604020202020204" pitchFamily="34" charset="0"/>
              </a:rPr>
              <a:t>Published in </a:t>
            </a:r>
            <a:r>
              <a:rPr lang="en-US" sz="1827" dirty="0">
                <a:latin typeface="Arial" panose="020B0604020202020204" pitchFamily="34" charset="0"/>
                <a:hlinkClick r:id="rId5"/>
              </a:rPr>
              <a:t>Expert T-SQL Functions in SQL Server, 3</a:t>
            </a:r>
            <a:r>
              <a:rPr lang="en-US" sz="1827" baseline="30000" dirty="0">
                <a:latin typeface="Arial" panose="020B0604020202020204" pitchFamily="34" charset="0"/>
                <a:hlinkClick r:id="rId5"/>
              </a:rPr>
              <a:t>rd</a:t>
            </a:r>
            <a:r>
              <a:rPr lang="en-US" sz="1827" dirty="0">
                <a:latin typeface="Arial" panose="020B0604020202020204" pitchFamily="34" charset="0"/>
                <a:hlinkClick r:id="rId5"/>
              </a:rPr>
              <a:t> Edition</a:t>
            </a:r>
            <a:endParaRPr lang="en-US" sz="1827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27" dirty="0">
                <a:latin typeface="Arial" panose="020B0604020202020204" pitchFamily="34" charset="0"/>
              </a:rPr>
              <a:t>Author on </a:t>
            </a:r>
            <a:r>
              <a:rPr lang="en-US" sz="1827" dirty="0">
                <a:latin typeface="Arial" panose="020B0604020202020204" pitchFamily="34" charset="0"/>
                <a:hlinkClick r:id="rId6"/>
              </a:rPr>
              <a:t>Simple Talk</a:t>
            </a:r>
            <a:r>
              <a:rPr lang="en-US" sz="1827" dirty="0"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27" dirty="0">
                <a:latin typeface="Arial" panose="020B0604020202020204" pitchFamily="34" charset="0"/>
              </a:rPr>
              <a:t>Organizes:</a:t>
            </a:r>
          </a:p>
          <a:p>
            <a:pPr marL="503965" lvl="1" indent="-215975"/>
            <a:r>
              <a:rPr lang="en-US" sz="1827" dirty="0">
                <a:latin typeface="Arial" panose="020B0604020202020204" pitchFamily="34" charset="0"/>
                <a:hlinkClick r:id="rId7"/>
              </a:rPr>
              <a:t>Day of Data Albany</a:t>
            </a:r>
            <a:endParaRPr lang="en-US" sz="1827" dirty="0">
              <a:latin typeface="Arial" panose="020B0604020202020204" pitchFamily="34" charset="0"/>
            </a:endParaRPr>
          </a:p>
          <a:p>
            <a:pPr marL="503942" lvl="1" indent="-215975"/>
            <a:r>
              <a:rPr lang="en-US" sz="1827" dirty="0">
                <a:latin typeface="Arial" panose="020B0604020202020204" pitchFamily="34" charset="0"/>
                <a:hlinkClick r:id="rId8"/>
              </a:rPr>
              <a:t>SQL Saturday New York City </a:t>
            </a:r>
            <a:endParaRPr lang="en-US" sz="1827" dirty="0">
              <a:latin typeface="Arial" panose="020B0604020202020204" pitchFamily="34" charset="0"/>
            </a:endParaRPr>
          </a:p>
          <a:p>
            <a:pPr marL="503942" lvl="1" indent="-215975"/>
            <a:r>
              <a:rPr lang="en-US" sz="1827" dirty="0">
                <a:latin typeface="Arial" panose="020B0604020202020204" pitchFamily="34" charset="0"/>
                <a:hlinkClick r:id="rId9"/>
              </a:rPr>
              <a:t>Capital Area SQL Server User Group</a:t>
            </a:r>
            <a:endParaRPr lang="en-US" sz="1827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27" i="1" dirty="0">
                <a:latin typeface="Arial" panose="020B0604020202020204" pitchFamily="34" charset="0"/>
              </a:rPr>
              <a:t>Speaker at many data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D243E5-C641-D14A-6BA7-7F9F720B6F1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631" y="3725998"/>
            <a:ext cx="1968769" cy="2625025"/>
          </a:xfrm>
          <a:prstGeom prst="rect">
            <a:avLst/>
          </a:prstGeom>
        </p:spPr>
      </p:pic>
      <p:pic>
        <p:nvPicPr>
          <p:cNvPr id="5" name="Picture 4" descr="A picture containing graphical user interface&#10;&#10;Description automatically generated">
            <a:hlinkClick r:id="rId11"/>
            <a:extLst>
              <a:ext uri="{FF2B5EF4-FFF2-40B4-BE49-F238E27FC236}">
                <a16:creationId xmlns:a16="http://schemas.microsoft.com/office/drawing/2014/main" id="{3029A4B8-F17B-4CB4-D8DF-41DFA00D6D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59703" y="4984826"/>
            <a:ext cx="1363976" cy="1363976"/>
          </a:xfrm>
          <a:prstGeom prst="rect">
            <a:avLst/>
          </a:prstGeom>
        </p:spPr>
      </p:pic>
      <p:pic>
        <p:nvPicPr>
          <p:cNvPr id="6" name="Picture 5">
            <a:hlinkClick r:id="rId6"/>
            <a:extLst>
              <a:ext uri="{FF2B5EF4-FFF2-40B4-BE49-F238E27FC236}">
                <a16:creationId xmlns:a16="http://schemas.microsoft.com/office/drawing/2014/main" id="{1DB5C822-1786-BE00-3DDF-980E42BEC3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6909" y="5305644"/>
            <a:ext cx="2003347" cy="1051756"/>
          </a:xfrm>
          <a:prstGeom prst="rect">
            <a:avLst/>
          </a:prstGeom>
        </p:spPr>
      </p:pic>
      <p:pic>
        <p:nvPicPr>
          <p:cNvPr id="7" name="Picture 6" descr="A blue and white sign&#10;&#10;Description automatically generated with low confidence">
            <a:hlinkClick r:id="rId14"/>
            <a:extLst>
              <a:ext uri="{FF2B5EF4-FFF2-40B4-BE49-F238E27FC236}">
                <a16:creationId xmlns:a16="http://schemas.microsoft.com/office/drawing/2014/main" id="{C8522438-D23D-4EF2-207C-747EB163663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655" y="4208407"/>
            <a:ext cx="1363976" cy="2140395"/>
          </a:xfrm>
          <a:prstGeom prst="rect">
            <a:avLst/>
          </a:prstGeom>
        </p:spPr>
      </p:pic>
      <p:pic>
        <p:nvPicPr>
          <p:cNvPr id="8" name="Picture 7" descr="A grey and orange logo&#10;&#10;Description automatically generated with low confidence">
            <a:hlinkClick r:id="rId16"/>
            <a:extLst>
              <a:ext uri="{FF2B5EF4-FFF2-40B4-BE49-F238E27FC236}">
                <a16:creationId xmlns:a16="http://schemas.microsoft.com/office/drawing/2014/main" id="{A5559073-721E-BF07-7B9C-05371A26FE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" y="5552243"/>
            <a:ext cx="1910394" cy="796559"/>
          </a:xfrm>
          <a:prstGeom prst="rect">
            <a:avLst/>
          </a:prstGeom>
        </p:spPr>
      </p:pic>
      <p:pic>
        <p:nvPicPr>
          <p:cNvPr id="10" name="Picture 9" descr="A red sign with white text&#10;&#10;Description automatically generated">
            <a:extLst>
              <a:ext uri="{FF2B5EF4-FFF2-40B4-BE49-F238E27FC236}">
                <a16:creationId xmlns:a16="http://schemas.microsoft.com/office/drawing/2014/main" id="{A1248AB3-BFE9-F30E-047E-1589960E8C8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732" y="4540368"/>
            <a:ext cx="1363976" cy="1817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FD2B2B-4F0D-CBC6-B50B-3245DD18F37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647" y="5305644"/>
            <a:ext cx="1455718" cy="105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4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b="1" dirty="0"/>
              <a:t>Brisk</a:t>
            </a:r>
            <a:r>
              <a:rPr lang="en-CA" sz="2650" dirty="0"/>
              <a:t> review of columnstore indexes and storage.</a:t>
            </a:r>
          </a:p>
          <a:p>
            <a:pPr marL="571500" indent="-571500"/>
            <a:r>
              <a:rPr lang="en-CA" sz="2650" dirty="0"/>
              <a:t>Columnstore </a:t>
            </a:r>
            <a:r>
              <a:rPr lang="en-CA" sz="2650" b="1" dirty="0"/>
              <a:t>compression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b="1" dirty="0"/>
              <a:t>Writing</a:t>
            </a:r>
            <a:r>
              <a:rPr lang="en-CA" sz="2650" dirty="0"/>
              <a:t> to columnstore indexes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b="1" dirty="0"/>
              <a:t>Reading</a:t>
            </a:r>
            <a:r>
              <a:rPr lang="en-CA" sz="2650" dirty="0"/>
              <a:t> from columnstore indexes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How to make your OLAP workloads </a:t>
            </a:r>
            <a:r>
              <a:rPr lang="en-CA" sz="2650" b="1" dirty="0"/>
              <a:t>FAST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Take a </a:t>
            </a:r>
            <a:r>
              <a:rPr lang="en-CA" sz="2650" i="1" dirty="0"/>
              <a:t>deep breath</a:t>
            </a:r>
            <a:r>
              <a:rPr lang="en-CA" sz="2650" dirty="0"/>
              <a:t>!</a:t>
            </a:r>
          </a:p>
          <a:p>
            <a:pPr marL="0" indent="0" algn="ctr">
              <a:buNone/>
            </a:pPr>
            <a:br>
              <a:rPr lang="en-CA" sz="2200" dirty="0"/>
            </a:br>
            <a:r>
              <a:rPr lang="en-CA" sz="2200" i="1" dirty="0">
                <a:solidFill>
                  <a:schemeClr val="accent1">
                    <a:lumMod val="50000"/>
                  </a:schemeClr>
                </a:solidFill>
              </a:rPr>
              <a:t>Note: This presentation uses SQL Server 2025!</a:t>
            </a:r>
          </a:p>
        </p:txBody>
      </p:sp>
    </p:spTree>
    <p:extLst>
      <p:ext uri="{BB962C8B-B14F-4D97-AF65-F5344CB8AC3E}">
        <p14:creationId xmlns:p14="http://schemas.microsoft.com/office/powerpoint/2010/main" val="1921251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(Review)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Rowstore is built for transactional workloads.  Rows are stored sequentially on pages to minimize reads.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CA" sz="265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CA" sz="265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CA" sz="2650" dirty="0"/>
          </a:p>
        </p:txBody>
      </p:sp>
      <p:pic>
        <p:nvPicPr>
          <p:cNvPr id="4" name="image3.jpg">
            <a:extLst>
              <a:ext uri="{FF2B5EF4-FFF2-40B4-BE49-F238E27FC236}">
                <a16:creationId xmlns:a16="http://schemas.microsoft.com/office/drawing/2014/main" id="{CD63E4D8-1D8A-6F58-7412-896FBCC8DB7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2981" y="2757571"/>
            <a:ext cx="10197539" cy="185637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1055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(Review)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/>
            <a:r>
              <a:rPr lang="en-CA" sz="2650" dirty="0"/>
              <a:t>Reading a single sales order (row 3) is straightforward: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CA" sz="265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CA" sz="26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F72B2-1017-52A1-2550-598B903BA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91" y="2758857"/>
            <a:ext cx="10240163" cy="18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10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(Review)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Summing a single column (col 2) over many rows is </a:t>
            </a:r>
            <a:r>
              <a:rPr lang="en-CA" sz="2650" b="1" dirty="0"/>
              <a:t>painful</a:t>
            </a:r>
            <a:r>
              <a:rPr lang="en-CA" sz="2650" dirty="0"/>
              <a:t>.</a:t>
            </a:r>
          </a:p>
          <a:p>
            <a:pPr marL="1003508" lvl="1" indent="-571500"/>
            <a:r>
              <a:rPr lang="en-CA" sz="2272" dirty="0"/>
              <a:t>More </a:t>
            </a:r>
            <a:r>
              <a:rPr lang="en-CA" sz="2272" b="1" dirty="0"/>
              <a:t>rows</a:t>
            </a:r>
            <a:r>
              <a:rPr lang="en-CA" sz="2272" dirty="0"/>
              <a:t>, more </a:t>
            </a:r>
            <a:r>
              <a:rPr lang="en-CA" sz="2272" b="1" dirty="0"/>
              <a:t>pain</a:t>
            </a:r>
            <a:r>
              <a:rPr lang="en-CA" sz="2272" dirty="0"/>
              <a:t>.</a:t>
            </a:r>
          </a:p>
        </p:txBody>
      </p:sp>
      <p:pic>
        <p:nvPicPr>
          <p:cNvPr id="7" name="image5.jpg">
            <a:extLst>
              <a:ext uri="{FF2B5EF4-FFF2-40B4-BE49-F238E27FC236}">
                <a16:creationId xmlns:a16="http://schemas.microsoft.com/office/drawing/2014/main" id="{1CE73451-56DE-C8E0-C284-57D38503FCA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3374" y="2751472"/>
            <a:ext cx="10222313" cy="186247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1507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(Review)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Columnstore organizes data by columns into </a:t>
            </a:r>
            <a:r>
              <a:rPr lang="en-CA" sz="2650" b="1" dirty="0"/>
              <a:t>segments</a:t>
            </a:r>
            <a:r>
              <a:rPr lang="en-CA" sz="2650" dirty="0"/>
              <a:t>.  Each segment is a separate structure.</a:t>
            </a:r>
          </a:p>
        </p:txBody>
      </p:sp>
      <p:pic>
        <p:nvPicPr>
          <p:cNvPr id="5" name="image2.jpg">
            <a:extLst>
              <a:ext uri="{FF2B5EF4-FFF2-40B4-BE49-F238E27FC236}">
                <a16:creationId xmlns:a16="http://schemas.microsoft.com/office/drawing/2014/main" id="{453F74D4-220B-9F02-4977-CC528E34F72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3374" y="2751471"/>
            <a:ext cx="9039466" cy="230708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1854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(Review)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Getting a sum for a single column requires reading only the data for that one column (segment).  </a:t>
            </a:r>
            <a:r>
              <a:rPr lang="en-CA" sz="2650" i="1" dirty="0"/>
              <a:t>This is intended for </a:t>
            </a:r>
            <a:r>
              <a:rPr lang="en-CA" sz="2650" b="1" i="1" dirty="0"/>
              <a:t>OLAP</a:t>
            </a:r>
            <a:r>
              <a:rPr lang="en-CA" sz="2650" i="1" dirty="0"/>
              <a:t> data!</a:t>
            </a:r>
          </a:p>
        </p:txBody>
      </p:sp>
      <p:pic>
        <p:nvPicPr>
          <p:cNvPr id="6" name="image4.jpg">
            <a:extLst>
              <a:ext uri="{FF2B5EF4-FFF2-40B4-BE49-F238E27FC236}">
                <a16:creationId xmlns:a16="http://schemas.microsoft.com/office/drawing/2014/main" id="{126BA626-144C-92B8-5F7E-3C7D2D6373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3374" y="2751470"/>
            <a:ext cx="9039466" cy="228652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3620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Columnstore Index Architecture (Review)</a:t>
            </a:r>
            <a:endParaRPr lang="en-US" dirty="0"/>
          </a:p>
        </p:txBody>
      </p:sp>
      <p:sp>
        <p:nvSpPr>
          <p:cNvPr id="6" name="Text Placeholder 3" descr="Subtitle">
            <a:extLst>
              <a:ext uri="{FF2B5EF4-FFF2-40B4-BE49-F238E27FC236}">
                <a16:creationId xmlns:a16="http://schemas.microsoft.com/office/drawing/2014/main" id="{6918ED0B-800A-43A8-8278-179DFCC992D3}"/>
              </a:ext>
            </a:extLst>
          </p:cNvPr>
          <p:cNvSpPr txBox="1">
            <a:spLocks/>
          </p:cNvSpPr>
          <p:nvPr/>
        </p:nvSpPr>
        <p:spPr>
          <a:xfrm>
            <a:off x="312744" y="1215341"/>
            <a:ext cx="10400856" cy="4564569"/>
          </a:xfrm>
          <a:prstGeom prst="rect">
            <a:avLst/>
          </a:prstGeom>
        </p:spPr>
        <p:txBody>
          <a:bodyPr/>
          <a:lstStyle>
            <a:lvl1pPr marL="0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3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027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2053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28079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304105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168145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4171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197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96223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pic>
        <p:nvPicPr>
          <p:cNvPr id="7" name="Content Placeholder 2">
            <a:extLst>
              <a:ext uri="{FF2B5EF4-FFF2-40B4-BE49-F238E27FC236}">
                <a16:creationId xmlns:a16="http://schemas.microsoft.com/office/drawing/2014/main" id="{1213C8AA-DD22-46EC-BE29-0A3EA259A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5" y="2003566"/>
            <a:ext cx="7838547" cy="3776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074F21-CC97-4F47-9BD1-17614DD99494}"/>
              </a:ext>
            </a:extLst>
          </p:cNvPr>
          <p:cNvSpPr txBox="1"/>
          <p:nvPr/>
        </p:nvSpPr>
        <p:spPr>
          <a:xfrm>
            <a:off x="8225893" y="2060467"/>
            <a:ext cx="30302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is organized into rowgroups, up to 2</a:t>
            </a:r>
            <a:r>
              <a:rPr lang="en-US" baseline="30000" dirty="0"/>
              <a:t>20</a:t>
            </a:r>
            <a:r>
              <a:rPr lang="en-US" dirty="0"/>
              <a:t> rows per rowgroup</a:t>
            </a:r>
          </a:p>
          <a:p>
            <a:r>
              <a:rPr lang="en-US" sz="1400" i="1" dirty="0"/>
              <a:t>(that’s 1,048,576 for those keeping count at home)</a:t>
            </a:r>
          </a:p>
          <a:p>
            <a:endParaRPr lang="en-US" sz="1400" i="1" dirty="0"/>
          </a:p>
          <a:p>
            <a:r>
              <a:rPr lang="en-US" dirty="0"/>
              <a:t>Data for each column in each rowgroup is stored in segments.</a:t>
            </a:r>
          </a:p>
          <a:p>
            <a:r>
              <a:rPr lang="en-US" sz="1400" i="1" dirty="0"/>
              <a:t>Total segments = rowgroups * columns</a:t>
            </a:r>
          </a:p>
          <a:p>
            <a:endParaRPr lang="en-US" sz="1400" i="1" dirty="0"/>
          </a:p>
          <a:p>
            <a:r>
              <a:rPr lang="en-US" dirty="0"/>
              <a:t>Columnstore metadata is stored centrally for all rowgroups/segments.</a:t>
            </a:r>
          </a:p>
        </p:txBody>
      </p:sp>
    </p:spTree>
    <p:extLst>
      <p:ext uri="{BB962C8B-B14F-4D97-AF65-F5344CB8AC3E}">
        <p14:creationId xmlns:p14="http://schemas.microsoft.com/office/powerpoint/2010/main" val="912442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Columnstore Index Architecture (Review)</a:t>
            </a:r>
            <a:endParaRPr lang="en-US" dirty="0"/>
          </a:p>
        </p:txBody>
      </p:sp>
      <p:sp>
        <p:nvSpPr>
          <p:cNvPr id="6" name="Text Placeholder 3" descr="Subtitle">
            <a:extLst>
              <a:ext uri="{FF2B5EF4-FFF2-40B4-BE49-F238E27FC236}">
                <a16:creationId xmlns:a16="http://schemas.microsoft.com/office/drawing/2014/main" id="{6918ED0B-800A-43A8-8278-179DFCC992D3}"/>
              </a:ext>
            </a:extLst>
          </p:cNvPr>
          <p:cNvSpPr txBox="1">
            <a:spLocks/>
          </p:cNvSpPr>
          <p:nvPr/>
        </p:nvSpPr>
        <p:spPr>
          <a:xfrm>
            <a:off x="312744" y="1215341"/>
            <a:ext cx="10400856" cy="4564569"/>
          </a:xfrm>
          <a:prstGeom prst="rect">
            <a:avLst/>
          </a:prstGeom>
        </p:spPr>
        <p:txBody>
          <a:bodyPr/>
          <a:lstStyle>
            <a:lvl1pPr marL="0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3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027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2053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28079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304105" indent="0" algn="l" defTabSz="576026" rtl="0" eaLnBrk="1" latinLnBrk="0" hangingPunct="1">
              <a:spcBef>
                <a:spcPct val="20000"/>
              </a:spcBef>
              <a:buFont typeface="Wingdings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168145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4171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197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96223" indent="-288013" algn="l" defTabSz="576026" rtl="0" eaLnBrk="1" latinLnBrk="0" hangingPunct="1">
              <a:spcBef>
                <a:spcPct val="20000"/>
              </a:spcBef>
              <a:buFont typeface="Arial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pic>
        <p:nvPicPr>
          <p:cNvPr id="9" name="Content Placeholder 2">
            <a:extLst>
              <a:ext uri="{FF2B5EF4-FFF2-40B4-BE49-F238E27FC236}">
                <a16:creationId xmlns:a16="http://schemas.microsoft.com/office/drawing/2014/main" id="{48AEF398-2C32-2C66-C3EF-A023925EC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5" y="2541658"/>
            <a:ext cx="6518102" cy="3140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857A3C-A6D5-8141-75F1-0F6AAA257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852" y="3713495"/>
            <a:ext cx="2766039" cy="929961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40A3B07-B91A-14A4-4A36-D0CDEA5F009B}"/>
              </a:ext>
            </a:extLst>
          </p:cNvPr>
          <p:cNvSpPr/>
          <p:nvPr/>
        </p:nvSpPr>
        <p:spPr>
          <a:xfrm>
            <a:off x="6872156" y="398918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9CCE2-B75E-C194-154E-19801745D706}"/>
              </a:ext>
            </a:extLst>
          </p:cNvPr>
          <p:cNvSpPr txBox="1"/>
          <p:nvPr/>
        </p:nvSpPr>
        <p:spPr>
          <a:xfrm>
            <a:off x="945325" y="1597544"/>
            <a:ext cx="850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Rowgroup &amp; segment elimination control volume of data read from storage into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B33F0-6DA0-0BF8-3DA8-66EF673B2CBC}"/>
              </a:ext>
            </a:extLst>
          </p:cNvPr>
          <p:cNvSpPr txBox="1"/>
          <p:nvPr/>
        </p:nvSpPr>
        <p:spPr>
          <a:xfrm>
            <a:off x="7929852" y="3240087"/>
            <a:ext cx="2004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Query less columns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78299-AE22-D198-B188-0106A2D65D48}"/>
              </a:ext>
            </a:extLst>
          </p:cNvPr>
          <p:cNvSpPr txBox="1"/>
          <p:nvPr/>
        </p:nvSpPr>
        <p:spPr>
          <a:xfrm>
            <a:off x="7929852" y="4747532"/>
            <a:ext cx="223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Filter on ordered data</a:t>
            </a:r>
          </a:p>
        </p:txBody>
      </p:sp>
    </p:spTree>
    <p:extLst>
      <p:ext uri="{BB962C8B-B14F-4D97-AF65-F5344CB8AC3E}">
        <p14:creationId xmlns:p14="http://schemas.microsoft.com/office/powerpoint/2010/main" val="5896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Columnstore Index Architecture (Review)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1E668-D3F7-1FA1-1518-1BFBA4C53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5" y="1456131"/>
            <a:ext cx="11015345" cy="3567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B9F445-97D3-1D7F-CD73-48C08EF52F69}"/>
              </a:ext>
            </a:extLst>
          </p:cNvPr>
          <p:cNvSpPr txBox="1"/>
          <p:nvPr/>
        </p:nvSpPr>
        <p:spPr>
          <a:xfrm>
            <a:off x="199856" y="5211834"/>
            <a:ext cx="8585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Compressing columnstore data is </a:t>
            </a:r>
            <a:r>
              <a:rPr lang="en-US" b="1" dirty="0"/>
              <a:t>expensive</a:t>
            </a:r>
            <a:r>
              <a:rPr lang="en-US" dirty="0"/>
              <a:t>.  The delta store accumulates smaller batches</a:t>
            </a:r>
          </a:p>
          <a:p>
            <a:r>
              <a:rPr lang="en-US" dirty="0"/>
              <a:t>of insert operations and processes them in bulk asynchronously. Queries</a:t>
            </a:r>
          </a:p>
          <a:p>
            <a:r>
              <a:rPr lang="en-US" dirty="0"/>
              <a:t>read both compressed segments and the delta store to retrieve result sets.</a:t>
            </a:r>
          </a:p>
        </p:txBody>
      </p:sp>
    </p:spTree>
    <p:extLst>
      <p:ext uri="{BB962C8B-B14F-4D97-AF65-F5344CB8AC3E}">
        <p14:creationId xmlns:p14="http://schemas.microsoft.com/office/powerpoint/2010/main" val="331830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Columnstore Index Architecture (Review)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0796F5E-4DCD-1725-C3BC-6BD94895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98" y="1491236"/>
            <a:ext cx="10702097" cy="27551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E72469-9421-219F-791D-9270DAAFCDD7}"/>
              </a:ext>
            </a:extLst>
          </p:cNvPr>
          <p:cNvSpPr txBox="1"/>
          <p:nvPr/>
        </p:nvSpPr>
        <p:spPr>
          <a:xfrm>
            <a:off x="437298" y="4510310"/>
            <a:ext cx="10795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is a delete not a delete?  Columnstore indexes </a:t>
            </a:r>
            <a:r>
              <a:rPr lang="en-US" b="1" dirty="0"/>
              <a:t>soft-delete</a:t>
            </a:r>
            <a:r>
              <a:rPr lang="en-US" dirty="0"/>
              <a:t> using the Delete Bitmap.</a:t>
            </a:r>
          </a:p>
          <a:p>
            <a:endParaRPr lang="en-US" dirty="0"/>
          </a:p>
          <a:p>
            <a:r>
              <a:rPr lang="en-US" dirty="0"/>
              <a:t>Delete bitmaps are only created when deleted rows exist and indicates which rows in each rowgroup are deleted.</a:t>
            </a:r>
          </a:p>
          <a:p>
            <a:endParaRPr lang="en-US" dirty="0"/>
          </a:p>
          <a:p>
            <a:r>
              <a:rPr lang="en-US" dirty="0"/>
              <a:t>Rows flagged as deleted are ignored when processes read them.</a:t>
            </a:r>
          </a:p>
        </p:txBody>
      </p:sp>
    </p:spTree>
    <p:extLst>
      <p:ext uri="{BB962C8B-B14F-4D97-AF65-F5344CB8AC3E}">
        <p14:creationId xmlns:p14="http://schemas.microsoft.com/office/powerpoint/2010/main" val="79536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CA" sz="2650" b="1" i="1" dirty="0"/>
          </a:p>
          <a:p>
            <a:pPr marL="0" indent="0" algn="ctr">
              <a:buNone/>
            </a:pPr>
            <a:endParaRPr lang="en-CA" sz="2650" b="1" i="1" dirty="0"/>
          </a:p>
          <a:p>
            <a:pPr marL="0" indent="0" algn="ctr">
              <a:buNone/>
            </a:pPr>
            <a:r>
              <a:rPr lang="en-CA" sz="5000" b="1" i="1" dirty="0"/>
              <a:t>(Deep breath!)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658898-3753-4774-C022-CE7BD767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Complete!</a:t>
            </a:r>
          </a:p>
        </p:txBody>
      </p:sp>
    </p:spTree>
    <p:extLst>
      <p:ext uri="{BB962C8B-B14F-4D97-AF65-F5344CB8AC3E}">
        <p14:creationId xmlns:p14="http://schemas.microsoft.com/office/powerpoint/2010/main" val="377691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Columnstore Compression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Segments are each compressed </a:t>
            </a:r>
            <a:r>
              <a:rPr lang="en-CA" sz="2650" b="1" dirty="0"/>
              <a:t>separately</a:t>
            </a:r>
            <a:r>
              <a:rPr lang="en-CA" sz="2650" dirty="0"/>
              <a:t>(!!!)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1 segment = 1 column = </a:t>
            </a:r>
            <a:r>
              <a:rPr lang="en-CA" sz="2650" b="1" dirty="0"/>
              <a:t>1 data type</a:t>
            </a:r>
            <a:r>
              <a:rPr lang="en-CA" sz="265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Data of one data type compresses effectively.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650" dirty="0"/>
              <a:t>Data in close proximity to other data (by a date/time dimension) compresses even more effectively.</a:t>
            </a:r>
          </a:p>
          <a:p>
            <a:pPr marL="0" indent="0">
              <a:buNone/>
            </a:pPr>
            <a:endParaRPr lang="en-CA" sz="2650" dirty="0"/>
          </a:p>
        </p:txBody>
      </p:sp>
    </p:spTree>
    <p:extLst>
      <p:ext uri="{BB962C8B-B14F-4D97-AF65-F5344CB8AC3E}">
        <p14:creationId xmlns:p14="http://schemas.microsoft.com/office/powerpoint/2010/main" val="3756396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#1: Encoding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dirty="0"/>
              <a:t>Transform how data is stored to use </a:t>
            </a:r>
            <a:r>
              <a:rPr lang="en-CA" b="1" dirty="0"/>
              <a:t>less storage per value</a:t>
            </a:r>
            <a:r>
              <a:rPr lang="en-CA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dirty="0"/>
              <a:t>Most common encoding methods:</a:t>
            </a:r>
          </a:p>
          <a:p>
            <a:pPr marL="1003508" lvl="1" indent="-571500"/>
            <a:r>
              <a:rPr lang="en-CA" dirty="0"/>
              <a:t>Dictionary encoding</a:t>
            </a:r>
          </a:p>
          <a:p>
            <a:pPr marL="1003508" lvl="1" indent="-571500"/>
            <a:r>
              <a:rPr lang="en-CA" dirty="0"/>
              <a:t>Value encoding</a:t>
            </a:r>
          </a:p>
          <a:p>
            <a:pPr marL="571500" indent="-571500"/>
            <a:r>
              <a:rPr lang="en-CA" dirty="0"/>
              <a:t>These are </a:t>
            </a:r>
            <a:r>
              <a:rPr lang="en-CA" b="1" dirty="0"/>
              <a:t>lossless algorithms </a:t>
            </a:r>
            <a:r>
              <a:rPr lang="en-CA" dirty="0"/>
              <a:t>that require minimal computing resources to reduce data footprint.</a:t>
            </a:r>
          </a:p>
          <a:p>
            <a:pPr marL="571500" indent="-571500"/>
            <a:r>
              <a:rPr lang="en-CA" dirty="0"/>
              <a:t>DMVs tell us how encoding algorithms are applied:</a:t>
            </a:r>
          </a:p>
          <a:p>
            <a:pPr marL="1003508" lvl="1" indent="-571500"/>
            <a:r>
              <a:rPr lang="en-CA" i="1" dirty="0" err="1"/>
              <a:t>sys.column_store_segments</a:t>
            </a:r>
            <a:r>
              <a:rPr lang="en-CA" i="1" dirty="0"/>
              <a:t> </a:t>
            </a:r>
            <a:r>
              <a:rPr lang="en-CA" dirty="0"/>
              <a:t>(links to dictionaries, value parameters)</a:t>
            </a:r>
          </a:p>
          <a:p>
            <a:pPr marL="1003508" lvl="1" indent="-571500"/>
            <a:r>
              <a:rPr lang="en-CA" i="1" dirty="0" err="1"/>
              <a:t>sys.column_store_dictionaries</a:t>
            </a:r>
            <a:r>
              <a:rPr lang="en-CA" i="1" dirty="0"/>
              <a:t> </a:t>
            </a:r>
            <a:r>
              <a:rPr lang="en-CA" dirty="0"/>
              <a:t>(dictionary detail)</a:t>
            </a:r>
          </a:p>
          <a:p>
            <a:pPr marL="1003508" lvl="1" indent="-571500"/>
            <a:endParaRPr lang="en-CA" dirty="0"/>
          </a:p>
          <a:p>
            <a:pPr marL="432008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764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Encoding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dirty="0"/>
              <a:t>A dictionary is a compressed </a:t>
            </a:r>
            <a:r>
              <a:rPr lang="en-CA" b="1" dirty="0"/>
              <a:t>hash table </a:t>
            </a:r>
            <a:r>
              <a:rPr lang="en-CA" dirty="0"/>
              <a:t>of reusable values.</a:t>
            </a:r>
          </a:p>
          <a:p>
            <a:pPr marL="1003508" lvl="1" indent="-571500"/>
            <a:r>
              <a:rPr lang="en-CA" dirty="0"/>
              <a:t>Limited to 16MB in size!  When 16MB is neared, a rowgroup will be split alongside its dictionary.  </a:t>
            </a:r>
            <a:r>
              <a:rPr lang="en-CA" b="1" dirty="0"/>
              <a:t>High cardinality </a:t>
            </a:r>
            <a:r>
              <a:rPr lang="en-CA" dirty="0"/>
              <a:t>and </a:t>
            </a:r>
            <a:r>
              <a:rPr lang="en-CA" b="1" dirty="0"/>
              <a:t>wide columns </a:t>
            </a:r>
            <a:r>
              <a:rPr lang="en-CA" dirty="0"/>
              <a:t>can lead to </a:t>
            </a:r>
            <a:r>
              <a:rPr lang="en-CA" b="1" dirty="0"/>
              <a:t>undersized rowgroups</a:t>
            </a:r>
            <a:r>
              <a:rPr lang="en-CA" dirty="0"/>
              <a:t>.  Normalizing can help!</a:t>
            </a:r>
          </a:p>
          <a:p>
            <a:pPr marL="1003508" lvl="1" indent="-571500"/>
            <a:r>
              <a:rPr lang="en-CA" dirty="0"/>
              <a:t>Numeric columns can use dictionary encoding, but prefer to be value encoded when they have high cardinality.</a:t>
            </a:r>
          </a:p>
          <a:p>
            <a:pPr marL="1003508" lvl="1" indent="-571500"/>
            <a:r>
              <a:rPr lang="en-CA" dirty="0"/>
              <a:t>Only used by compressed rowgroups, not delta rowgroups.</a:t>
            </a:r>
          </a:p>
          <a:p>
            <a:pPr marL="1003508" lvl="1" indent="-571500"/>
            <a:r>
              <a:rPr lang="en-CA" dirty="0"/>
              <a:t>Global dictionaries can be used across multiple rowgroups.  Local dictionaries are used for a single rowgroup*</a:t>
            </a:r>
          </a:p>
          <a:p>
            <a:pPr marL="432008" lvl="1" indent="0">
              <a:buNone/>
            </a:pPr>
            <a:endParaRPr lang="en-CA" dirty="0"/>
          </a:p>
          <a:p>
            <a:pPr marL="432008" lvl="1" indent="0">
              <a:buNone/>
            </a:pPr>
            <a:r>
              <a:rPr lang="en-CA" sz="1300" i="1" dirty="0"/>
              <a:t>* Occasionally, a local dictionary may be used for an additional rowgroup that is compressed via the same process as the first rowgroup.</a:t>
            </a:r>
          </a:p>
        </p:txBody>
      </p:sp>
    </p:spTree>
    <p:extLst>
      <p:ext uri="{BB962C8B-B14F-4D97-AF65-F5344CB8AC3E}">
        <p14:creationId xmlns:p14="http://schemas.microsoft.com/office/powerpoint/2010/main" val="130696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Dictionary Encoding Example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065CCB-9378-41D7-B494-CC077EC36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56169"/>
              </p:ext>
            </p:extLst>
          </p:nvPr>
        </p:nvGraphicFramePr>
        <p:xfrm>
          <a:off x="2549281" y="1551764"/>
          <a:ext cx="4704373" cy="440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8631">
                  <a:extLst>
                    <a:ext uri="{9D8B030D-6E8A-4147-A177-3AD203B41FA5}">
                      <a16:colId xmlns:a16="http://schemas.microsoft.com/office/drawing/2014/main" val="2789001609"/>
                    </a:ext>
                  </a:extLst>
                </a:gridCol>
                <a:gridCol w="1525742">
                  <a:extLst>
                    <a:ext uri="{9D8B030D-6E8A-4147-A177-3AD203B41FA5}">
                      <a16:colId xmlns:a16="http://schemas.microsoft.com/office/drawing/2014/main" val="2625299168"/>
                    </a:ext>
                  </a:extLst>
                </a:gridCol>
              </a:tblGrid>
              <a:tr h="28333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1" u="none" strike="noStrike" dirty="0">
                          <a:effectLst/>
                        </a:rPr>
                        <a:t>Original Data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473641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i="1" u="none" strike="noStrike" dirty="0">
                          <a:effectLst/>
                        </a:rPr>
                        <a:t>Values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i="1" u="none" strike="noStrike" dirty="0">
                          <a:effectLst/>
                        </a:rPr>
                        <a:t>Size (bytes)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479226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Chocolate Chip Cookie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2260625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Blueberry Scone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3042665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Double-Chocolate Brownie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6257778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Strawberry Cake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58332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Baklava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119343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Double-Chocolate Brownie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7642502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Double-Chocolate Brownie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784265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Baklava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4848986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Double-Chocolate Brownie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6453246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Chocolate Chip Cookie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7788404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Chocolate Chip Cookie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5958649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1" u="none" strike="noStrike" dirty="0">
                          <a:effectLst/>
                        </a:rPr>
                        <a:t>TOTAL DATA SIZE (bytes):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1" u="none" strike="noStrike" dirty="0">
                          <a:effectLst/>
                        </a:rPr>
                        <a:t>203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097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852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Dictionary Encoding Example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77755F-E559-4042-9B69-7DECE3274BA5}"/>
              </a:ext>
            </a:extLst>
          </p:cNvPr>
          <p:cNvGraphicFramePr>
            <a:graphicFrameLocks noGrp="1"/>
          </p:cNvGraphicFramePr>
          <p:nvPr/>
        </p:nvGraphicFramePr>
        <p:xfrm>
          <a:off x="511476" y="1558680"/>
          <a:ext cx="4165027" cy="3973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1910">
                  <a:extLst>
                    <a:ext uri="{9D8B030D-6E8A-4147-A177-3AD203B41FA5}">
                      <a16:colId xmlns:a16="http://schemas.microsoft.com/office/drawing/2014/main" val="2789001609"/>
                    </a:ext>
                  </a:extLst>
                </a:gridCol>
                <a:gridCol w="1563117">
                  <a:extLst>
                    <a:ext uri="{9D8B030D-6E8A-4147-A177-3AD203B41FA5}">
                      <a16:colId xmlns:a16="http://schemas.microsoft.com/office/drawing/2014/main" val="2625299168"/>
                    </a:ext>
                  </a:extLst>
                </a:gridCol>
              </a:tblGrid>
              <a:tr h="28333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i="1" u="none" strike="noStrike" dirty="0">
                          <a:effectLst/>
                        </a:rPr>
                        <a:t>Original Data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473641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i="1" u="none" strike="noStrike" dirty="0">
                          <a:effectLst/>
                        </a:rPr>
                        <a:t>Values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i="1" u="none" strike="noStrike" dirty="0">
                          <a:effectLst/>
                        </a:rPr>
                        <a:t>Size (bytes)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479226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Chocolate Chip Cookie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2260625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Blueberry Scone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3042665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Double-Chocolate Brownie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6257778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Strawberry Cake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58332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Baklava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119343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Double-Chocolate Brownie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7642502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Double-Chocolate Brownie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784265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Baklava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4848986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Double-Chocolate Brownie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6453246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Chocolate Chip Cookie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7788404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Chocolate Chip Cookie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5958649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1" u="none" strike="noStrike" dirty="0">
                          <a:effectLst/>
                        </a:rPr>
                        <a:t>TOTAL DATA SIZE (bytes):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1" u="none" strike="noStrike" dirty="0">
                          <a:effectLst/>
                        </a:rPr>
                        <a:t>203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097996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B27BBB-A6D3-4361-BDEE-C85C51FFD474}"/>
              </a:ext>
            </a:extLst>
          </p:cNvPr>
          <p:cNvGraphicFramePr>
            <a:graphicFrameLocks noGrp="1"/>
          </p:cNvGraphicFramePr>
          <p:nvPr/>
        </p:nvGraphicFramePr>
        <p:xfrm>
          <a:off x="5827059" y="2429647"/>
          <a:ext cx="5280212" cy="2270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2773">
                  <a:extLst>
                    <a:ext uri="{9D8B030D-6E8A-4147-A177-3AD203B41FA5}">
                      <a16:colId xmlns:a16="http://schemas.microsoft.com/office/drawing/2014/main" val="4216421738"/>
                    </a:ext>
                  </a:extLst>
                </a:gridCol>
                <a:gridCol w="3129015">
                  <a:extLst>
                    <a:ext uri="{9D8B030D-6E8A-4147-A177-3AD203B41FA5}">
                      <a16:colId xmlns:a16="http://schemas.microsoft.com/office/drawing/2014/main" val="3305558814"/>
                    </a:ext>
                  </a:extLst>
                </a:gridCol>
                <a:gridCol w="1188424">
                  <a:extLst>
                    <a:ext uri="{9D8B030D-6E8A-4147-A177-3AD203B41FA5}">
                      <a16:colId xmlns:a16="http://schemas.microsoft.com/office/drawing/2014/main" val="969678189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i="1" u="none" strike="noStrike" dirty="0">
                          <a:effectLst/>
                          <a:latin typeface="+mn-lt"/>
                        </a:rPr>
                        <a:t>Dictionary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13570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i="1" u="none" strike="noStrike">
                          <a:effectLst/>
                          <a:latin typeface="+mn-lt"/>
                        </a:rPr>
                        <a:t>Index ID</a:t>
                      </a:r>
                      <a:endParaRPr lang="en-US" sz="18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i="1" u="none" strike="noStrike" dirty="0">
                          <a:effectLst/>
                          <a:latin typeface="+mn-lt"/>
                        </a:rPr>
                        <a:t>String Value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i="1" u="none" strike="noStrike" dirty="0">
                          <a:effectLst/>
                          <a:latin typeface="+mn-lt"/>
                        </a:rPr>
                        <a:t>Size (bytes)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51884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Chocolate Chip Cookie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02584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Blueberry Scone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8032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Double-Chocolate Brownie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24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78249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Strawberry Cake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18792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  <a:latin typeface="+mn-lt"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Baklava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1718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1" u="none" strike="noStrike" dirty="0">
                          <a:effectLst/>
                          <a:latin typeface="+mn-lt"/>
                        </a:rPr>
                        <a:t>TOTAL DICTIONARY SIZE (bytes):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82</a:t>
                      </a:r>
                      <a:endParaRPr lang="en-US" sz="18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36782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3696B8BD-25A2-4B24-BDB9-1F6D2E9B81A3}"/>
              </a:ext>
            </a:extLst>
          </p:cNvPr>
          <p:cNvSpPr/>
          <p:nvPr/>
        </p:nvSpPr>
        <p:spPr>
          <a:xfrm>
            <a:off x="4864249" y="3131938"/>
            <a:ext cx="775063" cy="827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81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Dictionary Encoding Example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78D534-455A-4DAD-BEDE-96E2DE50BC6E}"/>
              </a:ext>
            </a:extLst>
          </p:cNvPr>
          <p:cNvGraphicFramePr>
            <a:graphicFrameLocks noGrp="1"/>
          </p:cNvGraphicFramePr>
          <p:nvPr/>
        </p:nvGraphicFramePr>
        <p:xfrm>
          <a:off x="171843" y="1597544"/>
          <a:ext cx="2902284" cy="3966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2717">
                  <a:extLst>
                    <a:ext uri="{9D8B030D-6E8A-4147-A177-3AD203B41FA5}">
                      <a16:colId xmlns:a16="http://schemas.microsoft.com/office/drawing/2014/main" val="2789001609"/>
                    </a:ext>
                  </a:extLst>
                </a:gridCol>
                <a:gridCol w="879567">
                  <a:extLst>
                    <a:ext uri="{9D8B030D-6E8A-4147-A177-3AD203B41FA5}">
                      <a16:colId xmlns:a16="http://schemas.microsoft.com/office/drawing/2014/main" val="2625299168"/>
                    </a:ext>
                  </a:extLst>
                </a:gridCol>
              </a:tblGrid>
              <a:tr h="28333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1" u="none" strike="noStrike" dirty="0">
                          <a:effectLst/>
                        </a:rPr>
                        <a:t>Original Data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473641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 dirty="0">
                          <a:effectLst/>
                        </a:rPr>
                        <a:t>Values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 dirty="0">
                          <a:effectLst/>
                        </a:rPr>
                        <a:t>Size (bytes)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479226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Chocolate Chip Cookie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2260625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Blueberry Scone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3042665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Double-Chocolate Brownie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6257778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Strawberry Cake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58332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Baklava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119343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Double-Chocolate Brownie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7642502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Double-Chocolate Brownie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7842650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Baklava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4848986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Double-Chocolate Brownie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6453246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Chocolate Chip Cookie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7788404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Chocolate Chip Cookie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5958649"/>
                  </a:ext>
                </a:extLst>
              </a:tr>
              <a:tr h="28333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1" u="none" strike="noStrike" dirty="0">
                          <a:effectLst/>
                        </a:rPr>
                        <a:t>TOTAL DATA SIZE (bytes):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1" u="none" strike="noStrike" dirty="0">
                          <a:effectLst/>
                        </a:rPr>
                        <a:t>203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0979963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6B202DD3-D207-407F-BBAC-5A540E7B517D}"/>
              </a:ext>
            </a:extLst>
          </p:cNvPr>
          <p:cNvSpPr/>
          <p:nvPr/>
        </p:nvSpPr>
        <p:spPr>
          <a:xfrm>
            <a:off x="3200912" y="3167225"/>
            <a:ext cx="413145" cy="827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B52314-682E-4469-B4D0-683DCCA96B8A}"/>
              </a:ext>
            </a:extLst>
          </p:cNvPr>
          <p:cNvGraphicFramePr>
            <a:graphicFrameLocks noGrp="1"/>
          </p:cNvGraphicFramePr>
          <p:nvPr/>
        </p:nvGraphicFramePr>
        <p:xfrm>
          <a:off x="3722950" y="2586402"/>
          <a:ext cx="4074587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5661">
                  <a:extLst>
                    <a:ext uri="{9D8B030D-6E8A-4147-A177-3AD203B41FA5}">
                      <a16:colId xmlns:a16="http://schemas.microsoft.com/office/drawing/2014/main" val="4216421738"/>
                    </a:ext>
                  </a:extLst>
                </a:gridCol>
                <a:gridCol w="2447109">
                  <a:extLst>
                    <a:ext uri="{9D8B030D-6E8A-4147-A177-3AD203B41FA5}">
                      <a16:colId xmlns:a16="http://schemas.microsoft.com/office/drawing/2014/main" val="3305558814"/>
                    </a:ext>
                  </a:extLst>
                </a:gridCol>
                <a:gridCol w="931817">
                  <a:extLst>
                    <a:ext uri="{9D8B030D-6E8A-4147-A177-3AD203B41FA5}">
                      <a16:colId xmlns:a16="http://schemas.microsoft.com/office/drawing/2014/main" val="969678189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1" u="none" strike="noStrike" dirty="0">
                          <a:effectLst/>
                          <a:latin typeface="+mn-lt"/>
                        </a:rPr>
                        <a:t>Dictionary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13570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>
                          <a:effectLst/>
                          <a:latin typeface="+mn-lt"/>
                        </a:rPr>
                        <a:t>Index ID</a:t>
                      </a:r>
                      <a:endParaRPr lang="en-US" sz="1400" b="1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 dirty="0">
                          <a:effectLst/>
                          <a:latin typeface="+mn-lt"/>
                        </a:rPr>
                        <a:t>String Value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 dirty="0">
                          <a:effectLst/>
                          <a:latin typeface="+mn-lt"/>
                        </a:rPr>
                        <a:t>Size (bytes)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51884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+mn-lt"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Chocolate Chip Cookie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+mn-lt"/>
                        </a:rPr>
                        <a:t>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02584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Blueberry Scone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+mn-lt"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8032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Double-Chocolate Brownie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78249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Strawberry Cake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18792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Baklava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1718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1" u="none" strike="noStrike" dirty="0">
                          <a:effectLst/>
                          <a:latin typeface="+mn-lt"/>
                        </a:rPr>
                        <a:t>TOTAL DICTIONARY SIZE (bytes):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1" u="none" strike="noStrike" dirty="0">
                          <a:effectLst/>
                          <a:latin typeface="+mn-lt"/>
                        </a:rPr>
                        <a:t>82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367821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D1F10767-09CD-4951-95EB-C538FC363000}"/>
              </a:ext>
            </a:extLst>
          </p:cNvPr>
          <p:cNvSpPr/>
          <p:nvPr/>
        </p:nvSpPr>
        <p:spPr>
          <a:xfrm>
            <a:off x="7880304" y="3167225"/>
            <a:ext cx="413145" cy="827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F8D8AC-E970-4D00-86AD-C5C41345D488}"/>
              </a:ext>
            </a:extLst>
          </p:cNvPr>
          <p:cNvGraphicFramePr>
            <a:graphicFrameLocks noGrp="1"/>
          </p:cNvGraphicFramePr>
          <p:nvPr/>
        </p:nvGraphicFramePr>
        <p:xfrm>
          <a:off x="8446360" y="2022820"/>
          <a:ext cx="2902284" cy="3120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8622">
                  <a:extLst>
                    <a:ext uri="{9D8B030D-6E8A-4147-A177-3AD203B41FA5}">
                      <a16:colId xmlns:a16="http://schemas.microsoft.com/office/drawing/2014/main" val="2873492821"/>
                    </a:ext>
                  </a:extLst>
                </a:gridCol>
                <a:gridCol w="943662">
                  <a:extLst>
                    <a:ext uri="{9D8B030D-6E8A-4147-A177-3AD203B41FA5}">
                      <a16:colId xmlns:a16="http://schemas.microsoft.com/office/drawing/2014/main" val="2589342794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1" u="none" strike="noStrike" dirty="0">
                          <a:effectLst/>
                        </a:rPr>
                        <a:t>Dictionary Encoded Data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645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>
                          <a:effectLst/>
                        </a:rPr>
                        <a:t>Index ID</a:t>
                      </a:r>
                      <a:endParaRPr lang="en-US" sz="1400" b="1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i="1" u="none" strike="noStrike" dirty="0">
                          <a:effectLst/>
                        </a:rPr>
                        <a:t>Size (bits)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33657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8385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2586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9537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39623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78362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68488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41409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13708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17683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64193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7631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1" u="none" strike="noStrike" dirty="0">
                          <a:effectLst/>
                        </a:rPr>
                        <a:t>TOTAL DATA SIZE (bits):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110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372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 sz="6000" dirty="0"/>
              <a:t>Demo: Dictionary Encoding</a:t>
            </a:r>
            <a:br>
              <a:rPr lang="en-CA" dirty="0"/>
            </a:b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07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Encoding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650" b="1" dirty="0"/>
              <a:t>Mathematical </a:t>
            </a:r>
            <a:r>
              <a:rPr lang="en-CA" sz="2650" dirty="0"/>
              <a:t>manipulation</a:t>
            </a:r>
            <a:r>
              <a:rPr lang="en-CA" sz="2650" b="1" dirty="0"/>
              <a:t> </a:t>
            </a:r>
            <a:r>
              <a:rPr lang="en-CA" sz="2650" dirty="0"/>
              <a:t>to shrink storage footprint of numeric columns.</a:t>
            </a:r>
          </a:p>
          <a:p>
            <a:pPr lvl="1"/>
            <a:r>
              <a:rPr lang="en-CA" sz="2650" dirty="0"/>
              <a:t>Values are transformed using common rules across a segment.</a:t>
            </a:r>
          </a:p>
          <a:p>
            <a:pPr lvl="1"/>
            <a:r>
              <a:rPr lang="en-CA" sz="2650" dirty="0"/>
              <a:t>A segment may be subject to both </a:t>
            </a:r>
            <a:r>
              <a:rPr lang="en-CA" sz="2650" b="1" dirty="0"/>
              <a:t>dictionary</a:t>
            </a:r>
            <a:r>
              <a:rPr lang="en-CA" sz="2650" dirty="0"/>
              <a:t> and </a:t>
            </a:r>
            <a:r>
              <a:rPr lang="en-CA" sz="2650" b="1" dirty="0"/>
              <a:t>value</a:t>
            </a:r>
            <a:r>
              <a:rPr lang="en-CA" sz="2650" dirty="0"/>
              <a:t> encoding.</a:t>
            </a:r>
          </a:p>
          <a:p>
            <a:pPr lvl="1"/>
            <a:r>
              <a:rPr lang="en-CA" sz="2650" dirty="0"/>
              <a:t>Can be applied to </a:t>
            </a:r>
            <a:r>
              <a:rPr lang="en-CA" sz="2650" b="1" dirty="0"/>
              <a:t>dates</a:t>
            </a:r>
            <a:r>
              <a:rPr lang="en-CA" sz="2650" dirty="0"/>
              <a:t> as well.</a:t>
            </a:r>
          </a:p>
        </p:txBody>
      </p:sp>
    </p:spTree>
    <p:extLst>
      <p:ext uri="{BB962C8B-B14F-4D97-AF65-F5344CB8AC3E}">
        <p14:creationId xmlns:p14="http://schemas.microsoft.com/office/powerpoint/2010/main" val="1750198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Encoding Example (Multiplication)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D6EB111-157B-33F0-6F24-39A947744749}"/>
              </a:ext>
            </a:extLst>
          </p:cNvPr>
          <p:cNvSpPr/>
          <p:nvPr/>
        </p:nvSpPr>
        <p:spPr>
          <a:xfrm>
            <a:off x="2885814" y="3205460"/>
            <a:ext cx="3842157" cy="10402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E7AB8-9FD4-F783-DC37-E7ADDBBF20CD}"/>
              </a:ext>
            </a:extLst>
          </p:cNvPr>
          <p:cNvSpPr txBox="1"/>
          <p:nvPr/>
        </p:nvSpPr>
        <p:spPr>
          <a:xfrm>
            <a:off x="2933531" y="2671126"/>
            <a:ext cx="3839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Pick a common divisor (magnitude)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B3BDC8-45C3-5773-D890-F8A6EE1CF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79556"/>
              </p:ext>
            </p:extLst>
          </p:nvPr>
        </p:nvGraphicFramePr>
        <p:xfrm>
          <a:off x="209142" y="1724108"/>
          <a:ext cx="2567613" cy="40029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5963">
                  <a:extLst>
                    <a:ext uri="{9D8B030D-6E8A-4147-A177-3AD203B41FA5}">
                      <a16:colId xmlns:a16="http://schemas.microsoft.com/office/drawing/2014/main" val="2688199014"/>
                    </a:ext>
                  </a:extLst>
                </a:gridCol>
                <a:gridCol w="1581650">
                  <a:extLst>
                    <a:ext uri="{9D8B030D-6E8A-4147-A177-3AD203B41FA5}">
                      <a16:colId xmlns:a16="http://schemas.microsoft.com/office/drawing/2014/main" val="423026852"/>
                    </a:ext>
                  </a:extLst>
                </a:gridCol>
              </a:tblGrid>
              <a:tr h="42888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Value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Min Size in bits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7960544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65000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3738124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0437893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2507710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5719044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434505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729706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755298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87958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866467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060021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763088-2DC9-596A-1AF3-B662421B8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522536"/>
              </p:ext>
            </p:extLst>
          </p:nvPr>
        </p:nvGraphicFramePr>
        <p:xfrm>
          <a:off x="6884746" y="1724107"/>
          <a:ext cx="3811217" cy="4002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237">
                  <a:extLst>
                    <a:ext uri="{9D8B030D-6E8A-4147-A177-3AD203B41FA5}">
                      <a16:colId xmlns:a16="http://schemas.microsoft.com/office/drawing/2014/main" val="456618034"/>
                    </a:ext>
                  </a:extLst>
                </a:gridCol>
                <a:gridCol w="1308683">
                  <a:extLst>
                    <a:ext uri="{9D8B030D-6E8A-4147-A177-3AD203B41FA5}">
                      <a16:colId xmlns:a16="http://schemas.microsoft.com/office/drawing/2014/main" val="1478113492"/>
                    </a:ext>
                  </a:extLst>
                </a:gridCol>
                <a:gridCol w="1602297">
                  <a:extLst>
                    <a:ext uri="{9D8B030D-6E8A-4147-A177-3AD203B41FA5}">
                      <a16:colId xmlns:a16="http://schemas.microsoft.com/office/drawing/2014/main" val="1502953281"/>
                    </a:ext>
                  </a:extLst>
                </a:gridCol>
              </a:tblGrid>
              <a:tr h="42888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Value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Value * 10</a:t>
                      </a:r>
                      <a:r>
                        <a:rPr lang="en-US" sz="2000" u="none" strike="noStrike" baseline="30000" dirty="0">
                          <a:effectLst/>
                        </a:rPr>
                        <a:t>-1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Min Size in bits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0542427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65000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6500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7385239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89693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0063738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3961703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7285990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1090438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8794083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655013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453086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29014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B886792-FCB1-3713-871E-7665D61585B4}"/>
              </a:ext>
            </a:extLst>
          </p:cNvPr>
          <p:cNvSpPr txBox="1"/>
          <p:nvPr/>
        </p:nvSpPr>
        <p:spPr>
          <a:xfrm>
            <a:off x="2743896" y="4479097"/>
            <a:ext cx="3948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Divide values by the common divisor</a:t>
            </a:r>
          </a:p>
        </p:txBody>
      </p:sp>
    </p:spTree>
    <p:extLst>
      <p:ext uri="{BB962C8B-B14F-4D97-AF65-F5344CB8AC3E}">
        <p14:creationId xmlns:p14="http://schemas.microsoft.com/office/powerpoint/2010/main" val="3947594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Encoding Example (Addition)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D6EB111-157B-33F0-6F24-39A947744749}"/>
              </a:ext>
            </a:extLst>
          </p:cNvPr>
          <p:cNvSpPr/>
          <p:nvPr/>
        </p:nvSpPr>
        <p:spPr>
          <a:xfrm>
            <a:off x="2885814" y="3205460"/>
            <a:ext cx="3842157" cy="10402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E7AB8-9FD4-F783-DC37-E7ADDBBF20CD}"/>
              </a:ext>
            </a:extLst>
          </p:cNvPr>
          <p:cNvSpPr txBox="1"/>
          <p:nvPr/>
        </p:nvSpPr>
        <p:spPr>
          <a:xfrm>
            <a:off x="3463333" y="2839977"/>
            <a:ext cx="2296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Pick a common base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B3BDC8-45C3-5773-D890-F8A6EE1CF47A}"/>
              </a:ext>
            </a:extLst>
          </p:cNvPr>
          <p:cNvGraphicFramePr>
            <a:graphicFrameLocks noGrp="1"/>
          </p:cNvGraphicFramePr>
          <p:nvPr/>
        </p:nvGraphicFramePr>
        <p:xfrm>
          <a:off x="209142" y="1724108"/>
          <a:ext cx="2567613" cy="40029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5963">
                  <a:extLst>
                    <a:ext uri="{9D8B030D-6E8A-4147-A177-3AD203B41FA5}">
                      <a16:colId xmlns:a16="http://schemas.microsoft.com/office/drawing/2014/main" val="2688199014"/>
                    </a:ext>
                  </a:extLst>
                </a:gridCol>
                <a:gridCol w="1581650">
                  <a:extLst>
                    <a:ext uri="{9D8B030D-6E8A-4147-A177-3AD203B41FA5}">
                      <a16:colId xmlns:a16="http://schemas.microsoft.com/office/drawing/2014/main" val="423026852"/>
                    </a:ext>
                  </a:extLst>
                </a:gridCol>
              </a:tblGrid>
              <a:tr h="42888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Value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Min Size in bits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7960544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65000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3738124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0437893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2507710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5719044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434505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729706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755298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879582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866467"/>
                  </a:ext>
                </a:extLst>
              </a:tr>
              <a:tr h="35740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060021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0ECD99-E0DF-82EE-3F52-EF50D7F6C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212819"/>
              </p:ext>
            </p:extLst>
          </p:nvPr>
        </p:nvGraphicFramePr>
        <p:xfrm>
          <a:off x="6877050" y="1724647"/>
          <a:ext cx="3617577" cy="4002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5989">
                  <a:extLst>
                    <a:ext uri="{9D8B030D-6E8A-4147-A177-3AD203B41FA5}">
                      <a16:colId xmlns:a16="http://schemas.microsoft.com/office/drawing/2014/main" val="1532641741"/>
                    </a:ext>
                  </a:extLst>
                </a:gridCol>
                <a:gridCol w="1107346">
                  <a:extLst>
                    <a:ext uri="{9D8B030D-6E8A-4147-A177-3AD203B41FA5}">
                      <a16:colId xmlns:a16="http://schemas.microsoft.com/office/drawing/2014/main" val="3060259082"/>
                    </a:ext>
                  </a:extLst>
                </a:gridCol>
                <a:gridCol w="1644242">
                  <a:extLst>
                    <a:ext uri="{9D8B030D-6E8A-4147-A177-3AD203B41FA5}">
                      <a16:colId xmlns:a16="http://schemas.microsoft.com/office/drawing/2014/main" val="2144168216"/>
                    </a:ext>
                  </a:extLst>
                </a:gridCol>
              </a:tblGrid>
              <a:tr h="42882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Value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Value - 30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Min Size in bits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8495929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65000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64970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54036486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9970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8522776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949970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5380635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3256566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31253950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6757380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0975290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7970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9408548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1997821"/>
                  </a:ext>
                </a:extLst>
              </a:tr>
              <a:tr h="357357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18382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BB9D02-939A-57E3-3A76-251DA295B27F}"/>
              </a:ext>
            </a:extLst>
          </p:cNvPr>
          <p:cNvSpPr txBox="1"/>
          <p:nvPr/>
        </p:nvSpPr>
        <p:spPr>
          <a:xfrm>
            <a:off x="2840432" y="4372798"/>
            <a:ext cx="40366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Add/Subtract the common base from</a:t>
            </a:r>
          </a:p>
          <a:p>
            <a:pPr algn="ctr"/>
            <a:r>
              <a:rPr lang="en-US" sz="2000" i="1" dirty="0"/>
              <a:t>each value</a:t>
            </a:r>
          </a:p>
        </p:txBody>
      </p:sp>
    </p:spTree>
    <p:extLst>
      <p:ext uri="{BB962C8B-B14F-4D97-AF65-F5344CB8AC3E}">
        <p14:creationId xmlns:p14="http://schemas.microsoft.com/office/powerpoint/2010/main" val="1640731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76837" y="345010"/>
            <a:ext cx="11114785" cy="1252534"/>
          </a:xfrm>
        </p:spPr>
        <p:txBody>
          <a:bodyPr/>
          <a:lstStyle/>
          <a:p>
            <a:r>
              <a:rPr lang="en-US" dirty="0"/>
              <a:t>Value Encoding Example (Chunky Identity Column)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D6EB111-157B-33F0-6F24-39A947744749}"/>
              </a:ext>
            </a:extLst>
          </p:cNvPr>
          <p:cNvSpPr/>
          <p:nvPr/>
        </p:nvSpPr>
        <p:spPr>
          <a:xfrm>
            <a:off x="2885814" y="3205460"/>
            <a:ext cx="3842157" cy="10402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E7AB8-9FD4-F783-DC37-E7ADDBBF20CD}"/>
              </a:ext>
            </a:extLst>
          </p:cNvPr>
          <p:cNvSpPr txBox="1"/>
          <p:nvPr/>
        </p:nvSpPr>
        <p:spPr>
          <a:xfrm>
            <a:off x="3463333" y="2839977"/>
            <a:ext cx="2296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Pick a common 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B9D02-939A-57E3-3A76-251DA295B27F}"/>
              </a:ext>
            </a:extLst>
          </p:cNvPr>
          <p:cNvSpPr txBox="1"/>
          <p:nvPr/>
        </p:nvSpPr>
        <p:spPr>
          <a:xfrm>
            <a:off x="2938600" y="4372798"/>
            <a:ext cx="3525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Subtract the common base from</a:t>
            </a:r>
          </a:p>
          <a:p>
            <a:pPr algn="ctr"/>
            <a:r>
              <a:rPr lang="en-US" sz="2000" i="1" dirty="0"/>
              <a:t>each value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D435B9-B530-7711-597A-B6D74E320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370507"/>
              </p:ext>
            </p:extLst>
          </p:nvPr>
        </p:nvGraphicFramePr>
        <p:xfrm>
          <a:off x="6820250" y="1837408"/>
          <a:ext cx="4571373" cy="3648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781">
                  <a:extLst>
                    <a:ext uri="{9D8B030D-6E8A-4147-A177-3AD203B41FA5}">
                      <a16:colId xmlns:a16="http://schemas.microsoft.com/office/drawing/2014/main" val="1508436648"/>
                    </a:ext>
                  </a:extLst>
                </a:gridCol>
                <a:gridCol w="1888176">
                  <a:extLst>
                    <a:ext uri="{9D8B030D-6E8A-4147-A177-3AD203B41FA5}">
                      <a16:colId xmlns:a16="http://schemas.microsoft.com/office/drawing/2014/main" val="4073104281"/>
                    </a:ext>
                  </a:extLst>
                </a:gridCol>
                <a:gridCol w="1530416">
                  <a:extLst>
                    <a:ext uri="{9D8B030D-6E8A-4147-A177-3AD203B41FA5}">
                      <a16:colId xmlns:a16="http://schemas.microsoft.com/office/drawing/2014/main" val="3666694321"/>
                    </a:ext>
                  </a:extLst>
                </a:gridCol>
              </a:tblGrid>
              <a:tr h="317962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Value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Value - 1500000000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Min Size in bits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4521145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1500000000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690101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1541102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3006706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6606861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8241932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5039293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1500000006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6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7682068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1670903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0610027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1500000009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9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7924812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46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716654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7D5CB1-BC1A-8E2F-2ABA-F305BF73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92751"/>
              </p:ext>
            </p:extLst>
          </p:nvPr>
        </p:nvGraphicFramePr>
        <p:xfrm>
          <a:off x="111307" y="1837408"/>
          <a:ext cx="2682227" cy="3648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364">
                  <a:extLst>
                    <a:ext uri="{9D8B030D-6E8A-4147-A177-3AD203B41FA5}">
                      <a16:colId xmlns:a16="http://schemas.microsoft.com/office/drawing/2014/main" val="687437709"/>
                    </a:ext>
                  </a:extLst>
                </a:gridCol>
                <a:gridCol w="1529863">
                  <a:extLst>
                    <a:ext uri="{9D8B030D-6E8A-4147-A177-3AD203B41FA5}">
                      <a16:colId xmlns:a16="http://schemas.microsoft.com/office/drawing/2014/main" val="321054384"/>
                    </a:ext>
                  </a:extLst>
                </a:gridCol>
              </a:tblGrid>
              <a:tr h="317962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Value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u="none" strike="noStrike">
                          <a:effectLst/>
                        </a:rPr>
                        <a:t>Min Size in bits</a:t>
                      </a:r>
                      <a:endParaRPr lang="en-US" sz="1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6572508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1500000000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4778479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733157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32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0555749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1500000003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32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4284637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1500000004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8477324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1500000005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1037590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1500000006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6721000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1500000007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2487744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1500000008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3989496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1500000009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>
                          <a:effectLst/>
                        </a:rPr>
                        <a:t>32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9511392"/>
                  </a:ext>
                </a:extLst>
              </a:tr>
              <a:tr h="302821">
                <a:tc>
                  <a:txBody>
                    <a:bodyPr/>
                    <a:lstStyle/>
                    <a:p>
                      <a:pPr algn="l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u="none" strike="noStrike" dirty="0">
                          <a:effectLst/>
                        </a:rPr>
                        <a:t>320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706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567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 sz="6000" dirty="0"/>
              <a:t>Demo: Value Encoding</a:t>
            </a:r>
            <a:br>
              <a:rPr lang="en-CA" dirty="0"/>
            </a:b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225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#2: Optimization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endParaRPr lang="en-CA" sz="2650" dirty="0"/>
          </a:p>
          <a:p>
            <a:pPr lvl="1"/>
            <a:r>
              <a:rPr lang="en-CA" sz="2650" dirty="0"/>
              <a:t>Row order within a rowgroup </a:t>
            </a:r>
            <a:r>
              <a:rPr lang="en-CA" sz="2650" b="1" dirty="0"/>
              <a:t>does not matter</a:t>
            </a:r>
            <a:r>
              <a:rPr lang="en-CA" sz="2650" dirty="0"/>
              <a:t>!</a:t>
            </a:r>
          </a:p>
          <a:p>
            <a:pPr lvl="1"/>
            <a:r>
              <a:rPr lang="en-CA" sz="2650" dirty="0"/>
              <a:t>Optimization </a:t>
            </a:r>
            <a:r>
              <a:rPr lang="en-CA" sz="2650" b="1" dirty="0"/>
              <a:t>reorders rows </a:t>
            </a:r>
            <a:r>
              <a:rPr lang="en-CA" sz="2650" dirty="0"/>
              <a:t>within a rowgroup.</a:t>
            </a:r>
          </a:p>
          <a:p>
            <a:pPr lvl="1"/>
            <a:r>
              <a:rPr lang="en-CA" sz="2650" dirty="0"/>
              <a:t>This is computationally </a:t>
            </a:r>
            <a:r>
              <a:rPr lang="en-CA" sz="2650" b="1" dirty="0"/>
              <a:t>expensive</a:t>
            </a:r>
            <a:r>
              <a:rPr lang="en-CA" sz="2650" dirty="0"/>
              <a:t>.</a:t>
            </a:r>
          </a:p>
          <a:p>
            <a:pPr lvl="1"/>
            <a:r>
              <a:rPr lang="en-CA" sz="2650" dirty="0"/>
              <a:t>Vertipaq Optimization is what SQL Server uses for this process.</a:t>
            </a:r>
          </a:p>
          <a:p>
            <a:pPr lvl="1"/>
            <a:r>
              <a:rPr lang="en-CA" sz="2650" dirty="0"/>
              <a:t>Can greatly </a:t>
            </a:r>
            <a:r>
              <a:rPr lang="en-CA" sz="2650" b="1" dirty="0"/>
              <a:t>improve compression ratio </a:t>
            </a:r>
            <a:r>
              <a:rPr lang="en-CA" sz="2650" dirty="0"/>
              <a:t>by grouping like values together.</a:t>
            </a:r>
          </a:p>
        </p:txBody>
      </p:sp>
    </p:spTree>
    <p:extLst>
      <p:ext uri="{BB962C8B-B14F-4D97-AF65-F5344CB8AC3E}">
        <p14:creationId xmlns:p14="http://schemas.microsoft.com/office/powerpoint/2010/main" val="1795542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B7374-AA9D-780E-7384-59189ADEE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220950"/>
              </p:ext>
            </p:extLst>
          </p:nvPr>
        </p:nvGraphicFramePr>
        <p:xfrm>
          <a:off x="286429" y="1597544"/>
          <a:ext cx="4581663" cy="4430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1960">
                  <a:extLst>
                    <a:ext uri="{9D8B030D-6E8A-4147-A177-3AD203B41FA5}">
                      <a16:colId xmlns:a16="http://schemas.microsoft.com/office/drawing/2014/main" val="2873492821"/>
                    </a:ext>
                  </a:extLst>
                </a:gridCol>
                <a:gridCol w="1489703">
                  <a:extLst>
                    <a:ext uri="{9D8B030D-6E8A-4147-A177-3AD203B41FA5}">
                      <a16:colId xmlns:a16="http://schemas.microsoft.com/office/drawing/2014/main" val="2589342794"/>
                    </a:ext>
                  </a:extLst>
                </a:gridCol>
              </a:tblGrid>
              <a:tr h="31644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1" u="none" strike="noStrike" dirty="0">
                          <a:effectLst/>
                        </a:rPr>
                        <a:t>Dictionary Encoded Data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64589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i="1" u="none" strike="noStrike">
                          <a:effectLst/>
                        </a:rPr>
                        <a:t>Index ID</a:t>
                      </a:r>
                      <a:endParaRPr lang="en-US" sz="2000" b="1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i="1" u="none" strike="noStrike" dirty="0">
                          <a:effectLst/>
                        </a:rPr>
                        <a:t>Size (bits)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3365771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838588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2586390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9537219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3962354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7836235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6848859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4140900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1370825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1768343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6419312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27631653"/>
                  </a:ext>
                </a:extLst>
              </a:tr>
              <a:tr h="3164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1" u="none" strike="noStrike" dirty="0">
                          <a:effectLst/>
                        </a:rPr>
                        <a:t>TOTAL DATA SIZE (bits):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1" u="none" strike="noStrike" dirty="0">
                          <a:effectLst/>
                        </a:rPr>
                        <a:t>33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11020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BD3772-CDEC-6911-4BCB-598256A15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564018"/>
              </p:ext>
            </p:extLst>
          </p:nvPr>
        </p:nvGraphicFramePr>
        <p:xfrm>
          <a:off x="6342218" y="1591680"/>
          <a:ext cx="3629096" cy="440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7610">
                  <a:extLst>
                    <a:ext uri="{9D8B030D-6E8A-4147-A177-3AD203B41FA5}">
                      <a16:colId xmlns:a16="http://schemas.microsoft.com/office/drawing/2014/main" val="2960501690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943052161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1" u="none" strike="noStrike" dirty="0">
                          <a:effectLst/>
                        </a:rPr>
                        <a:t>Optimized Data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069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i="1" u="none" strike="noStrike">
                          <a:effectLst/>
                        </a:rPr>
                        <a:t>Index ID</a:t>
                      </a:r>
                      <a:endParaRPr lang="en-US" sz="2000" b="1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i="1" u="none" strike="noStrike" dirty="0">
                          <a:effectLst/>
                        </a:rPr>
                        <a:t>Size (bits)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059698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274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93410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18198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8950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83991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37896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62141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38227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91414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703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8651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1" u="none" strike="noStrike" dirty="0">
                          <a:effectLst/>
                        </a:rPr>
                        <a:t>TOTAL DATA SIZE (bits):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1" u="none" strike="noStrike" dirty="0">
                          <a:effectLst/>
                        </a:rPr>
                        <a:t>33</a:t>
                      </a:r>
                      <a:endParaRPr lang="en-US" sz="20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134543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44CB8DEA-8F34-CF4D-B13B-11CF575A9478}"/>
              </a:ext>
            </a:extLst>
          </p:cNvPr>
          <p:cNvSpPr/>
          <p:nvPr/>
        </p:nvSpPr>
        <p:spPr>
          <a:xfrm>
            <a:off x="5251780" y="3399002"/>
            <a:ext cx="775063" cy="827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0F6A3-1830-E642-033E-F8198A170F9F}"/>
              </a:ext>
            </a:extLst>
          </p:cNvPr>
          <p:cNvSpPr txBox="1"/>
          <p:nvPr/>
        </p:nvSpPr>
        <p:spPr>
          <a:xfrm>
            <a:off x="6434356" y="648111"/>
            <a:ext cx="4943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Optimization does not save space, but sets up data</a:t>
            </a:r>
          </a:p>
          <a:p>
            <a:r>
              <a:rPr lang="en-US" i="1" dirty="0"/>
              <a:t>so that compression is far more effective later.</a:t>
            </a:r>
          </a:p>
        </p:txBody>
      </p:sp>
    </p:spTree>
    <p:extLst>
      <p:ext uri="{BB962C8B-B14F-4D97-AF65-F5344CB8AC3E}">
        <p14:creationId xmlns:p14="http://schemas.microsoft.com/office/powerpoint/2010/main" val="3054549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 sz="6000" dirty="0"/>
              <a:t>Demo: Vertipaq Optimization</a:t>
            </a:r>
            <a:br>
              <a:rPr lang="en-CA" dirty="0"/>
            </a:b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07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Exceptions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endParaRPr lang="en-CA" sz="2650" dirty="0"/>
          </a:p>
          <a:p>
            <a:pPr lvl="1"/>
            <a:r>
              <a:rPr lang="en-CA" sz="2650" dirty="0"/>
              <a:t>There are 2 scenarios where Vertipaq Optimization is not used:</a:t>
            </a:r>
          </a:p>
          <a:p>
            <a:pPr lvl="2"/>
            <a:r>
              <a:rPr lang="en-CA" sz="2272" dirty="0"/>
              <a:t>Data merged from a delta rowgroup into a clustered columnstore index that has at least one non-clustered rowstore index.</a:t>
            </a:r>
          </a:p>
          <a:p>
            <a:pPr lvl="2"/>
            <a:r>
              <a:rPr lang="en-CA" sz="2272" dirty="0"/>
              <a:t>Columnstore indexes on memory-optimized tables.</a:t>
            </a:r>
          </a:p>
          <a:p>
            <a:pPr lvl="1"/>
            <a:r>
              <a:rPr lang="en-CA" sz="2650" dirty="0"/>
              <a:t>Optimized rowgroups </a:t>
            </a:r>
            <a:r>
              <a:rPr lang="en-CA" sz="2650" b="1" dirty="0"/>
              <a:t>remain optimized </a:t>
            </a:r>
            <a:r>
              <a:rPr lang="en-CA" sz="2650" dirty="0"/>
              <a:t>when non-clustered rowstore indexes are added.</a:t>
            </a:r>
          </a:p>
          <a:p>
            <a:pPr lvl="1"/>
            <a:r>
              <a:rPr lang="en-CA" sz="2650" dirty="0"/>
              <a:t>Therefore, careful planning can ensure optimal compression, even with supporting rowstore indexes.</a:t>
            </a:r>
          </a:p>
          <a:p>
            <a:pPr lvl="1"/>
            <a:endParaRPr lang="en-CA" sz="2650" dirty="0"/>
          </a:p>
        </p:txBody>
      </p:sp>
    </p:spTree>
    <p:extLst>
      <p:ext uri="{BB962C8B-B14F-4D97-AF65-F5344CB8AC3E}">
        <p14:creationId xmlns:p14="http://schemas.microsoft.com/office/powerpoint/2010/main" val="2341600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#3: Compression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dirty="0"/>
              <a:t>After encoding and optimization, data is compressed using traditional algorithms focused on </a:t>
            </a:r>
            <a:r>
              <a:rPr lang="en-CA" sz="2650" b="1" dirty="0"/>
              <a:t>repeating byte patterns</a:t>
            </a:r>
            <a:r>
              <a:rPr lang="en-CA" sz="2650" dirty="0"/>
              <a:t>.</a:t>
            </a:r>
          </a:p>
          <a:p>
            <a:pPr marL="1003508" lvl="1" indent="-571500"/>
            <a:r>
              <a:rPr lang="en-CA" sz="2650" dirty="0"/>
              <a:t>SQL Server uses the Microsoft </a:t>
            </a:r>
            <a:r>
              <a:rPr lang="en-CA" sz="2650" b="1" dirty="0" err="1"/>
              <a:t>xVelocity</a:t>
            </a:r>
            <a:r>
              <a:rPr lang="en-CA" sz="2650" dirty="0"/>
              <a:t> algorithm for Columnstore compression</a:t>
            </a:r>
          </a:p>
          <a:p>
            <a:pPr marL="1003508" lvl="1" indent="-571500"/>
            <a:r>
              <a:rPr lang="en-CA" sz="2650" dirty="0"/>
              <a:t>SQL Server uses the Microsoft </a:t>
            </a:r>
            <a:r>
              <a:rPr lang="en-CA" sz="2650" b="1" dirty="0"/>
              <a:t>Xpress</a:t>
            </a:r>
            <a:r>
              <a:rPr lang="en-CA" sz="2650" dirty="0"/>
              <a:t> algorithm for Columnstore archive compression.</a:t>
            </a:r>
          </a:p>
          <a:p>
            <a:pPr marL="1003508" lvl="1" indent="-571500"/>
            <a:r>
              <a:rPr lang="en-CA" sz="2650" dirty="0"/>
              <a:t>Both columnstore compression algorithms use at least </a:t>
            </a:r>
            <a:r>
              <a:rPr lang="en-CA" sz="2650" b="1" dirty="0"/>
              <a:t>bit-packing</a:t>
            </a:r>
            <a:r>
              <a:rPr lang="en-CA" sz="2650" dirty="0"/>
              <a:t> and </a:t>
            </a:r>
            <a:r>
              <a:rPr lang="en-CA" sz="2650" b="1" dirty="0"/>
              <a:t>run-length encoding</a:t>
            </a:r>
            <a:r>
              <a:rPr lang="en-CA" sz="2650" dirty="0"/>
              <a:t>.  Other algorithms are used situationally.</a:t>
            </a:r>
          </a:p>
        </p:txBody>
      </p:sp>
    </p:spTree>
    <p:extLst>
      <p:ext uri="{BB962C8B-B14F-4D97-AF65-F5344CB8AC3E}">
        <p14:creationId xmlns:p14="http://schemas.microsoft.com/office/powerpoint/2010/main" val="2252606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12469" y="9796"/>
            <a:ext cx="9936421" cy="1252534"/>
          </a:xfrm>
        </p:spPr>
        <p:txBody>
          <a:bodyPr/>
          <a:lstStyle/>
          <a:p>
            <a:r>
              <a:rPr lang="en-US" dirty="0"/>
              <a:t>Bit-Packing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412468" y="928362"/>
            <a:ext cx="9936421" cy="4111612"/>
          </a:xfrm>
        </p:spPr>
        <p:txBody>
          <a:bodyPr>
            <a:normAutofit/>
          </a:bodyPr>
          <a:lstStyle/>
          <a:p>
            <a:pPr marL="1003508" lvl="1" indent="-571500"/>
            <a:r>
              <a:rPr lang="en-CA" sz="2650" dirty="0"/>
              <a:t>Unneeded bits are shaved off of larger data types.</a:t>
            </a:r>
          </a:p>
          <a:p>
            <a:pPr marL="1435517" lvl="2" indent="-571500"/>
            <a:r>
              <a:rPr lang="en-CA" sz="2272" b="1" dirty="0"/>
              <a:t>Fixed-width</a:t>
            </a:r>
            <a:r>
              <a:rPr lang="en-CA" sz="2272" dirty="0"/>
              <a:t> data types become </a:t>
            </a:r>
            <a:r>
              <a:rPr lang="en-CA" sz="2272" b="1" dirty="0"/>
              <a:t>variable-width</a:t>
            </a:r>
            <a:r>
              <a:rPr lang="en-CA" sz="2272" dirty="0"/>
              <a:t>.</a:t>
            </a:r>
          </a:p>
          <a:p>
            <a:pPr marL="1435517" lvl="2" indent="-571500"/>
            <a:r>
              <a:rPr lang="en-CA" sz="2272" b="1" dirty="0"/>
              <a:t>Leading zeroes </a:t>
            </a:r>
            <a:r>
              <a:rPr lang="en-CA" sz="2272" dirty="0"/>
              <a:t>are removed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94C941-EAB8-7FFE-C1F7-A228AA695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41032"/>
              </p:ext>
            </p:extLst>
          </p:nvPr>
        </p:nvGraphicFramePr>
        <p:xfrm>
          <a:off x="2295436" y="2270998"/>
          <a:ext cx="5195932" cy="3741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1103">
                  <a:extLst>
                    <a:ext uri="{9D8B030D-6E8A-4147-A177-3AD203B41FA5}">
                      <a16:colId xmlns:a16="http://schemas.microsoft.com/office/drawing/2014/main" val="4046369581"/>
                    </a:ext>
                  </a:extLst>
                </a:gridCol>
                <a:gridCol w="1585519">
                  <a:extLst>
                    <a:ext uri="{9D8B030D-6E8A-4147-A177-3AD203B41FA5}">
                      <a16:colId xmlns:a16="http://schemas.microsoft.com/office/drawing/2014/main" val="1308029408"/>
                    </a:ext>
                  </a:extLst>
                </a:gridCol>
                <a:gridCol w="1048624">
                  <a:extLst>
                    <a:ext uri="{9D8B030D-6E8A-4147-A177-3AD203B41FA5}">
                      <a16:colId xmlns:a16="http://schemas.microsoft.com/office/drawing/2014/main" val="311813368"/>
                    </a:ext>
                  </a:extLst>
                </a:gridCol>
                <a:gridCol w="1610686">
                  <a:extLst>
                    <a:ext uri="{9D8B030D-6E8A-4147-A177-3AD203B41FA5}">
                      <a16:colId xmlns:a16="http://schemas.microsoft.com/office/drawing/2014/main" val="1384942759"/>
                    </a:ext>
                  </a:extLst>
                </a:gridCol>
              </a:tblGrid>
              <a:tr h="59827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Value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SQL Data Type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Size (bits)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Bit-Packed Size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9676552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65000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3009608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3426098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950000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INT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2178258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2847397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INT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205854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5713132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0339517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8144992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9580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INT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32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2030071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288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4737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533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Run-Length Encoding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b="1" dirty="0"/>
              <a:t>Repeating data patterns </a:t>
            </a:r>
            <a:r>
              <a:rPr lang="en-CA" sz="2650" dirty="0"/>
              <a:t>are simplified.  Vertipaq optimization greatly improved the efficiency of run-length encoding.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74E7A4-3D4A-ACD1-008F-231471835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21086"/>
              </p:ext>
            </p:extLst>
          </p:nvPr>
        </p:nvGraphicFramePr>
        <p:xfrm>
          <a:off x="1881792" y="2611035"/>
          <a:ext cx="7429987" cy="3652920"/>
        </p:xfrm>
        <a:graphic>
          <a:graphicData uri="http://schemas.openxmlformats.org/drawingml/2006/table">
            <a:tbl>
              <a:tblPr/>
              <a:tblGrid>
                <a:gridCol w="2706985">
                  <a:extLst>
                    <a:ext uri="{9D8B030D-6E8A-4147-A177-3AD203B41FA5}">
                      <a16:colId xmlns:a16="http://schemas.microsoft.com/office/drawing/2014/main" val="4006502675"/>
                    </a:ext>
                  </a:extLst>
                </a:gridCol>
                <a:gridCol w="2390863">
                  <a:extLst>
                    <a:ext uri="{9D8B030D-6E8A-4147-A177-3AD203B41FA5}">
                      <a16:colId xmlns:a16="http://schemas.microsoft.com/office/drawing/2014/main" val="2713312617"/>
                    </a:ext>
                  </a:extLst>
                </a:gridCol>
                <a:gridCol w="2332139">
                  <a:extLst>
                    <a:ext uri="{9D8B030D-6E8A-4147-A177-3AD203B41FA5}">
                      <a16:colId xmlns:a16="http://schemas.microsoft.com/office/drawing/2014/main" val="4033312983"/>
                    </a:ext>
                  </a:extLst>
                </a:gridCol>
              </a:tblGrid>
              <a:tr h="50967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Dictionary Encoded Data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Vertipaq Optimization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Run-Length Encoding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406524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(1)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469367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(2)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347425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588615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(3)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648529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(1)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375588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312950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950590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471525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82749"/>
                  </a:ext>
                </a:extLst>
              </a:tr>
              <a:tr h="28470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355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005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Bulk-Inserting Data Into a Columnstore Index</a:t>
            </a:r>
            <a:br>
              <a:rPr lang="en-US" dirty="0"/>
            </a:br>
            <a:r>
              <a:rPr lang="en-US" dirty="0"/>
              <a:t>(aka: Writing Data FAST)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dirty="0"/>
              <a:t>Inserts of </a:t>
            </a:r>
            <a:r>
              <a:rPr lang="en-CA" sz="2650" b="1" dirty="0"/>
              <a:t>102,400</a:t>
            </a:r>
            <a:r>
              <a:rPr lang="en-CA" sz="2650" dirty="0"/>
              <a:t> rows or more into a columnstore index will use a minimally-logged bulk-insert process.</a:t>
            </a:r>
          </a:p>
          <a:p>
            <a:pPr marL="1003508" lvl="1" indent="-571500"/>
            <a:r>
              <a:rPr lang="en-CA" sz="2650" dirty="0"/>
              <a:t>Unlike other minimally-logged processes, this is </a:t>
            </a:r>
            <a:r>
              <a:rPr lang="en-CA" sz="2650" b="1" dirty="0"/>
              <a:t>automatic</a:t>
            </a:r>
            <a:r>
              <a:rPr lang="en-CA" sz="2650" dirty="0"/>
              <a:t>.</a:t>
            </a:r>
          </a:p>
          <a:p>
            <a:pPr marL="1003508" lvl="1" indent="-571500"/>
            <a:r>
              <a:rPr lang="en-CA" sz="2650" dirty="0"/>
              <a:t>Less than </a:t>
            </a:r>
            <a:r>
              <a:rPr lang="en-CA" sz="2650" b="1" dirty="0"/>
              <a:t>102,400</a:t>
            </a:r>
            <a:r>
              <a:rPr lang="en-CA" sz="2650" dirty="0"/>
              <a:t> always uses the delta store.</a:t>
            </a:r>
          </a:p>
          <a:p>
            <a:pPr marL="1003508" lvl="1" indent="-571500"/>
            <a:r>
              <a:rPr lang="en-CA" sz="2650" b="1" dirty="0"/>
              <a:t>102,400</a:t>
            </a:r>
            <a:r>
              <a:rPr lang="en-CA" sz="2650" dirty="0"/>
              <a:t> rows or more in one INSERT will:</a:t>
            </a:r>
          </a:p>
          <a:p>
            <a:pPr marL="1435517" lvl="2" indent="-571500"/>
            <a:r>
              <a:rPr lang="en-CA" sz="2272" dirty="0"/>
              <a:t>Split rows into rowgroups (2</a:t>
            </a:r>
            <a:r>
              <a:rPr lang="en-CA" sz="2272" baseline="30000" dirty="0"/>
              <a:t>20</a:t>
            </a:r>
            <a:r>
              <a:rPr lang="en-CA" sz="2272" dirty="0"/>
              <a:t> rows each).</a:t>
            </a:r>
          </a:p>
          <a:p>
            <a:pPr marL="1435517" lvl="2" indent="-571500"/>
            <a:r>
              <a:rPr lang="en-CA" sz="2272" dirty="0"/>
              <a:t>Remainder is bulk-inserted (if 102,400 rows or more) or inserted into the delta store (if less than 102,400 rows)</a:t>
            </a:r>
          </a:p>
          <a:p>
            <a:pPr marL="1003508" lvl="1" indent="-571500"/>
            <a:r>
              <a:rPr lang="en-CA" sz="2650" dirty="0"/>
              <a:t>UPDATE does </a:t>
            </a:r>
            <a:r>
              <a:rPr lang="en-CA" sz="2650" b="1" dirty="0"/>
              <a:t>not bulk insert</a:t>
            </a:r>
            <a:r>
              <a:rPr lang="en-CA" sz="2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9196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 sz="6000" dirty="0"/>
              <a:t>Demo: </a:t>
            </a:r>
            <a:r>
              <a:rPr lang="en-US" dirty="0"/>
              <a:t>Bulk-Inserting Data Into a Columnstore Index</a:t>
            </a:r>
            <a:br>
              <a:rPr lang="en-CA" dirty="0"/>
            </a:b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22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Insert Guidance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dirty="0"/>
              <a:t>Consolidate trickle inserts into staged inserts with </a:t>
            </a:r>
            <a:r>
              <a:rPr lang="en-CA" sz="2650" b="1" dirty="0"/>
              <a:t>larger batches</a:t>
            </a:r>
            <a:r>
              <a:rPr lang="en-CA" sz="2650" dirty="0"/>
              <a:t>.</a:t>
            </a:r>
          </a:p>
          <a:p>
            <a:pPr marL="1003508" lvl="1" indent="-571500"/>
            <a:r>
              <a:rPr lang="en-CA" sz="2650" dirty="0"/>
              <a:t>If read performance is acceptable, leave delta rowgroups alone.</a:t>
            </a:r>
          </a:p>
          <a:p>
            <a:pPr marL="1003508" lvl="1" indent="-571500"/>
            <a:r>
              <a:rPr lang="en-CA" sz="2650" dirty="0"/>
              <a:t>If read performance is slow, consider regular REORG operations to force delta rowgroups into compressed rowgroups.</a:t>
            </a:r>
          </a:p>
        </p:txBody>
      </p:sp>
    </p:spTree>
    <p:extLst>
      <p:ext uri="{BB962C8B-B14F-4D97-AF65-F5344CB8AC3E}">
        <p14:creationId xmlns:p14="http://schemas.microsoft.com/office/powerpoint/2010/main" val="3768327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Delete/Update Guidance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b="1" dirty="0"/>
              <a:t>Avoid UPDATE operations</a:t>
            </a:r>
            <a:r>
              <a:rPr lang="en-CA" sz="2650" dirty="0"/>
              <a:t>.  They do not bulk insert and are very slow.  Replace with DELETE/INSERT if needed.  But beware data order.  Columnstore is OLAP, but still adheres to ACID.</a:t>
            </a:r>
          </a:p>
          <a:p>
            <a:pPr marL="1003508" lvl="1" indent="-571500"/>
            <a:r>
              <a:rPr lang="en-CA" sz="2650" dirty="0"/>
              <a:t>Beware tables that migrate from rowstore to columnstore!</a:t>
            </a:r>
          </a:p>
          <a:p>
            <a:pPr marL="1003508" lvl="1" indent="-571500"/>
            <a:r>
              <a:rPr lang="en-CA" sz="2650" dirty="0"/>
              <a:t>Deletes are soft-deletes.</a:t>
            </a:r>
          </a:p>
          <a:p>
            <a:pPr marL="1003508" lvl="1" indent="-571500"/>
            <a:r>
              <a:rPr lang="en-CA" sz="2650" dirty="0"/>
              <a:t>REORG can </a:t>
            </a:r>
            <a:r>
              <a:rPr lang="en-CA" sz="2650" b="1" dirty="0"/>
              <a:t>merge</a:t>
            </a:r>
            <a:r>
              <a:rPr lang="en-CA" sz="2650" dirty="0"/>
              <a:t> undersized rowgroups together.  Cannot do so with dictionary pressure.</a:t>
            </a:r>
          </a:p>
          <a:p>
            <a:pPr marL="1003508" lvl="1" indent="-571500"/>
            <a:r>
              <a:rPr lang="en-CA" sz="2650" dirty="0"/>
              <a:t>REORG can </a:t>
            </a:r>
            <a:r>
              <a:rPr lang="en-CA" sz="2650" b="1" dirty="0"/>
              <a:t>self-merge</a:t>
            </a:r>
            <a:r>
              <a:rPr lang="en-CA" sz="2650" dirty="0"/>
              <a:t> and remove deleted rows (when there are &gt; </a:t>
            </a:r>
            <a:r>
              <a:rPr lang="en-CA" sz="2650" b="1" dirty="0"/>
              <a:t>102,400</a:t>
            </a:r>
            <a:r>
              <a:rPr lang="en-CA" sz="2650" dirty="0"/>
              <a:t>).</a:t>
            </a:r>
          </a:p>
          <a:p>
            <a:pPr marL="1003508" lvl="1" indent="-571500"/>
            <a:r>
              <a:rPr lang="en-CA" sz="2650" dirty="0"/>
              <a:t>REORG operations greatly help </a:t>
            </a:r>
            <a:r>
              <a:rPr lang="en-CA" sz="2650" b="1" dirty="0"/>
              <a:t>write-heavy tables</a:t>
            </a:r>
            <a:r>
              <a:rPr lang="en-CA" sz="2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6733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Merge &amp; Self-Merge</a:t>
            </a:r>
          </a:p>
        </p:txBody>
      </p:sp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2AB5A84E-AF5A-3B63-1C35-4009C1D88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19" y="1591894"/>
            <a:ext cx="817245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98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Segment Elimination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650" dirty="0"/>
              <a:t>Columns not selected = </a:t>
            </a:r>
            <a:r>
              <a:rPr lang="en-CA" sz="2650" b="1" dirty="0"/>
              <a:t>segments skipped</a:t>
            </a:r>
            <a:r>
              <a:rPr lang="en-CA" sz="2650" dirty="0"/>
              <a:t>.</a:t>
            </a:r>
          </a:p>
          <a:p>
            <a:pPr lvl="1"/>
            <a:r>
              <a:rPr lang="en-CA" sz="2650" dirty="0"/>
              <a:t>Select only </a:t>
            </a:r>
            <a:r>
              <a:rPr lang="en-CA" sz="2650" b="1" dirty="0"/>
              <a:t>columns needed</a:t>
            </a:r>
            <a:r>
              <a:rPr lang="en-CA" sz="2650" dirty="0"/>
              <a:t>.</a:t>
            </a:r>
          </a:p>
          <a:p>
            <a:pPr lvl="1"/>
            <a:r>
              <a:rPr lang="en-CA" sz="2650" dirty="0"/>
              <a:t>Beware </a:t>
            </a:r>
            <a:r>
              <a:rPr lang="en-CA" sz="2650" b="1" dirty="0"/>
              <a:t>unneeded</a:t>
            </a:r>
            <a:r>
              <a:rPr lang="en-CA" sz="2650" dirty="0"/>
              <a:t> where, group by, order by, having, </a:t>
            </a:r>
            <a:r>
              <a:rPr lang="en-CA" sz="2650" dirty="0" err="1"/>
              <a:t>etc</a:t>
            </a:r>
            <a:r>
              <a:rPr lang="en-CA" sz="265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902943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Rowgroup Elimination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650" dirty="0"/>
              <a:t>Columnstore indexes are </a:t>
            </a:r>
            <a:r>
              <a:rPr lang="en-CA" sz="2650" b="1" dirty="0"/>
              <a:t>not ordered </a:t>
            </a:r>
            <a:r>
              <a:rPr lang="en-CA" sz="2650" dirty="0"/>
              <a:t>by default!</a:t>
            </a:r>
          </a:p>
          <a:p>
            <a:pPr lvl="1"/>
            <a:r>
              <a:rPr lang="en-CA" sz="2650" dirty="0"/>
              <a:t>Columnstore </a:t>
            </a:r>
            <a:r>
              <a:rPr lang="en-CA" sz="2650" b="1" dirty="0"/>
              <a:t>metadata</a:t>
            </a:r>
            <a:r>
              <a:rPr lang="en-CA" sz="2650" dirty="0"/>
              <a:t> is used to reduce segment reads.</a:t>
            </a:r>
          </a:p>
          <a:p>
            <a:pPr lvl="1"/>
            <a:r>
              <a:rPr lang="en-CA" sz="2650" dirty="0"/>
              <a:t>Min/max values for each column are tracked per segment.</a:t>
            </a:r>
          </a:p>
          <a:p>
            <a:pPr lvl="1"/>
            <a:r>
              <a:rPr lang="en-CA" sz="2650" b="1" dirty="0"/>
              <a:t>Ordered data </a:t>
            </a:r>
            <a:r>
              <a:rPr lang="en-CA" sz="2650" dirty="0"/>
              <a:t>allows for irrelevant segments to be skipped.</a:t>
            </a:r>
          </a:p>
          <a:p>
            <a:pPr lvl="1"/>
            <a:r>
              <a:rPr lang="en-CA" sz="2650" dirty="0"/>
              <a:t>Order by column(s) that are most often filtered on.</a:t>
            </a:r>
          </a:p>
          <a:p>
            <a:pPr lvl="2"/>
            <a:r>
              <a:rPr lang="en-CA" sz="2272" dirty="0"/>
              <a:t>A time dimension is often the ideal choice</a:t>
            </a:r>
          </a:p>
          <a:p>
            <a:pPr lvl="1"/>
            <a:r>
              <a:rPr lang="en-CA" sz="2650" dirty="0"/>
              <a:t>Bonus: Ordered data </a:t>
            </a:r>
            <a:r>
              <a:rPr lang="en-CA" sz="2650" b="1" dirty="0"/>
              <a:t>saves</a:t>
            </a:r>
            <a:r>
              <a:rPr lang="en-CA" sz="2650" dirty="0"/>
              <a:t> on storage!</a:t>
            </a:r>
          </a:p>
          <a:p>
            <a:pPr lvl="1"/>
            <a:endParaRPr lang="en-CA" sz="2650" dirty="0"/>
          </a:p>
          <a:p>
            <a:pPr marL="432008" lvl="1" indent="0">
              <a:buNone/>
            </a:pPr>
            <a:r>
              <a:rPr lang="en-CA" sz="2650" b="1" i="1" dirty="0"/>
              <a:t>This is the #1 key to performance in a large columnstore index!</a:t>
            </a:r>
          </a:p>
        </p:txBody>
      </p:sp>
    </p:spTree>
    <p:extLst>
      <p:ext uri="{BB962C8B-B14F-4D97-AF65-F5344CB8AC3E}">
        <p14:creationId xmlns:p14="http://schemas.microsoft.com/office/powerpoint/2010/main" val="4044520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CA" sz="6000" dirty="0"/>
              <a:t>Demo: </a:t>
            </a:r>
            <a:r>
              <a:rPr lang="en-US" dirty="0"/>
              <a:t>Rowgroup Elimination</a:t>
            </a:r>
            <a:br>
              <a:rPr lang="en-CA" dirty="0"/>
            </a:b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2996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dirty="0"/>
              <a:t>Each </a:t>
            </a:r>
            <a:r>
              <a:rPr lang="en-CA" sz="2650" b="1" dirty="0"/>
              <a:t>partition</a:t>
            </a:r>
            <a:r>
              <a:rPr lang="en-CA" sz="2650" dirty="0"/>
              <a:t> contains (essentially) its own isolated columnstore index structure.</a:t>
            </a:r>
          </a:p>
          <a:p>
            <a:pPr marL="1003508" lvl="1" indent="-571500"/>
            <a:r>
              <a:rPr lang="en-CA" sz="2650" dirty="0"/>
              <a:t>Partition column (usually) is the same as the ordering column.</a:t>
            </a:r>
          </a:p>
          <a:p>
            <a:pPr marL="1003508" lvl="1" indent="-571500"/>
            <a:r>
              <a:rPr lang="en-CA" sz="2650" b="1" dirty="0"/>
              <a:t>Partition elimination </a:t>
            </a:r>
            <a:r>
              <a:rPr lang="en-CA" sz="2650" dirty="0"/>
              <a:t>&amp; </a:t>
            </a:r>
            <a:r>
              <a:rPr lang="en-CA" sz="2650" b="1" dirty="0"/>
              <a:t>rowgroup elimination </a:t>
            </a:r>
            <a:r>
              <a:rPr lang="en-CA" sz="2650" dirty="0"/>
              <a:t>are good friends.</a:t>
            </a:r>
          </a:p>
          <a:p>
            <a:pPr marL="1003508" lvl="1" indent="-571500"/>
            <a:r>
              <a:rPr lang="en-CA" sz="2650" dirty="0"/>
              <a:t>Ensure each partition is large enough to support full rowgroups.</a:t>
            </a:r>
          </a:p>
          <a:p>
            <a:pPr marL="1003508" lvl="1" indent="-571500"/>
            <a:r>
              <a:rPr lang="en-CA" sz="2650" dirty="0"/>
              <a:t>Allows for easier maintenance:</a:t>
            </a:r>
          </a:p>
          <a:p>
            <a:pPr marL="1435517" lvl="2" indent="-571500"/>
            <a:r>
              <a:rPr lang="en-CA" sz="2272" dirty="0"/>
              <a:t>Partition swapping</a:t>
            </a:r>
          </a:p>
          <a:p>
            <a:pPr marL="1435517" lvl="2" indent="-571500"/>
            <a:r>
              <a:rPr lang="en-CA" sz="2272" dirty="0"/>
              <a:t>Partition truncation</a:t>
            </a:r>
          </a:p>
          <a:p>
            <a:pPr marL="1435517" lvl="2" indent="-571500"/>
            <a:r>
              <a:rPr lang="en-CA" sz="2272" dirty="0"/>
              <a:t>Index maintenance by partition</a:t>
            </a:r>
          </a:p>
          <a:p>
            <a:pPr marL="1435517" lvl="2" indent="-571500"/>
            <a:r>
              <a:rPr lang="en-CA" sz="2272" dirty="0"/>
              <a:t>Different columnstore compression per partition.</a:t>
            </a:r>
          </a:p>
          <a:p>
            <a:pPr marL="1435517" lvl="2" indent="-571500"/>
            <a:endParaRPr lang="en-CA" sz="2272" dirty="0"/>
          </a:p>
          <a:p>
            <a:pPr lvl="1"/>
            <a:endParaRPr lang="en-CA" sz="2650" dirty="0"/>
          </a:p>
        </p:txBody>
      </p:sp>
    </p:spTree>
    <p:extLst>
      <p:ext uri="{BB962C8B-B14F-4D97-AF65-F5344CB8AC3E}">
        <p14:creationId xmlns:p14="http://schemas.microsoft.com/office/powerpoint/2010/main" val="3384484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Columnstore Guidance: Variations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650" b="1" dirty="0"/>
              <a:t>Non-clustered </a:t>
            </a:r>
            <a:r>
              <a:rPr lang="en-CA" sz="2650" b="1" dirty="0" err="1"/>
              <a:t>rowstore</a:t>
            </a:r>
            <a:r>
              <a:rPr lang="en-CA" sz="2650" b="1" dirty="0"/>
              <a:t> on clustered columnstore</a:t>
            </a:r>
            <a:r>
              <a:rPr lang="en-CA" sz="2650" dirty="0"/>
              <a:t>: Only when a secondary dimension is critical to analytics.  Consider a </a:t>
            </a:r>
            <a:r>
              <a:rPr lang="en-CA" sz="2650" b="1" dirty="0"/>
              <a:t>second columnstore index</a:t>
            </a:r>
            <a:r>
              <a:rPr lang="en-CA" sz="2650" dirty="0"/>
              <a:t> ordered by that dimension!  Test thoroughly.</a:t>
            </a:r>
          </a:p>
          <a:p>
            <a:pPr lvl="1"/>
            <a:r>
              <a:rPr lang="en-CA" sz="2650" b="1" dirty="0"/>
              <a:t>Non-clustered columnstore on clustered </a:t>
            </a:r>
            <a:r>
              <a:rPr lang="en-CA" sz="2650" b="1" dirty="0" err="1"/>
              <a:t>rowstore</a:t>
            </a:r>
            <a:r>
              <a:rPr lang="en-CA" sz="2650" dirty="0"/>
              <a:t>: Better with tables that are </a:t>
            </a:r>
            <a:r>
              <a:rPr lang="en-CA" sz="2650" b="1" dirty="0"/>
              <a:t>more read</a:t>
            </a:r>
            <a:r>
              <a:rPr lang="en-CA" sz="2650" dirty="0"/>
              <a:t>/</a:t>
            </a:r>
            <a:r>
              <a:rPr lang="en-CA" sz="2650" b="1" dirty="0"/>
              <a:t>less write </a:t>
            </a:r>
            <a:r>
              <a:rPr lang="en-CA" sz="2650" dirty="0"/>
              <a:t>– few updates.  Real-time operational analytics sound great, but are expensive to maintain.  </a:t>
            </a:r>
            <a:r>
              <a:rPr lang="en-CA" sz="2650" b="1" dirty="0"/>
              <a:t>Restrict column list </a:t>
            </a:r>
            <a:r>
              <a:rPr lang="en-CA" sz="2650" dirty="0"/>
              <a:t>as much as possible.  Test thoroughly.</a:t>
            </a:r>
          </a:p>
          <a:p>
            <a:pPr lvl="1"/>
            <a:r>
              <a:rPr lang="en-CA" sz="2650" b="1" dirty="0"/>
              <a:t>Memory-Optimized</a:t>
            </a:r>
            <a:r>
              <a:rPr lang="en-CA" sz="2650" dirty="0"/>
              <a:t>: Avoid unless unique/niche use-case arise. Test thoroughly if considering! Memory-optimized tables are built for </a:t>
            </a:r>
            <a:r>
              <a:rPr lang="en-CA" sz="2650" b="1" dirty="0"/>
              <a:t>OLTP</a:t>
            </a:r>
            <a:r>
              <a:rPr lang="en-CA" sz="2650" dirty="0"/>
              <a:t> scenarios.</a:t>
            </a:r>
          </a:p>
        </p:txBody>
      </p:sp>
    </p:spTree>
    <p:extLst>
      <p:ext uri="{BB962C8B-B14F-4D97-AF65-F5344CB8AC3E}">
        <p14:creationId xmlns:p14="http://schemas.microsoft.com/office/powerpoint/2010/main" val="1881680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Columnstore Indexes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03508" lvl="1" indent="-571500"/>
            <a:r>
              <a:rPr lang="en-CA" sz="2650" dirty="0"/>
              <a:t>SQL Server 2022+ for clustered columnstore.</a:t>
            </a:r>
          </a:p>
          <a:p>
            <a:pPr marL="1003508" lvl="1" indent="-571500"/>
            <a:r>
              <a:rPr lang="en-CA" sz="2650" dirty="0"/>
              <a:t>SQL Server 2025+ for non-clustered columnstore.</a:t>
            </a:r>
          </a:p>
          <a:p>
            <a:pPr marL="1003508" lvl="1" indent="-571500"/>
            <a:r>
              <a:rPr lang="en-CA" sz="2650" dirty="0"/>
              <a:t>Can </a:t>
            </a:r>
            <a:r>
              <a:rPr lang="en-CA" sz="2650" b="1" dirty="0"/>
              <a:t>define column order </a:t>
            </a:r>
            <a:r>
              <a:rPr lang="en-CA" sz="2650" dirty="0"/>
              <a:t>on a columnstore index.</a:t>
            </a:r>
          </a:p>
          <a:p>
            <a:pPr marL="1003508" lvl="1" indent="-571500"/>
            <a:r>
              <a:rPr lang="en-CA" sz="2650" dirty="0"/>
              <a:t>Does not apply to pre-existing rowgroups.</a:t>
            </a:r>
          </a:p>
          <a:p>
            <a:pPr marL="1003508" lvl="1" indent="-571500"/>
            <a:r>
              <a:rPr lang="en-CA" sz="2650" dirty="0"/>
              <a:t>Is an offline operation (2022) or online (2025+), if using Enterprise Edition.</a:t>
            </a:r>
          </a:p>
          <a:p>
            <a:pPr marL="1003508" lvl="1" indent="-571500"/>
            <a:r>
              <a:rPr lang="en-CA" sz="2650" dirty="0"/>
              <a:t>Sorts in </a:t>
            </a:r>
            <a:r>
              <a:rPr lang="en-CA" sz="2650" dirty="0" err="1"/>
              <a:t>TempDB</a:t>
            </a:r>
            <a:r>
              <a:rPr lang="en-CA" sz="2650" dirty="0"/>
              <a:t> (2022) or in memory (2025+)</a:t>
            </a:r>
          </a:p>
          <a:p>
            <a:pPr marL="1435517" lvl="2" indent="-571500"/>
            <a:r>
              <a:rPr lang="en-CA" sz="2272" dirty="0"/>
              <a:t>Not enough </a:t>
            </a:r>
            <a:r>
              <a:rPr lang="en-CA" sz="2272" dirty="0" err="1"/>
              <a:t>TempDB</a:t>
            </a:r>
            <a:r>
              <a:rPr lang="en-CA" sz="2272" dirty="0"/>
              <a:t>/Memory? You get a partial (incomplete) sort.</a:t>
            </a:r>
          </a:p>
          <a:p>
            <a:pPr marL="1003508" lvl="1" indent="-571500"/>
            <a:r>
              <a:rPr lang="en-CA" sz="2650" dirty="0"/>
              <a:t>Ordering data </a:t>
            </a:r>
            <a:r>
              <a:rPr lang="en-CA" sz="2650" b="1" dirty="0"/>
              <a:t>via data load processes </a:t>
            </a:r>
            <a:r>
              <a:rPr lang="en-CA" sz="2650" dirty="0"/>
              <a:t>is preferable.</a:t>
            </a:r>
          </a:p>
          <a:p>
            <a:pPr lvl="1"/>
            <a:endParaRPr lang="en-CA" sz="2650" dirty="0"/>
          </a:p>
        </p:txBody>
      </p:sp>
    </p:spTree>
    <p:extLst>
      <p:ext uri="{BB962C8B-B14F-4D97-AF65-F5344CB8AC3E}">
        <p14:creationId xmlns:p14="http://schemas.microsoft.com/office/powerpoint/2010/main" val="3833273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Columnstore Guidance: General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650" dirty="0"/>
              <a:t>Columnstore index: </a:t>
            </a:r>
            <a:r>
              <a:rPr lang="en-CA" sz="2650" b="1" dirty="0"/>
              <a:t>At least </a:t>
            </a:r>
            <a:r>
              <a:rPr lang="en-CA" sz="2650" dirty="0"/>
              <a:t>millions of rows.  The </a:t>
            </a:r>
            <a:r>
              <a:rPr lang="en-CA" sz="2650" b="1" dirty="0"/>
              <a:t>more the merrier.</a:t>
            </a:r>
          </a:p>
          <a:p>
            <a:pPr lvl="1"/>
            <a:r>
              <a:rPr lang="en-CA" sz="2650" dirty="0"/>
              <a:t>Partitioning: </a:t>
            </a:r>
            <a:r>
              <a:rPr lang="en-CA" sz="2650" b="1" dirty="0"/>
              <a:t>At least </a:t>
            </a:r>
            <a:r>
              <a:rPr lang="en-CA" sz="2650" dirty="0"/>
              <a:t>millions of rows per partition.</a:t>
            </a:r>
          </a:p>
          <a:p>
            <a:pPr lvl="1"/>
            <a:r>
              <a:rPr lang="en-CA" sz="2650" b="1" dirty="0"/>
              <a:t>Archive compression</a:t>
            </a:r>
            <a:r>
              <a:rPr lang="en-CA" sz="2650" dirty="0"/>
              <a:t>: Data that is (mostly) read-only and not often used.  Can be applied by partition:</a:t>
            </a:r>
          </a:p>
          <a:p>
            <a:pPr lvl="2"/>
            <a:r>
              <a:rPr lang="en-CA" sz="2272" dirty="0"/>
              <a:t>Active written data: Columnstore compression.</a:t>
            </a:r>
          </a:p>
          <a:p>
            <a:pPr lvl="2"/>
            <a:r>
              <a:rPr lang="en-CA" sz="2272" dirty="0"/>
              <a:t>Older/read-only data: Columnstore archive compression.</a:t>
            </a:r>
          </a:p>
        </p:txBody>
      </p:sp>
    </p:spTree>
    <p:extLst>
      <p:ext uri="{BB962C8B-B14F-4D97-AF65-F5344CB8AC3E}">
        <p14:creationId xmlns:p14="http://schemas.microsoft.com/office/powerpoint/2010/main" val="29164212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D2CF-951C-ED38-3CEE-0EC0B6EE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D0F73889-0157-B368-C288-1BDD1B67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Recent Features/Changes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F27FF34-D33F-B7AC-8786-709D3E28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650" dirty="0"/>
              <a:t>SQL Server 2022:</a:t>
            </a:r>
          </a:p>
          <a:p>
            <a:pPr lvl="2"/>
            <a:r>
              <a:rPr lang="en-CA" sz="2272" dirty="0"/>
              <a:t>Improved predicate pushdown for clustered columnstore: rowgroup elimination now can occur for </a:t>
            </a:r>
            <a:r>
              <a:rPr lang="en-CA" sz="2272" b="1" dirty="0"/>
              <a:t>strings</a:t>
            </a:r>
            <a:r>
              <a:rPr lang="en-CA" sz="2272" dirty="0"/>
              <a:t>, </a:t>
            </a:r>
            <a:r>
              <a:rPr lang="en-CA" sz="2272" b="1" dirty="0"/>
              <a:t>binary</a:t>
            </a:r>
            <a:r>
              <a:rPr lang="en-CA" sz="2272" dirty="0"/>
              <a:t>, </a:t>
            </a:r>
            <a:r>
              <a:rPr lang="en-CA" sz="2272" b="1" dirty="0"/>
              <a:t>GUID</a:t>
            </a:r>
            <a:r>
              <a:rPr lang="en-CA" sz="2272" dirty="0"/>
              <a:t>, and </a:t>
            </a:r>
            <a:r>
              <a:rPr lang="en-CA" sz="2272" b="1" dirty="0" err="1"/>
              <a:t>datetimeoffset</a:t>
            </a:r>
            <a:r>
              <a:rPr lang="en-CA" sz="2272" dirty="0"/>
              <a:t> (scale &gt; 2). </a:t>
            </a:r>
            <a:r>
              <a:rPr lang="en-CA" sz="2272" b="1" dirty="0"/>
              <a:t>Rebuild</a:t>
            </a:r>
            <a:r>
              <a:rPr lang="en-CA" sz="2272" dirty="0"/>
              <a:t> to gain benefits after upgrade.</a:t>
            </a:r>
          </a:p>
          <a:p>
            <a:pPr lvl="2"/>
            <a:r>
              <a:rPr lang="en-CA" sz="2272" dirty="0"/>
              <a:t>Rowgroup elimination for </a:t>
            </a:r>
            <a:r>
              <a:rPr lang="en-CA" sz="2272" b="1" dirty="0"/>
              <a:t>LIKE</a:t>
            </a:r>
            <a:r>
              <a:rPr lang="en-CA" sz="2272" dirty="0"/>
              <a:t> predicates (but not leading-fuzzy)</a:t>
            </a:r>
          </a:p>
          <a:p>
            <a:pPr lvl="1"/>
            <a:r>
              <a:rPr lang="en-CA" sz="2650" dirty="0"/>
              <a:t>SQL Server 2025</a:t>
            </a:r>
          </a:p>
          <a:p>
            <a:pPr lvl="2"/>
            <a:r>
              <a:rPr lang="en-CA" sz="2272" dirty="0"/>
              <a:t>Any ordered columnstore can be created/rebuilt </a:t>
            </a:r>
            <a:r>
              <a:rPr lang="en-CA" sz="2272" b="1" dirty="0"/>
              <a:t>online</a:t>
            </a:r>
            <a:r>
              <a:rPr lang="en-CA" sz="2272" dirty="0"/>
              <a:t>.</a:t>
            </a:r>
          </a:p>
          <a:p>
            <a:pPr lvl="3"/>
            <a:r>
              <a:rPr lang="en-CA" sz="2083" dirty="0"/>
              <a:t>If you have Enterprise Edition. Otherwise irrelevant.</a:t>
            </a:r>
          </a:p>
          <a:p>
            <a:pPr lvl="2"/>
            <a:r>
              <a:rPr lang="en-CA" sz="2272" dirty="0"/>
              <a:t>Database/file shrink operations can now target string/binary columns, increasing reclaimed space.</a:t>
            </a:r>
          </a:p>
        </p:txBody>
      </p:sp>
    </p:spTree>
    <p:extLst>
      <p:ext uri="{BB962C8B-B14F-4D97-AF65-F5344CB8AC3E}">
        <p14:creationId xmlns:p14="http://schemas.microsoft.com/office/powerpoint/2010/main" val="33190045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/>
              <a:t>Conclusion</a:t>
            </a:r>
            <a:endParaRPr lang="en-US" b="1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Columnstore indexes can be optimized to </a:t>
            </a:r>
            <a:r>
              <a:rPr lang="en-US" b="1" dirty="0"/>
              <a:t>save significant space </a:t>
            </a:r>
            <a:r>
              <a:rPr lang="en-US" dirty="0"/>
              <a:t>and return </a:t>
            </a:r>
            <a:r>
              <a:rPr lang="en-US" b="1" dirty="0"/>
              <a:t>exceptional performance</a:t>
            </a:r>
            <a:r>
              <a:rPr lang="en-US" dirty="0"/>
              <a:t>.</a:t>
            </a:r>
          </a:p>
          <a:p>
            <a:r>
              <a:rPr lang="en-US" dirty="0"/>
              <a:t>The internal details of columnstore indexes are key to this.</a:t>
            </a:r>
          </a:p>
          <a:p>
            <a:r>
              <a:rPr lang="en-US" dirty="0"/>
              <a:t>Well-maintained columnstore indexes are </a:t>
            </a:r>
            <a:r>
              <a:rPr lang="en-US" b="1" i="1" dirty="0"/>
              <a:t>almost</a:t>
            </a:r>
            <a:r>
              <a:rPr lang="en-US" dirty="0"/>
              <a:t> set-and-forget.  But exceptions eventually destroy that assumption.  Beware one-time-maintenance, updates, deletes, unordered inserts,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Each new version of SQL Server </a:t>
            </a:r>
            <a:r>
              <a:rPr lang="en-US" b="1" dirty="0"/>
              <a:t>improves</a:t>
            </a:r>
            <a:r>
              <a:rPr lang="en-US" dirty="0"/>
              <a:t> this feature!</a:t>
            </a:r>
          </a:p>
          <a:p>
            <a:r>
              <a:rPr lang="en-US" dirty="0"/>
              <a:t>When used correctly, columnstore indexes can </a:t>
            </a:r>
            <a:r>
              <a:rPr lang="en-US" b="1" dirty="0"/>
              <a:t>scale indefinitely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86471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FE4AF-B348-5DEE-C10F-85D8705B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0" y="259508"/>
            <a:ext cx="10397545" cy="1080029"/>
          </a:xfrm>
        </p:spPr>
        <p:txBody>
          <a:bodyPr/>
          <a:lstStyle/>
          <a:p>
            <a:r>
              <a:rPr lang="en-US" b="1" dirty="0"/>
              <a:t>Questions? Thank You!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7694-6D38-D578-B6BE-6A0138EC0E4E}"/>
              </a:ext>
            </a:extLst>
          </p:cNvPr>
          <p:cNvSpPr txBox="1"/>
          <p:nvPr/>
        </p:nvSpPr>
        <p:spPr>
          <a:xfrm>
            <a:off x="575730" y="1083534"/>
            <a:ext cx="9447029" cy="416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46" b="1" dirty="0"/>
              <a:t>Find me here:</a:t>
            </a:r>
            <a:endParaRPr lang="en-US" sz="2646" b="1" dirty="0">
              <a:hlinkClick r:id="rId2"/>
            </a:endParaRPr>
          </a:p>
          <a:p>
            <a:pPr marL="431998" indent="-431998">
              <a:buFont typeface="Arial" panose="020B0604020202020204" pitchFamily="34" charset="0"/>
              <a:buChar char="•"/>
            </a:pPr>
            <a:r>
              <a:rPr lang="en-US" sz="2646" dirty="0">
                <a:hlinkClick r:id="rId3"/>
              </a:rPr>
              <a:t>Ed Pollack | LinkedIn</a:t>
            </a:r>
            <a:endParaRPr lang="en-US" sz="2646" dirty="0"/>
          </a:p>
          <a:p>
            <a:pPr marL="431998" indent="-431998">
              <a:buFont typeface="Arial" panose="020B0604020202020204" pitchFamily="34" charset="0"/>
              <a:buChar char="•"/>
            </a:pPr>
            <a:r>
              <a:rPr lang="en-US" sz="2646" dirty="0">
                <a:hlinkClick r:id="rId4"/>
              </a:rPr>
              <a:t>Edward Pollack | Most Valuable Professionals</a:t>
            </a:r>
            <a:endParaRPr lang="en-US" sz="2646" dirty="0"/>
          </a:p>
          <a:p>
            <a:pPr marL="431998" indent="-431998">
              <a:buFont typeface="Arial" panose="020B0604020202020204" pitchFamily="34" charset="0"/>
              <a:buChar char="•"/>
            </a:pPr>
            <a:r>
              <a:rPr lang="en-US" sz="2646" dirty="0">
                <a:hlinkClick r:id="rId5"/>
              </a:rPr>
              <a:t>https://sessionize.com/edward-pollack/</a:t>
            </a:r>
            <a:endParaRPr lang="en-US" sz="2646" dirty="0"/>
          </a:p>
          <a:p>
            <a:pPr marL="431998" indent="-431998">
              <a:buFont typeface="Arial" panose="020B0604020202020204" pitchFamily="34" charset="0"/>
              <a:buChar char="•"/>
            </a:pPr>
            <a:endParaRPr lang="en-US" sz="2646" dirty="0"/>
          </a:p>
          <a:p>
            <a:r>
              <a:rPr lang="en-US" sz="2646" b="1" dirty="0"/>
              <a:t>Find my content here:</a:t>
            </a:r>
          </a:p>
          <a:p>
            <a:pPr marL="431998" indent="-431998">
              <a:buFont typeface="Arial" panose="020B0604020202020204" pitchFamily="34" charset="0"/>
              <a:buChar char="•"/>
            </a:pPr>
            <a:r>
              <a:rPr lang="en-US" sz="2646" dirty="0" err="1">
                <a:hlinkClick r:id="rId6"/>
              </a:rPr>
              <a:t>EdwardPollack</a:t>
            </a:r>
            <a:r>
              <a:rPr lang="en-US" sz="2646" dirty="0">
                <a:hlinkClick r:id="rId6"/>
              </a:rPr>
              <a:t> (Ed Pollack) (github.com)</a:t>
            </a:r>
            <a:endParaRPr lang="en-US" sz="2646" dirty="0"/>
          </a:p>
          <a:p>
            <a:pPr marL="431998" indent="-431998">
              <a:buFont typeface="Arial" panose="020B0604020202020204" pitchFamily="34" charset="0"/>
              <a:buChar char="•"/>
            </a:pPr>
            <a:r>
              <a:rPr lang="en-US" sz="2646" dirty="0">
                <a:hlinkClick r:id="rId7"/>
              </a:rPr>
              <a:t>Edward Pollack, Author at Simple Talk (red-gate.com)</a:t>
            </a:r>
            <a:endParaRPr lang="en-US" sz="2646" dirty="0"/>
          </a:p>
          <a:p>
            <a:pPr marL="431998" indent="-431998">
              <a:buFont typeface="Arial" panose="020B0604020202020204" pitchFamily="34" charset="0"/>
              <a:buChar char="•"/>
            </a:pPr>
            <a:r>
              <a:rPr lang="en-US" sz="2646" dirty="0">
                <a:hlinkClick r:id="rId8"/>
              </a:rPr>
              <a:t>Ed Pollack, Author at SQL Shack - articles about database auditing, server performance, data recovery, and more</a:t>
            </a:r>
            <a:endParaRPr lang="en-US" sz="2646" dirty="0"/>
          </a:p>
        </p:txBody>
      </p:sp>
    </p:spTree>
    <p:extLst>
      <p:ext uri="{BB962C8B-B14F-4D97-AF65-F5344CB8AC3E}">
        <p14:creationId xmlns:p14="http://schemas.microsoft.com/office/powerpoint/2010/main" val="379583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14628</TotalTime>
  <Words>2563</Words>
  <Application>Microsoft Office PowerPoint</Application>
  <PresentationFormat>Custom</PresentationFormat>
  <Paragraphs>659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Wingdings</vt:lpstr>
      <vt:lpstr>Office Theme</vt:lpstr>
      <vt:lpstr>Image</vt:lpstr>
      <vt:lpstr>Advanced OLAP Optimization with Columnstore Indexes</vt:lpstr>
      <vt:lpstr>Ed Pollack</vt:lpstr>
      <vt:lpstr>Agenda</vt:lpstr>
      <vt:lpstr>The Challenge (Review)</vt:lpstr>
      <vt:lpstr>The Challenge (Review)</vt:lpstr>
      <vt:lpstr>The Challenge (Review)</vt:lpstr>
      <vt:lpstr>The Challenge (Review)</vt:lpstr>
      <vt:lpstr>The Challenge (Review)</vt:lpstr>
      <vt:lpstr>Columnstore Index Architecture (Review)</vt:lpstr>
      <vt:lpstr>Columnstore Index Architecture (Review)</vt:lpstr>
      <vt:lpstr>Columnstore Index Architecture (Review)</vt:lpstr>
      <vt:lpstr>Columnstore Index Architecture (Review)</vt:lpstr>
      <vt:lpstr>Review Complete!</vt:lpstr>
      <vt:lpstr>Columnstore Compression</vt:lpstr>
      <vt:lpstr>Step #1: Encoding</vt:lpstr>
      <vt:lpstr>Dictionary Encoding</vt:lpstr>
      <vt:lpstr>Dictionary Encoding Example</vt:lpstr>
      <vt:lpstr>Dictionary Encoding Example</vt:lpstr>
      <vt:lpstr>Dictionary Encoding Example</vt:lpstr>
      <vt:lpstr>Demo: Dictionary Encoding  </vt:lpstr>
      <vt:lpstr>Value Encoding</vt:lpstr>
      <vt:lpstr>Value Encoding Example (Multiplication)</vt:lpstr>
      <vt:lpstr>Value Encoding Example (Addition)</vt:lpstr>
      <vt:lpstr>Value Encoding Example (Chunky Identity Column)</vt:lpstr>
      <vt:lpstr>Demo: Value Encoding  </vt:lpstr>
      <vt:lpstr>Step #2: Optimization</vt:lpstr>
      <vt:lpstr>Optimization Example</vt:lpstr>
      <vt:lpstr>Demo: Vertipaq Optimization  </vt:lpstr>
      <vt:lpstr>Optimization Exceptions</vt:lpstr>
      <vt:lpstr>Step #3: Compression</vt:lpstr>
      <vt:lpstr>Bit-Packing</vt:lpstr>
      <vt:lpstr>Run-Length Encoding</vt:lpstr>
      <vt:lpstr>Bulk-Inserting Data Into a Columnstore Index (aka: Writing Data FAST)</vt:lpstr>
      <vt:lpstr>Demo: Bulk-Inserting Data Into a Columnstore Index  </vt:lpstr>
      <vt:lpstr>Insert Guidance</vt:lpstr>
      <vt:lpstr>Delete/Update Guidance</vt:lpstr>
      <vt:lpstr>Merge &amp; Self-Merge</vt:lpstr>
      <vt:lpstr>Segment Elimination</vt:lpstr>
      <vt:lpstr>Rowgroup Elimination</vt:lpstr>
      <vt:lpstr>Demo: Rowgroup Elimination  </vt:lpstr>
      <vt:lpstr>Partitioning</vt:lpstr>
      <vt:lpstr>Columnstore Guidance: Variations</vt:lpstr>
      <vt:lpstr>Ordered Columnstore Indexes</vt:lpstr>
      <vt:lpstr>Columnstore Guidance: General</vt:lpstr>
      <vt:lpstr>Other Recent Features/Changes</vt:lpstr>
      <vt:lpstr>Conclusion</vt:lpstr>
      <vt:lpstr>Questions? Thank You!</vt:lpstr>
    </vt:vector>
  </TitlesOfParts>
  <Company>Revealed Design,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Carla Hamilton</dc:creator>
  <cp:lastModifiedBy>Edward Pollack</cp:lastModifiedBy>
  <cp:revision>368</cp:revision>
  <cp:lastPrinted>2018-05-23T19:05:19Z</cp:lastPrinted>
  <dcterms:created xsi:type="dcterms:W3CDTF">2011-08-19T20:30:49Z</dcterms:created>
  <dcterms:modified xsi:type="dcterms:W3CDTF">2026-04-13T15:46:34Z</dcterms:modified>
</cp:coreProperties>
</file>