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85" r:id="rId2"/>
    <p:sldId id="453" r:id="rId3"/>
    <p:sldId id="295" r:id="rId4"/>
    <p:sldId id="296" r:id="rId5"/>
    <p:sldId id="435" r:id="rId6"/>
    <p:sldId id="436" r:id="rId7"/>
    <p:sldId id="437" r:id="rId8"/>
    <p:sldId id="438" r:id="rId9"/>
    <p:sldId id="439" r:id="rId10"/>
    <p:sldId id="452" r:id="rId11"/>
    <p:sldId id="454" r:id="rId12"/>
    <p:sldId id="455" r:id="rId13"/>
    <p:sldId id="445" r:id="rId14"/>
    <p:sldId id="440" r:id="rId15"/>
    <p:sldId id="441" r:id="rId16"/>
    <p:sldId id="442" r:id="rId17"/>
    <p:sldId id="443" r:id="rId18"/>
    <p:sldId id="446" r:id="rId19"/>
    <p:sldId id="456" r:id="rId20"/>
    <p:sldId id="447" r:id="rId21"/>
    <p:sldId id="449" r:id="rId22"/>
    <p:sldId id="450" r:id="rId23"/>
    <p:sldId id="451" r:id="rId24"/>
    <p:sldId id="328" r:id="rId25"/>
    <p:sldId id="265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tion 1" id="{42D8459F-7683-F84D-8DE6-C3C38246EA5E}">
          <p14:sldIdLst>
            <p14:sldId id="285"/>
            <p14:sldId id="453"/>
            <p14:sldId id="295"/>
            <p14:sldId id="296"/>
            <p14:sldId id="435"/>
            <p14:sldId id="436"/>
            <p14:sldId id="437"/>
            <p14:sldId id="438"/>
            <p14:sldId id="439"/>
            <p14:sldId id="452"/>
            <p14:sldId id="454"/>
            <p14:sldId id="455"/>
            <p14:sldId id="445"/>
            <p14:sldId id="440"/>
            <p14:sldId id="441"/>
            <p14:sldId id="442"/>
            <p14:sldId id="443"/>
            <p14:sldId id="446"/>
            <p14:sldId id="456"/>
            <p14:sldId id="447"/>
            <p14:sldId id="449"/>
            <p14:sldId id="450"/>
            <p14:sldId id="451"/>
            <p14:sldId id="328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den Ford" initials="BF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E21"/>
    <a:srgbClr val="27BEC7"/>
    <a:srgbClr val="1DB14B"/>
    <a:srgbClr val="FFC20E"/>
    <a:srgbClr val="0090D2"/>
    <a:srgbClr val="5FBB46"/>
    <a:srgbClr val="939598"/>
    <a:srgbClr val="FFD800"/>
    <a:srgbClr val="003677"/>
    <a:srgbClr val="9E0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5" autoAdjust="0"/>
    <p:restoredTop sz="97586" autoAdjust="0"/>
  </p:normalViewPr>
  <p:slideViewPr>
    <p:cSldViewPr snapToGrid="0">
      <p:cViewPr varScale="1">
        <p:scale>
          <a:sx n="146" d="100"/>
          <a:sy n="146" d="100"/>
        </p:scale>
        <p:origin x="52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F17F-797E-F743-99C7-34FA65335D3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E63A2-433C-2447-B893-859ADBD60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222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353FC-0869-45D3-95AF-CC29198471C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65AC4-17B0-4E19-8496-B264E70A1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346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45401"/>
          <a:stretch/>
        </p:blipFill>
        <p:spPr>
          <a:xfrm>
            <a:off x="5781" y="1"/>
            <a:ext cx="3340734" cy="51434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532" y="444468"/>
            <a:ext cx="4559981" cy="1301315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4380308" y="2455629"/>
            <a:ext cx="4520276" cy="7066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r">
              <a:defRPr lang="en-US" sz="4000" b="0" dirty="0">
                <a:solidFill>
                  <a:schemeClr val="tx2"/>
                </a:solidFill>
                <a:latin typeface="+mj-lt"/>
                <a:cs typeface="Segoe UI Light"/>
              </a:defRPr>
            </a:lvl1pPr>
          </a:lstStyle>
          <a:p>
            <a:pPr marL="0" lvl="0"/>
            <a:r>
              <a:rPr lang="en-CA" dirty="0"/>
              <a:t>Session Title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80731" y="3159156"/>
            <a:ext cx="4520966" cy="4537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>
              <a:defRPr lang="en-US" dirty="0">
                <a:solidFill>
                  <a:srgbClr val="0090D2"/>
                </a:solidFill>
                <a:latin typeface="+mn-lt"/>
                <a:cs typeface="Segoe UI Light"/>
              </a:defRPr>
            </a:lvl1pPr>
          </a:lstStyle>
          <a:p>
            <a:pPr lvl="0"/>
            <a:r>
              <a:rPr lang="en-CA" dirty="0"/>
              <a:t>Subtitle</a:t>
            </a:r>
            <a:endParaRPr lang="en-US" dirty="0"/>
          </a:p>
        </p:txBody>
      </p:sp>
      <p:pic>
        <p:nvPicPr>
          <p:cNvPr id="8" name="Picture 7" descr="PASS_Logo_white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32" y="4660566"/>
            <a:ext cx="428460" cy="34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7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45401"/>
          <a:stretch/>
        </p:blipFill>
        <p:spPr>
          <a:xfrm>
            <a:off x="0" y="-594087"/>
            <a:ext cx="3725240" cy="573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452438" y="1385455"/>
            <a:ext cx="8242300" cy="3232727"/>
          </a:xfrm>
        </p:spPr>
        <p:txBody>
          <a:bodyPr>
            <a:noAutofit/>
          </a:bodyPr>
          <a:lstStyle>
            <a:lvl1pPr>
              <a:defRPr>
                <a:solidFill>
                  <a:srgbClr val="58585A"/>
                </a:solidFill>
                <a:latin typeface="+mn-lt"/>
              </a:defRPr>
            </a:lvl1pPr>
            <a:lvl2pPr>
              <a:buClr>
                <a:srgbClr val="0090D2"/>
              </a:buClr>
              <a:defRPr>
                <a:solidFill>
                  <a:srgbClr val="58585A"/>
                </a:solidFill>
                <a:latin typeface="+mn-lt"/>
              </a:defRPr>
            </a:lvl2pPr>
            <a:lvl3pPr>
              <a:buClr>
                <a:srgbClr val="0090D2"/>
              </a:buClr>
              <a:defRPr>
                <a:solidFill>
                  <a:srgbClr val="58585A"/>
                </a:solidFill>
                <a:latin typeface="+mn-lt"/>
              </a:defRPr>
            </a:lvl3pPr>
            <a:lvl4pPr>
              <a:buClr>
                <a:srgbClr val="0090D2"/>
              </a:buClr>
              <a:defRPr>
                <a:solidFill>
                  <a:srgbClr val="58585A"/>
                </a:solidFill>
                <a:latin typeface="+mn-lt"/>
              </a:defRPr>
            </a:lvl4pPr>
            <a:lvl5pPr>
              <a:buClr>
                <a:srgbClr val="0090D2"/>
              </a:buClr>
              <a:defRPr>
                <a:solidFill>
                  <a:srgbClr val="58585A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90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529054" y="482551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>
                <a:solidFill>
                  <a:srgbClr val="0090D2"/>
                </a:solidFill>
              </a:defRPr>
            </a:lvl1pPr>
          </a:lstStyle>
          <a:p>
            <a:fld id="{2501BE23-1565-7B4A-A660-ADF397564F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47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90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31800" y="1119188"/>
            <a:ext cx="8261350" cy="3529012"/>
          </a:xfrm>
        </p:spPr>
        <p:txBody>
          <a:bodyPr/>
          <a:lstStyle>
            <a:lvl1pPr marL="0" indent="0">
              <a:buNone/>
              <a:defRPr sz="1800"/>
            </a:lvl1pPr>
            <a:lvl3pPr marL="295275" marR="0" indent="-2952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None/>
              <a:tabLst/>
              <a:defRPr/>
            </a:lvl3pPr>
          </a:lstStyle>
          <a:p>
            <a:pPr lvl="0"/>
            <a:r>
              <a:rPr lang="en-US" dirty="0"/>
              <a:t>Heading One Style </a:t>
            </a:r>
          </a:p>
          <a:p>
            <a:pPr lvl="0"/>
            <a:r>
              <a:rPr lang="en-US" dirty="0"/>
              <a:t>Body content, 18pt Segoe UI (gray)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Heading Two Style</a:t>
            </a:r>
          </a:p>
          <a:p>
            <a:pPr lvl="0"/>
            <a:r>
              <a:rPr lang="en-US" dirty="0"/>
              <a:t>Body content, 18pt Segoe UI (gray)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HEADING THREE STYLE</a:t>
            </a:r>
          </a:p>
          <a:p>
            <a:pPr lvl="0"/>
            <a:r>
              <a:rPr lang="en-US" dirty="0"/>
              <a:t>Body content, 18pt Segoe UI (gray)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529054" y="482551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>
                <a:solidFill>
                  <a:srgbClr val="0090D2"/>
                </a:solidFill>
              </a:defRPr>
            </a:lvl1pPr>
          </a:lstStyle>
          <a:p>
            <a:fld id="{2501BE23-1565-7B4A-A660-ADF397564F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1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53729"/>
            <a:ext cx="4038600" cy="3011738"/>
          </a:xfrm>
          <a:prstGeom prst="rect">
            <a:avLst/>
          </a:prstGeom>
        </p:spPr>
        <p:txBody>
          <a:bodyPr>
            <a:normAutofit/>
          </a:bodyPr>
          <a:lstStyle>
            <a:lvl1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1pPr>
            <a:lvl2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2pPr>
            <a:lvl3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3pPr>
            <a:lvl4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4pPr>
            <a:lvl5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51766" y="1376479"/>
            <a:ext cx="4040859" cy="307181"/>
          </a:xfrm>
          <a:prstGeom prst="rect">
            <a:avLst/>
          </a:prstGeom>
          <a:solidFill>
            <a:srgbClr val="0090D2"/>
          </a:solidFill>
          <a:ln>
            <a:noFill/>
          </a:ln>
        </p:spPr>
        <p:txBody>
          <a:bodyPr anchor="ctr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4636995" y="1376479"/>
            <a:ext cx="4040859" cy="307181"/>
          </a:xfrm>
          <a:prstGeom prst="rect">
            <a:avLst/>
          </a:prstGeom>
          <a:solidFill>
            <a:srgbClr val="0090D2"/>
          </a:solidFill>
          <a:ln>
            <a:noFill/>
          </a:ln>
        </p:spPr>
        <p:txBody>
          <a:bodyPr anchor="ctr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2"/>
          </p:nvPr>
        </p:nvSpPr>
        <p:spPr>
          <a:xfrm>
            <a:off x="4638431" y="1753729"/>
            <a:ext cx="4038600" cy="3011738"/>
          </a:xfrm>
          <a:prstGeom prst="rect">
            <a:avLst/>
          </a:prstGeom>
        </p:spPr>
        <p:txBody>
          <a:bodyPr>
            <a:normAutofit/>
          </a:bodyPr>
          <a:lstStyle>
            <a:lvl1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1pPr>
            <a:lvl2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2pPr>
            <a:lvl3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3pPr>
            <a:lvl4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4pPr>
            <a:lvl5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90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529054" y="482551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>
                <a:solidFill>
                  <a:srgbClr val="0090D2"/>
                </a:solidFill>
              </a:defRPr>
            </a:lvl1pPr>
          </a:lstStyle>
          <a:p>
            <a:fld id="{2501BE23-1565-7B4A-A660-ADF397564F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13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592834" y="2190211"/>
            <a:ext cx="495344" cy="328154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D372AB51-BDCC-4F95-83CF-1CBB2D34E9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90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018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34634" y="1427382"/>
            <a:ext cx="8229600" cy="32851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Tx/>
              <a:buNone/>
              <a:defRPr sz="2000">
                <a:solidFill>
                  <a:schemeClr val="tx1"/>
                </a:solidFill>
                <a:latin typeface="Consolas"/>
                <a:cs typeface="Consolas"/>
              </a:defRPr>
            </a:lvl1pPr>
            <a:lvl2pPr marL="0" indent="0">
              <a:buClr>
                <a:schemeClr val="accent3"/>
              </a:buClr>
              <a:buFontTx/>
              <a:buNone/>
              <a:defRPr sz="1800">
                <a:solidFill>
                  <a:schemeClr val="tx1"/>
                </a:solidFill>
                <a:latin typeface="Consolas"/>
                <a:cs typeface="Consolas"/>
              </a:defRPr>
            </a:lvl2pPr>
            <a:lvl3pPr marL="295275" indent="0">
              <a:buClr>
                <a:schemeClr val="accent3"/>
              </a:buClr>
              <a:buFontTx/>
              <a:buNone/>
              <a:defRPr sz="1600">
                <a:solidFill>
                  <a:schemeClr val="tx1"/>
                </a:solidFill>
                <a:latin typeface="Consolas"/>
                <a:cs typeface="Consolas"/>
              </a:defRPr>
            </a:lvl3pPr>
            <a:lvl4pPr marL="579438" indent="0">
              <a:buClr>
                <a:schemeClr val="accent3"/>
              </a:buClr>
              <a:buFontTx/>
              <a:buNone/>
              <a:defRPr sz="1600">
                <a:solidFill>
                  <a:schemeClr val="tx1"/>
                </a:solidFill>
                <a:latin typeface="Consolas"/>
                <a:cs typeface="Consolas"/>
              </a:defRPr>
            </a:lvl4pPr>
            <a:lvl5pPr marL="846138" indent="0">
              <a:buClr>
                <a:schemeClr val="accent3"/>
              </a:buClr>
              <a:buFontTx/>
              <a:buNone/>
              <a:defRPr sz="1600">
                <a:solidFill>
                  <a:schemeClr val="tx1"/>
                </a:solidFill>
                <a:latin typeface="Consolas"/>
                <a:cs typeface="Consola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>
              <a:defRPr>
                <a:solidFill>
                  <a:srgbClr val="0090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PASS_Logo_gray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5" y="4856738"/>
            <a:ext cx="278306" cy="222671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529054" y="482551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>
                <a:solidFill>
                  <a:srgbClr val="0090D2"/>
                </a:solidFill>
              </a:defRPr>
            </a:lvl1pPr>
          </a:lstStyle>
          <a:p>
            <a:fld id="{2501BE23-1565-7B4A-A660-ADF397564F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31387"/>
          <a:stretch/>
        </p:blipFill>
        <p:spPr>
          <a:xfrm>
            <a:off x="0" y="-1"/>
            <a:ext cx="9144000" cy="13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9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35911"/>
          <a:stretch/>
        </p:blipFill>
        <p:spPr>
          <a:xfrm>
            <a:off x="5781" y="1"/>
            <a:ext cx="4208000" cy="5143498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214459" y="2393423"/>
            <a:ext cx="4445659" cy="7066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r">
              <a:defRPr lang="en-US" sz="5400" b="0" dirty="0">
                <a:solidFill>
                  <a:schemeClr val="tx2"/>
                </a:solidFill>
                <a:latin typeface="+mj-lt"/>
                <a:cs typeface="Segoe UI Light"/>
              </a:defRPr>
            </a:lvl1pPr>
          </a:lstStyle>
          <a:p>
            <a:pPr marL="0" lvl="0"/>
            <a:r>
              <a:rPr lang="en-CA" dirty="0"/>
              <a:t>Session Title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13781" y="3096950"/>
            <a:ext cx="4446338" cy="4537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>
              <a:defRPr lang="en-US" sz="2400" dirty="0">
                <a:solidFill>
                  <a:schemeClr val="accent1"/>
                </a:solidFill>
                <a:latin typeface="+mn-lt"/>
                <a:cs typeface="Segoe UI Light"/>
              </a:defRPr>
            </a:lvl1pPr>
          </a:lstStyle>
          <a:p>
            <a:pPr lvl="0"/>
            <a:r>
              <a:rPr lang="en-CA" dirty="0"/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90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C771-EA88-47A6-A613-66BA5878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39A32-1242-4692-8CA0-E25E5CEA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CE28B-8D91-4B97-96D1-00D001602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CFEB2-3DFA-4B40-9C39-44CA81B4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EB7AD-0EBD-4237-B1D9-20E53338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6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84177" y="436602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51227"/>
            <a:ext cx="8229600" cy="6129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Title Styling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57200" y="1130877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PASS_Logo_gray.png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5" y="4856738"/>
            <a:ext cx="278306" cy="22267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31387"/>
          <a:stretch/>
        </p:blipFill>
        <p:spPr>
          <a:xfrm>
            <a:off x="0" y="-1"/>
            <a:ext cx="9144000" cy="13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7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9" r:id="rId4"/>
    <p:sldLayoutId id="2147483652" r:id="rId5"/>
    <p:sldLayoutId id="2147483654" r:id="rId6"/>
    <p:sldLayoutId id="2147483657" r:id="rId7"/>
    <p:sldLayoutId id="2147483656" r:id="rId8"/>
    <p:sldLayoutId id="2147483661" r:id="rId9"/>
  </p:sldLayoutIdLst>
  <p:hf hdr="0" ftr="0" dt="0"/>
  <p:txStyles>
    <p:titleStyle>
      <a:lvl1pPr marL="0" marR="0" indent="0" algn="l" defTabSz="457200" rtl="0" eaLnBrk="1" fontAlgn="auto" latinLnBrk="0" hangingPunct="1">
        <a:lnSpc>
          <a:spcPts val="35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600" b="0" i="0" u="none" strike="noStrike" kern="1200" cap="none" spc="0" normalizeH="0" baseline="0">
          <a:ln>
            <a:noFill/>
          </a:ln>
          <a:solidFill>
            <a:schemeClr val="accent2"/>
          </a:solidFill>
          <a:effectLst/>
          <a:uLnTx/>
          <a:uFillTx/>
          <a:latin typeface="+mj-lt"/>
          <a:ea typeface="+mj-ea"/>
          <a:cs typeface="Segoe UI Light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/>
        <a:buNone/>
        <a:defRPr sz="2400" kern="1200">
          <a:solidFill>
            <a:srgbClr val="58585A"/>
          </a:solidFill>
          <a:latin typeface="+mn-lt"/>
          <a:ea typeface="+mn-ea"/>
          <a:cs typeface="Segoe UI"/>
        </a:defRPr>
      </a:lvl1pPr>
      <a:lvl2pPr marL="342900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2000" kern="1200" dirty="0" smtClean="0">
          <a:solidFill>
            <a:srgbClr val="58585A"/>
          </a:solidFill>
          <a:latin typeface="+mn-lt"/>
          <a:ea typeface="+mn-ea"/>
          <a:cs typeface="Segoe UI"/>
        </a:defRPr>
      </a:lvl2pPr>
      <a:lvl3pPr marL="638175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1800" kern="1200" dirty="0" smtClean="0">
          <a:solidFill>
            <a:srgbClr val="58585A"/>
          </a:solidFill>
          <a:latin typeface="+mn-lt"/>
          <a:ea typeface="+mn-ea"/>
          <a:cs typeface="Segoe UI"/>
        </a:defRPr>
      </a:lvl3pPr>
      <a:lvl4pPr marL="922338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1800" kern="1200" dirty="0" smtClean="0">
          <a:solidFill>
            <a:srgbClr val="58585A"/>
          </a:solidFill>
          <a:latin typeface="+mn-lt"/>
          <a:ea typeface="+mn-ea"/>
          <a:cs typeface="Segoe UI"/>
        </a:defRPr>
      </a:lvl4pPr>
      <a:lvl5pPr marL="1189038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1800" kern="1200" dirty="0">
          <a:solidFill>
            <a:srgbClr val="58585A"/>
          </a:solidFill>
          <a:latin typeface="+mn-lt"/>
          <a:ea typeface="+mn-ea"/>
          <a:cs typeface="Segoe UI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qlsaturday.com/nyc" TargetMode="External"/><Relationship Id="rId13" Type="http://schemas.openxmlformats.org/officeDocument/2006/relationships/image" Target="../media/image8.png"/><Relationship Id="rId18" Type="http://schemas.openxmlformats.org/officeDocument/2006/relationships/image" Target="../media/image11.png"/><Relationship Id="rId3" Type="http://schemas.openxmlformats.org/officeDocument/2006/relationships/hyperlink" Target="https://link.springer.com/book/10.1007/978-1-4842-8048-5" TargetMode="External"/><Relationship Id="rId7" Type="http://schemas.openxmlformats.org/officeDocument/2006/relationships/hyperlink" Target="https://dayofdata.org/2026-08-08-dayofdata1144/" TargetMode="External"/><Relationship Id="rId12" Type="http://schemas.openxmlformats.org/officeDocument/2006/relationships/image" Target="../media/image7.jpeg"/><Relationship Id="rId17" Type="http://schemas.openxmlformats.org/officeDocument/2006/relationships/image" Target="../media/image10.jpg"/><Relationship Id="rId2" Type="http://schemas.openxmlformats.org/officeDocument/2006/relationships/hyperlink" Target="https://link.springer.com/book/10.1007/978-1-4842-4318-3" TargetMode="External"/><Relationship Id="rId16" Type="http://schemas.openxmlformats.org/officeDocument/2006/relationships/hyperlink" Target="https://www.transfinder.com/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red-gate.com/simple-talk/author/ed7alum-rpi-edu/" TargetMode="External"/><Relationship Id="rId11" Type="http://schemas.openxmlformats.org/officeDocument/2006/relationships/hyperlink" Target="https://link.springer.com/search?dc.creator=Edward+Pollack" TargetMode="External"/><Relationship Id="rId5" Type="http://schemas.openxmlformats.org/officeDocument/2006/relationships/hyperlink" Target="https://link.springer.com/book/10.1007/978-1-4842-5197-3" TargetMode="External"/><Relationship Id="rId15" Type="http://schemas.openxmlformats.org/officeDocument/2006/relationships/image" Target="../media/image9.jpeg"/><Relationship Id="rId10" Type="http://schemas.openxmlformats.org/officeDocument/2006/relationships/image" Target="../media/image6.jpeg"/><Relationship Id="rId19" Type="http://schemas.openxmlformats.org/officeDocument/2006/relationships/image" Target="../media/image12.png"/><Relationship Id="rId4" Type="http://schemas.openxmlformats.org/officeDocument/2006/relationships/hyperlink" Target="https://link.springer.com/book/10.1007/978-1-4842-9215-0" TargetMode="External"/><Relationship Id="rId9" Type="http://schemas.openxmlformats.org/officeDocument/2006/relationships/hyperlink" Target="https://www.meetup.com/capital-area-sql-server-user-group/" TargetMode="External"/><Relationship Id="rId14" Type="http://schemas.openxmlformats.org/officeDocument/2006/relationships/hyperlink" Target="https://mvp.microsoft.com/en-US/MVP/profile/c7dc42d5-ff3e-ed11-bba3-000d3a19733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ed-pollack-65a3aa23/" TargetMode="External"/><Relationship Id="rId2" Type="http://schemas.openxmlformats.org/officeDocument/2006/relationships/hyperlink" Target="mailto:ed@edwardpollack.com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sqlshack.com/author/edward-pollack/" TargetMode="External"/><Relationship Id="rId5" Type="http://schemas.openxmlformats.org/officeDocument/2006/relationships/hyperlink" Target="https://www.red-gate.com/simple-talk/author/ed7alum-rpi-edu/" TargetMode="External"/><Relationship Id="rId4" Type="http://schemas.openxmlformats.org/officeDocument/2006/relationships/hyperlink" Target="https://github.com/EdwardPollac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-124098" y="1240972"/>
            <a:ext cx="8577591" cy="1711244"/>
          </a:xfrm>
        </p:spPr>
        <p:txBody>
          <a:bodyPr/>
          <a:lstStyle/>
          <a:p>
            <a:pPr algn="r"/>
            <a:r>
              <a:rPr lang="en-US" sz="5500" dirty="0">
                <a:solidFill>
                  <a:schemeClr val="tx2"/>
                </a:solidFill>
              </a:rPr>
              <a:t>All About Data Retention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12251" y="3006771"/>
            <a:ext cx="7519498" cy="453733"/>
          </a:xfrm>
        </p:spPr>
        <p:txBody>
          <a:bodyPr/>
          <a:lstStyle/>
          <a:p>
            <a:pPr algn="r"/>
            <a:r>
              <a:rPr lang="en-US" sz="3000" i="1" dirty="0"/>
              <a:t>Tactics for Optimizing Computing Resources</a:t>
            </a:r>
          </a:p>
        </p:txBody>
      </p:sp>
      <p:sp>
        <p:nvSpPr>
          <p:cNvPr id="6" name="Subtitle 5"/>
          <p:cNvSpPr txBox="1">
            <a:spLocks/>
          </p:cNvSpPr>
          <p:nvPr/>
        </p:nvSpPr>
        <p:spPr>
          <a:xfrm>
            <a:off x="1268008" y="3664880"/>
            <a:ext cx="5793377" cy="103774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ts val="28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2400" kern="120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lnSpc>
                <a:spcPts val="2500"/>
              </a:lnSpc>
              <a:spcBef>
                <a:spcPts val="200"/>
              </a:spcBef>
              <a:spcAft>
                <a:spcPts val="20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SzPct val="100000"/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42913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1"/>
                </a:solidFill>
                <a:latin typeface="+mn-lt"/>
                <a:cs typeface="Century Gothic"/>
              </a:rPr>
              <a:t>Edward Pollack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1"/>
                </a:solidFill>
                <a:latin typeface="+mn-lt"/>
                <a:cs typeface="Century Gothic"/>
              </a:rPr>
              <a:t>Microsoft Data Platform MVP</a:t>
            </a:r>
            <a:endParaRPr lang="en-US" dirty="0">
              <a:solidFill>
                <a:schemeClr val="tx1"/>
              </a:solidFill>
              <a:latin typeface="+mn-lt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95687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943" y="-12101"/>
            <a:ext cx="7712651" cy="585661"/>
          </a:xfrm>
        </p:spPr>
        <p:txBody>
          <a:bodyPr/>
          <a:lstStyle/>
          <a:p>
            <a:r>
              <a:rPr lang="en-US" dirty="0"/>
              <a:t>Ed Pollack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942" y="519554"/>
            <a:ext cx="8224118" cy="3751008"/>
          </a:xfrm>
        </p:spPr>
        <p:txBody>
          <a:bodyPr>
            <a:noAutofit/>
          </a:bodyPr>
          <a:lstStyle/>
          <a:p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Microsoft Data Platform MVP</a:t>
            </a:r>
          </a:p>
          <a:p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Published author of:</a:t>
            </a:r>
          </a:p>
          <a:p>
            <a:pPr marL="600026" lvl="1" indent="-257154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Dynamic SQL: Applications, Performance, and Security, 2</a:t>
            </a:r>
            <a:r>
              <a:rPr lang="en-US" sz="1500" baseline="300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nd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 Edition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00026" lvl="1" indent="-257154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Analytics Optimization with Columnstore Indexes in SQL Server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942926" lvl="2" indent="-257154"/>
            <a:r>
              <a:rPr lang="en-US" sz="1200" i="1" dirty="0">
                <a:latin typeface="Arial" panose="020B0604020202020204" pitchFamily="34" charset="0"/>
              </a:rPr>
              <a:t>2</a:t>
            </a:r>
            <a:r>
              <a:rPr lang="en-US" sz="1200" i="1" baseline="30000" dirty="0">
                <a:latin typeface="Arial" panose="020B0604020202020204" pitchFamily="34" charset="0"/>
              </a:rPr>
              <a:t>nd</a:t>
            </a:r>
            <a:r>
              <a:rPr lang="en-US" sz="1200" i="1" dirty="0">
                <a:latin typeface="Arial" panose="020B0604020202020204" pitchFamily="34" charset="0"/>
              </a:rPr>
              <a:t> edition forthcoming</a:t>
            </a:r>
            <a:endParaRPr lang="en-US" sz="12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00026" lvl="1" indent="-257154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Expert Performance Indexing in SQL Server, 4</a:t>
            </a:r>
            <a:r>
              <a:rPr lang="en-US" sz="1500" baseline="300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th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 Edition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00026" lvl="1" indent="-257154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Published in 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Expert T-SQL Functions in SQL Server, 3</a:t>
            </a:r>
            <a:r>
              <a:rPr lang="en-US" sz="1500" baseline="300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rd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 Edition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Author on 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hlinkClick r:id="rId6"/>
              </a:rPr>
              <a:t>Simple Talk</a:t>
            </a: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Organizes:</a:t>
            </a:r>
          </a:p>
          <a:p>
            <a:pPr marL="600054" lvl="1" indent="-257154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hlinkClick r:id="rId7"/>
              </a:rPr>
              <a:t>Day of Data Albany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00026" lvl="1" indent="-257154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hlinkClick r:id="rId8"/>
              </a:rPr>
              <a:t>SQL Saturday New York City 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00026" lvl="1" indent="-257154"/>
            <a:r>
              <a:rPr lang="en-US" sz="1500" dirty="0">
                <a:latin typeface="Arial" panose="020B0604020202020204" pitchFamily="34" charset="0"/>
                <a:hlinkClick r:id="rId9"/>
              </a:rPr>
              <a:t>Capital Area SQL Server User Group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IN" sz="1500" dirty="0">
                <a:solidFill>
                  <a:schemeClr val="tx1"/>
                </a:solidFill>
                <a:latin typeface="Arial" panose="020B0604020202020204" pitchFamily="34" charset="0"/>
              </a:rPr>
              <a:t>Speaker at many data events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09A8EF-B183-4015-BB48-2C07A22F563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885" y="3164682"/>
            <a:ext cx="1484114" cy="1978819"/>
          </a:xfrm>
          <a:prstGeom prst="rect">
            <a:avLst/>
          </a:prstGeom>
        </p:spPr>
      </p:pic>
      <p:pic>
        <p:nvPicPr>
          <p:cNvPr id="5" name="Picture 4" descr="A picture containing graphical user interface&#10;&#10;Description automatically generated">
            <a:hlinkClick r:id="rId11"/>
            <a:extLst>
              <a:ext uri="{FF2B5EF4-FFF2-40B4-BE49-F238E27FC236}">
                <a16:creationId xmlns:a16="http://schemas.microsoft.com/office/drawing/2014/main" id="{D3F7A6C4-8D67-22BC-72B0-492FB7CFB8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3570" y="4057650"/>
            <a:ext cx="1085850" cy="1085850"/>
          </a:xfrm>
          <a:prstGeom prst="rect">
            <a:avLst/>
          </a:prstGeom>
        </p:spPr>
      </p:pic>
      <p:pic>
        <p:nvPicPr>
          <p:cNvPr id="6" name="Picture 5">
            <a:hlinkClick r:id="rId6"/>
            <a:extLst>
              <a:ext uri="{FF2B5EF4-FFF2-40B4-BE49-F238E27FC236}">
                <a16:creationId xmlns:a16="http://schemas.microsoft.com/office/drawing/2014/main" id="{C0150A70-4960-1467-2BCE-63525BFB5D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2077" y="4257009"/>
            <a:ext cx="1688556" cy="886491"/>
          </a:xfrm>
          <a:prstGeom prst="rect">
            <a:avLst/>
          </a:prstGeom>
        </p:spPr>
      </p:pic>
      <p:pic>
        <p:nvPicPr>
          <p:cNvPr id="9" name="Picture 8" descr="A blue and white sign&#10;&#10;Description automatically generated with low confidence">
            <a:hlinkClick r:id="rId14"/>
            <a:extLst>
              <a:ext uri="{FF2B5EF4-FFF2-40B4-BE49-F238E27FC236}">
                <a16:creationId xmlns:a16="http://schemas.microsoft.com/office/drawing/2014/main" id="{1EA7EEA1-2A6F-B598-BAAE-DC313E479F0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008" y="3464718"/>
            <a:ext cx="1075876" cy="1688299"/>
          </a:xfrm>
          <a:prstGeom prst="rect">
            <a:avLst/>
          </a:prstGeom>
        </p:spPr>
      </p:pic>
      <p:pic>
        <p:nvPicPr>
          <p:cNvPr id="10" name="Picture 9" descr="A grey and orange logo&#10;&#10;Description automatically generated with low confidence">
            <a:hlinkClick r:id="rId16"/>
            <a:extLst>
              <a:ext uri="{FF2B5EF4-FFF2-40B4-BE49-F238E27FC236}">
                <a16:creationId xmlns:a16="http://schemas.microsoft.com/office/drawing/2014/main" id="{23D99231-E9AF-62EA-4A9E-A65939B344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557840"/>
            <a:ext cx="1404594" cy="585661"/>
          </a:xfrm>
          <a:prstGeom prst="rect">
            <a:avLst/>
          </a:prstGeom>
        </p:spPr>
      </p:pic>
      <p:pic>
        <p:nvPicPr>
          <p:cNvPr id="7" name="Picture 6" descr="A red sign with white text&#10;&#10;Description automatically generated">
            <a:extLst>
              <a:ext uri="{FF2B5EF4-FFF2-40B4-BE49-F238E27FC236}">
                <a16:creationId xmlns:a16="http://schemas.microsoft.com/office/drawing/2014/main" id="{FE621A73-84EE-486E-213C-41FE8F848A3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421" y="3743326"/>
            <a:ext cx="1074586" cy="14315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F2E3F6-A068-3C97-4DE8-99C6A25BE44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175" y="4223564"/>
            <a:ext cx="1226977" cy="88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0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The data life cycle</a:t>
            </a:r>
          </a:p>
          <a:p>
            <a:pPr marL="34290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Data Retention: What is it?</a:t>
            </a:r>
          </a:p>
          <a:p>
            <a:pPr marL="34290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Benefits of Retention</a:t>
            </a:r>
          </a:p>
          <a:p>
            <a:pPr marL="34290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Retention strategies</a:t>
            </a:r>
          </a:p>
          <a:p>
            <a:pPr marL="34290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Selling retention to managers/VPs/Execs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Conclusion &amp; Questions (?)</a:t>
            </a:r>
          </a:p>
        </p:txBody>
      </p:sp>
    </p:spTree>
    <p:extLst>
      <p:ext uri="{BB962C8B-B14F-4D97-AF65-F5344CB8AC3E}">
        <p14:creationId xmlns:p14="http://schemas.microsoft.com/office/powerpoint/2010/main" val="2474421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 Life Cycle</a:t>
            </a:r>
          </a:p>
        </p:txBody>
      </p:sp>
      <p:pic>
        <p:nvPicPr>
          <p:cNvPr id="4" name="Content Placeholder 3" descr="A diagram of a circular diagram&#10;&#10;Description automatically generated with medium confidence">
            <a:extLst>
              <a:ext uri="{FF2B5EF4-FFF2-40B4-BE49-F238E27FC236}">
                <a16:creationId xmlns:a16="http://schemas.microsoft.com/office/drawing/2014/main" id="{EA2AE4CF-AEC2-682B-5C5E-9A9798E67C5D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341" y="864183"/>
            <a:ext cx="4042688" cy="4042688"/>
          </a:xfrm>
        </p:spPr>
      </p:pic>
    </p:spTree>
    <p:extLst>
      <p:ext uri="{BB962C8B-B14F-4D97-AF65-F5344CB8AC3E}">
        <p14:creationId xmlns:p14="http://schemas.microsoft.com/office/powerpoint/2010/main" val="207972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Happen?</a:t>
            </a:r>
          </a:p>
        </p:txBody>
      </p:sp>
      <p:pic>
        <p:nvPicPr>
          <p:cNvPr id="7" name="Content Placeholder 6" descr="Diagram of a diagram of data&#10;&#10;Description automatically generated">
            <a:extLst>
              <a:ext uri="{FF2B5EF4-FFF2-40B4-BE49-F238E27FC236}">
                <a16:creationId xmlns:a16="http://schemas.microsoft.com/office/drawing/2014/main" id="{668F1895-30B2-BB6E-3EDF-F35D3F29057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64183"/>
            <a:ext cx="8262415" cy="3651110"/>
          </a:xfrm>
        </p:spPr>
      </p:pic>
    </p:spTree>
    <p:extLst>
      <p:ext uri="{BB962C8B-B14F-4D97-AF65-F5344CB8AC3E}">
        <p14:creationId xmlns:p14="http://schemas.microsoft.com/office/powerpoint/2010/main" val="1442034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Retention Period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Is there </a:t>
            </a:r>
            <a:r>
              <a:rPr lang="en-US" sz="2400" b="1" dirty="0">
                <a:solidFill>
                  <a:schemeClr val="tx1"/>
                </a:solidFill>
              </a:rPr>
              <a:t>ANY</a:t>
            </a:r>
            <a:r>
              <a:rPr lang="en-US" sz="2400" dirty="0">
                <a:solidFill>
                  <a:schemeClr val="tx1"/>
                </a:solidFill>
              </a:rPr>
              <a:t> chance that data will grow large?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Define a </a:t>
            </a:r>
            <a:r>
              <a:rPr lang="en-US" sz="2400" b="1" dirty="0">
                <a:solidFill>
                  <a:schemeClr val="tx1"/>
                </a:solidFill>
              </a:rPr>
              <a:t>data lifecycle </a:t>
            </a:r>
            <a:r>
              <a:rPr lang="en-US" sz="2400" dirty="0">
                <a:solidFill>
                  <a:schemeClr val="tx1"/>
                </a:solidFill>
              </a:rPr>
              <a:t>for it.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Define </a:t>
            </a:r>
            <a:r>
              <a:rPr lang="en-US" sz="2400" b="1" dirty="0">
                <a:solidFill>
                  <a:schemeClr val="tx1"/>
                </a:solidFill>
              </a:rPr>
              <a:t>retention</a:t>
            </a:r>
            <a:r>
              <a:rPr lang="en-US" sz="2400" dirty="0">
                <a:solidFill>
                  <a:schemeClr val="tx1"/>
                </a:solidFill>
              </a:rPr>
              <a:t> periods for its data lifecycle.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This is a </a:t>
            </a:r>
            <a:r>
              <a:rPr lang="en-US" sz="2400" b="1" dirty="0">
                <a:solidFill>
                  <a:schemeClr val="tx1"/>
                </a:solidFill>
              </a:rPr>
              <a:t>business </a:t>
            </a:r>
            <a:r>
              <a:rPr lang="en-US" sz="2400" dirty="0">
                <a:solidFill>
                  <a:schemeClr val="tx1"/>
                </a:solidFill>
              </a:rPr>
              <a:t>decision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first, technical decision second.</a:t>
            </a:r>
          </a:p>
          <a:p>
            <a:pPr lvl="0">
              <a:spcBef>
                <a:spcPts val="0"/>
              </a:spcBef>
              <a:buClr>
                <a:srgbClr val="0090D2"/>
              </a:buClr>
            </a:pPr>
            <a:endParaRPr lang="en-US" sz="2400" b="1" i="1" dirty="0">
              <a:solidFill>
                <a:schemeClr val="tx1"/>
              </a:solidFill>
            </a:endParaRPr>
          </a:p>
          <a:p>
            <a:pPr lvl="0">
              <a:spcBef>
                <a:spcPts val="0"/>
              </a:spcBef>
              <a:buClr>
                <a:srgbClr val="0090D2"/>
              </a:buClr>
            </a:pPr>
            <a:endParaRPr lang="en-US" sz="2400" b="1" i="1" dirty="0">
              <a:solidFill>
                <a:schemeClr val="tx1"/>
              </a:solidFill>
            </a:endParaRPr>
          </a:p>
          <a:p>
            <a:pPr lvl="0" algn="ctr">
              <a:spcBef>
                <a:spcPts val="0"/>
              </a:spcBef>
              <a:buClr>
                <a:srgbClr val="0090D2"/>
              </a:buClr>
            </a:pPr>
            <a:r>
              <a:rPr lang="en-US" sz="2400" b="1" i="1" dirty="0">
                <a:solidFill>
                  <a:schemeClr val="tx1"/>
                </a:solidFill>
              </a:rPr>
              <a:t>This does not have to be time-consuming!!!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24683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Retention Periods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Temporary</a:t>
            </a:r>
            <a:r>
              <a:rPr lang="en-US" sz="2400" dirty="0">
                <a:solidFill>
                  <a:schemeClr val="tx1"/>
                </a:solidFill>
              </a:rPr>
              <a:t> Data (</a:t>
            </a:r>
            <a:r>
              <a:rPr lang="en-US" sz="2600" dirty="0">
                <a:solidFill>
                  <a:schemeClr val="tx1"/>
                </a:solidFill>
              </a:rPr>
              <a:t>12 hours, 1 day, </a:t>
            </a:r>
            <a:r>
              <a:rPr lang="en-US" sz="2600" dirty="0" err="1">
                <a:solidFill>
                  <a:schemeClr val="tx1"/>
                </a:solidFill>
              </a:rPr>
              <a:t>etc</a:t>
            </a:r>
            <a:r>
              <a:rPr lang="en-US" sz="2600" dirty="0">
                <a:solidFill>
                  <a:schemeClr val="tx1"/>
                </a:solidFill>
              </a:rPr>
              <a:t>…)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Short-Term</a:t>
            </a:r>
            <a:r>
              <a:rPr lang="en-US" sz="2400" dirty="0">
                <a:solidFill>
                  <a:schemeClr val="tx1"/>
                </a:solidFill>
              </a:rPr>
              <a:t> Data (</a:t>
            </a:r>
            <a:r>
              <a:rPr lang="en-US" sz="2600" dirty="0">
                <a:solidFill>
                  <a:schemeClr val="tx1"/>
                </a:solidFill>
              </a:rPr>
              <a:t>5 days, 2 weeks, </a:t>
            </a:r>
            <a:r>
              <a:rPr lang="en-US" sz="2600" dirty="0" err="1">
                <a:solidFill>
                  <a:schemeClr val="tx1"/>
                </a:solidFill>
              </a:rPr>
              <a:t>etc</a:t>
            </a:r>
            <a:r>
              <a:rPr lang="en-US" sz="2600" dirty="0">
                <a:solidFill>
                  <a:schemeClr val="tx1"/>
                </a:solidFill>
              </a:rPr>
              <a:t>…)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Mid-Term</a:t>
            </a:r>
            <a:r>
              <a:rPr lang="en-US" sz="2400" dirty="0">
                <a:solidFill>
                  <a:schemeClr val="tx1"/>
                </a:solidFill>
              </a:rPr>
              <a:t> Data (</a:t>
            </a:r>
            <a:r>
              <a:rPr lang="en-US" sz="2600" dirty="0">
                <a:solidFill>
                  <a:schemeClr val="tx1"/>
                </a:solidFill>
              </a:rPr>
              <a:t>1 month, 6 months, 1 year)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Long-Term</a:t>
            </a:r>
            <a:r>
              <a:rPr lang="en-US" sz="2400" dirty="0">
                <a:solidFill>
                  <a:schemeClr val="tx1"/>
                </a:solidFill>
              </a:rPr>
              <a:t> Data (3 years, 5 years, 7 years)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Forever Data </a:t>
            </a:r>
            <a:r>
              <a:rPr lang="en-US" sz="2400" dirty="0">
                <a:solidFill>
                  <a:schemeClr val="tx1"/>
                </a:solidFill>
              </a:rPr>
              <a:t>(All of eternity)</a:t>
            </a:r>
            <a:endParaRPr lang="en-US" sz="2400" dirty="0"/>
          </a:p>
        </p:txBody>
      </p:sp>
      <p:pic>
        <p:nvPicPr>
          <p:cNvPr id="4" name="Picture 3" descr="A calendar with numbers on it&#10;&#10;Description automatically generated">
            <a:extLst>
              <a:ext uri="{FF2B5EF4-FFF2-40B4-BE49-F238E27FC236}">
                <a16:creationId xmlns:a16="http://schemas.microsoft.com/office/drawing/2014/main" id="{09348AEA-0B2E-277B-E338-565163BB5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728" y="3136648"/>
            <a:ext cx="2546543" cy="190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28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RPO/RTO/Availability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90D2"/>
              </a:buClr>
            </a:pPr>
            <a:r>
              <a:rPr lang="en-US" sz="2400" i="1" dirty="0">
                <a:solidFill>
                  <a:schemeClr val="tx1"/>
                </a:solidFill>
              </a:rPr>
              <a:t>Data Retention is directly linked to these: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RPO: </a:t>
            </a:r>
            <a:r>
              <a:rPr lang="en-US" sz="2400" b="1" dirty="0">
                <a:solidFill>
                  <a:schemeClr val="tx1"/>
                </a:solidFill>
              </a:rPr>
              <a:t>R</a:t>
            </a:r>
            <a:r>
              <a:rPr lang="en-US" sz="2400" dirty="0">
                <a:solidFill>
                  <a:schemeClr val="tx1"/>
                </a:solidFill>
              </a:rPr>
              <a:t>ecovery </a:t>
            </a:r>
            <a:r>
              <a:rPr lang="en-US" sz="2400" b="1" dirty="0">
                <a:solidFill>
                  <a:schemeClr val="tx1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oint </a:t>
            </a:r>
            <a:r>
              <a:rPr lang="en-US" sz="2400" b="1" dirty="0">
                <a:solidFill>
                  <a:schemeClr val="tx1"/>
                </a:solidFill>
              </a:rPr>
              <a:t>O</a:t>
            </a:r>
            <a:r>
              <a:rPr lang="en-US" sz="2400" dirty="0">
                <a:solidFill>
                  <a:schemeClr val="tx1"/>
                </a:solidFill>
              </a:rPr>
              <a:t>bjective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Acceptable data-loss in an emergency.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endParaRPr lang="en-US" sz="2600" dirty="0">
              <a:solidFill>
                <a:schemeClr val="tx1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RTO: </a:t>
            </a:r>
            <a:r>
              <a:rPr lang="en-US" sz="2400" b="1" dirty="0">
                <a:solidFill>
                  <a:schemeClr val="tx1"/>
                </a:solidFill>
              </a:rPr>
              <a:t>R</a:t>
            </a:r>
            <a:r>
              <a:rPr lang="en-US" sz="2400" dirty="0">
                <a:solidFill>
                  <a:schemeClr val="tx1"/>
                </a:solidFill>
              </a:rPr>
              <a:t>ecovery </a:t>
            </a:r>
            <a:r>
              <a:rPr lang="en-US" sz="2400" b="1" dirty="0">
                <a:solidFill>
                  <a:schemeClr val="tx1"/>
                </a:solidFill>
              </a:rPr>
              <a:t>T</a:t>
            </a:r>
            <a:r>
              <a:rPr lang="en-US" sz="2400" dirty="0">
                <a:solidFill>
                  <a:schemeClr val="tx1"/>
                </a:solidFill>
              </a:rPr>
              <a:t>ime </a:t>
            </a:r>
            <a:r>
              <a:rPr lang="en-US" sz="2400" b="1" dirty="0">
                <a:solidFill>
                  <a:schemeClr val="tx1"/>
                </a:solidFill>
              </a:rPr>
              <a:t>O</a:t>
            </a:r>
            <a:r>
              <a:rPr lang="en-US" sz="2400" dirty="0">
                <a:solidFill>
                  <a:schemeClr val="tx1"/>
                </a:solidFill>
              </a:rPr>
              <a:t>bjective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Recovery time in an emergency.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endParaRPr lang="en-US" sz="2600" dirty="0">
              <a:solidFill>
                <a:schemeClr val="tx1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Availability: </a:t>
            </a:r>
            <a:r>
              <a:rPr lang="en-US" sz="2400" b="1" dirty="0">
                <a:solidFill>
                  <a:schemeClr val="tx1"/>
                </a:solidFill>
              </a:rPr>
              <a:t>Uptime</a:t>
            </a:r>
            <a:r>
              <a:rPr lang="en-US" sz="2400" dirty="0">
                <a:solidFill>
                  <a:schemeClr val="tx1"/>
                </a:solidFill>
              </a:rPr>
              <a:t> for data access.</a:t>
            </a:r>
            <a:endParaRPr lang="en-US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119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RPO/RTO/Availability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All things being equal: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Larger data has a </a:t>
            </a:r>
            <a:r>
              <a:rPr lang="en-US" sz="2600" b="1" dirty="0">
                <a:solidFill>
                  <a:schemeClr val="tx1"/>
                </a:solidFill>
              </a:rPr>
              <a:t>longer RTO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Larger data has a </a:t>
            </a:r>
            <a:r>
              <a:rPr lang="en-US" sz="2600" b="1" dirty="0">
                <a:solidFill>
                  <a:schemeClr val="tx1"/>
                </a:solidFill>
              </a:rPr>
              <a:t>longer RPO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Larger data takes </a:t>
            </a:r>
            <a:r>
              <a:rPr lang="en-US" sz="2600" b="1" dirty="0">
                <a:solidFill>
                  <a:schemeClr val="tx1"/>
                </a:solidFill>
              </a:rPr>
              <a:t>longer to recover </a:t>
            </a:r>
            <a:r>
              <a:rPr lang="en-US" sz="2600" dirty="0">
                <a:solidFill>
                  <a:schemeClr val="tx1"/>
                </a:solidFill>
              </a:rPr>
              <a:t>from an emergency.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Spend more money or time to improve this…</a:t>
            </a:r>
          </a:p>
          <a:p>
            <a:pPr lvl="0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b="1" i="1" dirty="0">
                <a:solidFill>
                  <a:schemeClr val="tx1"/>
                </a:solidFill>
              </a:rPr>
              <a:t>…or manage data size!</a:t>
            </a:r>
          </a:p>
        </p:txBody>
      </p:sp>
    </p:spTree>
    <p:extLst>
      <p:ext uri="{BB962C8B-B14F-4D97-AF65-F5344CB8AC3E}">
        <p14:creationId xmlns:p14="http://schemas.microsoft.com/office/powerpoint/2010/main" val="1848056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Types of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Internal vs. external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Log data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Temporary data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Transient data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Posterity data (aka: “Just in case” data)</a:t>
            </a:r>
          </a:p>
        </p:txBody>
      </p:sp>
    </p:spTree>
    <p:extLst>
      <p:ext uri="{BB962C8B-B14F-4D97-AF65-F5344CB8AC3E}">
        <p14:creationId xmlns:p14="http://schemas.microsoft.com/office/powerpoint/2010/main" val="1183220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06DDF-4EA2-00B5-5B73-19858C479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8306-E3A4-BFD5-6327-81AA74E44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Transactional vs. Analytic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1B371A-D900-DA0B-184D-986BC354F23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Each can/should be stored </a:t>
            </a:r>
            <a:r>
              <a:rPr lang="en-US" sz="2400" b="1" dirty="0">
                <a:solidFill>
                  <a:schemeClr val="tx1"/>
                </a:solidFill>
              </a:rPr>
              <a:t>differently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Transactional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Frequent Inserts/Updates/Deletes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More columns/less rows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Very time-sensitive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Analytic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Controlled data load processes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More rows/less columns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Often flexible</a:t>
            </a:r>
          </a:p>
        </p:txBody>
      </p:sp>
    </p:spTree>
    <p:extLst>
      <p:ext uri="{BB962C8B-B14F-4D97-AF65-F5344CB8AC3E}">
        <p14:creationId xmlns:p14="http://schemas.microsoft.com/office/powerpoint/2010/main" val="3099106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13920-7062-031C-706A-F2394417A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DA64-3F92-914E-D0F8-E760D2DB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Privacy/Compliance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8AD467-BF55-58C1-8D48-750D2D5949E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Are you required to </a:t>
            </a:r>
            <a:r>
              <a:rPr lang="en-US" sz="2400" b="1" dirty="0">
                <a:solidFill>
                  <a:schemeClr val="tx1"/>
                </a:solidFill>
              </a:rPr>
              <a:t>retain</a:t>
            </a:r>
            <a:r>
              <a:rPr lang="en-US" sz="2400" dirty="0">
                <a:solidFill>
                  <a:schemeClr val="tx1"/>
                </a:solidFill>
              </a:rPr>
              <a:t> data for a period of time?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Are you required to </a:t>
            </a:r>
            <a:r>
              <a:rPr lang="en-US" sz="2400" b="1" dirty="0">
                <a:solidFill>
                  <a:schemeClr val="tx1"/>
                </a:solidFill>
              </a:rPr>
              <a:t>delete</a:t>
            </a:r>
            <a:r>
              <a:rPr lang="en-US" sz="2400" dirty="0">
                <a:solidFill>
                  <a:schemeClr val="tx1"/>
                </a:solidFill>
              </a:rPr>
              <a:t> data after a time period?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What do </a:t>
            </a:r>
            <a:r>
              <a:rPr lang="en-US" sz="2400" b="1" dirty="0">
                <a:solidFill>
                  <a:schemeClr val="tx1"/>
                </a:solidFill>
              </a:rPr>
              <a:t>customer contracts </a:t>
            </a:r>
            <a:r>
              <a:rPr lang="en-US" sz="2400" dirty="0">
                <a:solidFill>
                  <a:schemeClr val="tx1"/>
                </a:solidFill>
              </a:rPr>
              <a:t>say?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These can be changed!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What do </a:t>
            </a:r>
            <a:r>
              <a:rPr lang="en-US" sz="2400" b="1" dirty="0">
                <a:solidFill>
                  <a:schemeClr val="tx1"/>
                </a:solidFill>
              </a:rPr>
              <a:t>compliance laws </a:t>
            </a:r>
            <a:r>
              <a:rPr lang="en-US" sz="2400" dirty="0">
                <a:solidFill>
                  <a:schemeClr val="tx1"/>
                </a:solidFill>
              </a:rPr>
              <a:t>require?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Examples: GDPR, HIPAA, COPPA, </a:t>
            </a:r>
            <a:r>
              <a:rPr lang="en-US" sz="2600" dirty="0" err="1">
                <a:solidFill>
                  <a:schemeClr val="tx1"/>
                </a:solidFill>
              </a:rPr>
              <a:t>etc</a:t>
            </a:r>
            <a:r>
              <a:rPr lang="en-US" sz="2600" dirty="0">
                <a:solidFill>
                  <a:schemeClr val="tx1"/>
                </a:solidFill>
              </a:rPr>
              <a:t>…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These are out of your control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End-user license/data agreements?</a:t>
            </a:r>
            <a:endParaRPr lang="en-US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795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Strategies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5450" y="1099594"/>
            <a:ext cx="8261350" cy="2329406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MANY</a:t>
            </a:r>
            <a:r>
              <a:rPr lang="en-US" sz="2400" dirty="0">
                <a:solidFill>
                  <a:schemeClr val="tx1"/>
                </a:solidFill>
              </a:rPr>
              <a:t> ways to apply retention to data.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Strategies can easily be </a:t>
            </a:r>
            <a:r>
              <a:rPr lang="en-US" sz="2400" b="1" dirty="0">
                <a:solidFill>
                  <a:schemeClr val="tx1"/>
                </a:solidFill>
              </a:rPr>
              <a:t>combined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Align 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retention strategies with: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b="1" dirty="0">
                <a:solidFill>
                  <a:schemeClr val="tx1"/>
                </a:solidFill>
                <a:sym typeface="Wingdings" panose="05000000000000000000" pitchFamily="2" charset="2"/>
              </a:rPr>
              <a:t>Business</a:t>
            </a:r>
            <a:r>
              <a:rPr lang="en-US" sz="2600" dirty="0">
                <a:solidFill>
                  <a:schemeClr val="tx1"/>
                </a:solidFill>
                <a:sym typeface="Wingdings" panose="05000000000000000000" pitchFamily="2" charset="2"/>
              </a:rPr>
              <a:t> needs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b="1" dirty="0">
                <a:solidFill>
                  <a:schemeClr val="tx1"/>
                </a:solidFill>
                <a:sym typeface="Wingdings" panose="05000000000000000000" pitchFamily="2" charset="2"/>
              </a:rPr>
              <a:t>Cost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b="1" dirty="0">
                <a:solidFill>
                  <a:schemeClr val="tx1"/>
                </a:solidFill>
                <a:sym typeface="Wingdings" panose="05000000000000000000" pitchFamily="2" charset="2"/>
              </a:rPr>
              <a:t>Performance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b="1" dirty="0">
                <a:solidFill>
                  <a:schemeClr val="tx1"/>
                </a:solidFill>
                <a:sym typeface="Wingdings" panose="05000000000000000000" pitchFamily="2" charset="2"/>
              </a:rPr>
              <a:t>Compliance</a:t>
            </a:r>
          </a:p>
        </p:txBody>
      </p:sp>
    </p:spTree>
    <p:extLst>
      <p:ext uri="{BB962C8B-B14F-4D97-AF65-F5344CB8AC3E}">
        <p14:creationId xmlns:p14="http://schemas.microsoft.com/office/powerpoint/2010/main" val="2051566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Strategy: Delete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5450" y="1099594"/>
            <a:ext cx="8261350" cy="925149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Simplest</a:t>
            </a:r>
            <a:r>
              <a:rPr lang="en-US" sz="2400" dirty="0">
                <a:solidFill>
                  <a:schemeClr val="tx1"/>
                </a:solidFill>
              </a:rPr>
              <a:t> form of retention.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If older data is not needed, simply </a:t>
            </a:r>
            <a:r>
              <a:rPr lang="en-US" sz="2400" b="1" dirty="0">
                <a:solidFill>
                  <a:schemeClr val="tx1"/>
                </a:solidFill>
              </a:rPr>
              <a:t>delete</a:t>
            </a:r>
            <a:r>
              <a:rPr lang="en-US" sz="2400" dirty="0">
                <a:solidFill>
                  <a:schemeClr val="tx1"/>
                </a:solidFill>
              </a:rPr>
              <a:t> it!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i="1" dirty="0">
                <a:solidFill>
                  <a:schemeClr val="tx1"/>
                </a:solidFill>
              </a:rPr>
              <a:t>Remember to </a:t>
            </a:r>
            <a:r>
              <a:rPr lang="en-US" sz="2400" b="1" i="1" dirty="0">
                <a:solidFill>
                  <a:schemeClr val="tx1"/>
                </a:solidFill>
              </a:rPr>
              <a:t>index</a:t>
            </a:r>
            <a:r>
              <a:rPr lang="en-US" sz="2400" i="1" dirty="0">
                <a:solidFill>
                  <a:schemeClr val="tx1"/>
                </a:solidFill>
              </a:rPr>
              <a:t> the filter column, if needed.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651B3-8A58-775B-F1F8-0F3186286266}"/>
              </a:ext>
            </a:extLst>
          </p:cNvPr>
          <p:cNvSpPr txBox="1"/>
          <p:nvPr/>
        </p:nvSpPr>
        <p:spPr>
          <a:xfrm>
            <a:off x="1221377" y="2364377"/>
            <a:ext cx="47744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DELETE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TOP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herit"/>
              </a:rPr>
              <a:t>1000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)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 err="1">
                <a:solidFill>
                  <a:srgbClr val="008080"/>
                </a:solidFill>
                <a:effectLst/>
                <a:latin typeface="inherit"/>
              </a:rPr>
              <a:t>OrderChangeLog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FROM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 err="1">
                <a:solidFill>
                  <a:srgbClr val="008080"/>
                </a:solidFill>
                <a:effectLst/>
                <a:latin typeface="inherit"/>
              </a:rPr>
              <a:t>dbo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en-US" sz="1400" b="0" i="0" dirty="0" err="1">
                <a:solidFill>
                  <a:srgbClr val="008080"/>
                </a:solidFill>
                <a:effectLst/>
                <a:latin typeface="inherit"/>
              </a:rPr>
              <a:t>OrderChangeLog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WHERE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 err="1">
                <a:solidFill>
                  <a:srgbClr val="008080"/>
                </a:solidFill>
                <a:effectLst/>
                <a:latin typeface="inherit"/>
              </a:rPr>
              <a:t>OrderChangeLog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en-US" sz="1400" b="1" i="0" dirty="0" err="1">
                <a:solidFill>
                  <a:srgbClr val="008080"/>
                </a:solidFill>
                <a:effectLst/>
                <a:latin typeface="inherit"/>
              </a:rPr>
              <a:t>ModifiedDateTime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808080"/>
                </a:solidFill>
                <a:effectLst/>
                <a:latin typeface="inherit"/>
              </a:rPr>
              <a:t>&lt;=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                   </a:t>
            </a:r>
            <a:r>
              <a:rPr lang="en-US" sz="1400" b="0" i="0" dirty="0">
                <a:solidFill>
                  <a:srgbClr val="FF00FF"/>
                </a:solidFill>
                <a:effectLst/>
                <a:latin typeface="inherit"/>
              </a:rPr>
              <a:t>DATEADD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MONTH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808080"/>
                </a:solidFill>
                <a:effectLst/>
                <a:latin typeface="inherit"/>
              </a:rPr>
              <a:t>-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herit"/>
              </a:rPr>
              <a:t>12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FF00FF"/>
                </a:solidFill>
                <a:effectLst/>
                <a:latin typeface="inherit"/>
              </a:rPr>
              <a:t>GETUTCDATE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());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US" sz="1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</a:p>
          <a:p>
            <a:pPr algn="l"/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WHILE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@@</a:t>
            </a:r>
            <a:r>
              <a:rPr lang="en-US" sz="1400" b="0" i="0" dirty="0">
                <a:solidFill>
                  <a:srgbClr val="008080"/>
                </a:solidFill>
                <a:effectLst/>
                <a:latin typeface="inherit"/>
              </a:rPr>
              <a:t>ROWCOUNT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808080"/>
                </a:solidFill>
                <a:effectLst/>
                <a:latin typeface="inherit"/>
              </a:rPr>
              <a:t>&gt;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herit"/>
              </a:rPr>
              <a:t>0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BEGIN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DELETE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TOP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herit"/>
              </a:rPr>
              <a:t>1000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)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 err="1">
                <a:solidFill>
                  <a:srgbClr val="008080"/>
                </a:solidFill>
                <a:effectLst/>
                <a:latin typeface="inherit"/>
              </a:rPr>
              <a:t>OrderChangeLog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FROM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 err="1">
                <a:solidFill>
                  <a:srgbClr val="008080"/>
                </a:solidFill>
                <a:effectLst/>
                <a:latin typeface="inherit"/>
              </a:rPr>
              <a:t>dbo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en-US" sz="1400" b="0" i="0" dirty="0" err="1">
                <a:solidFill>
                  <a:srgbClr val="008080"/>
                </a:solidFill>
                <a:effectLst/>
                <a:latin typeface="inherit"/>
              </a:rPr>
              <a:t>OrderChangeLog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WHERE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 err="1">
                <a:solidFill>
                  <a:srgbClr val="008080"/>
                </a:solidFill>
                <a:effectLst/>
                <a:latin typeface="inherit"/>
              </a:rPr>
              <a:t>OrderChangeLog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en-US" sz="1400" b="1" i="0" dirty="0" err="1">
                <a:solidFill>
                  <a:srgbClr val="008080"/>
                </a:solidFill>
                <a:effectLst/>
                <a:latin typeface="inherit"/>
              </a:rPr>
              <a:t>ModifiedDateTime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808080"/>
                </a:solidFill>
                <a:effectLst/>
                <a:latin typeface="inherit"/>
              </a:rPr>
              <a:t>&lt;=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                    </a:t>
            </a:r>
            <a:r>
              <a:rPr lang="en-US" sz="1400" b="0" i="0" dirty="0">
                <a:solidFill>
                  <a:srgbClr val="FF00FF"/>
                </a:solidFill>
                <a:effectLst/>
                <a:latin typeface="inherit"/>
              </a:rPr>
              <a:t>DATEADD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MONTH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808080"/>
                </a:solidFill>
                <a:effectLst/>
                <a:latin typeface="inherit"/>
              </a:rPr>
              <a:t>-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inherit"/>
              </a:rPr>
              <a:t>12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en-US" sz="1400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sz="1400" b="0" i="0" dirty="0">
                <a:solidFill>
                  <a:srgbClr val="FF00FF"/>
                </a:solidFill>
                <a:effectLst/>
                <a:latin typeface="inherit"/>
              </a:rPr>
              <a:t>GETUTCDATE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());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US" sz="1400" b="0" i="0" dirty="0">
                <a:solidFill>
                  <a:srgbClr val="0000FF"/>
                </a:solidFill>
                <a:effectLst/>
                <a:latin typeface="inherit"/>
              </a:rPr>
              <a:t>END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inherit"/>
              </a:rPr>
              <a:t>;</a:t>
            </a:r>
            <a:endParaRPr lang="en-US" sz="1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445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Strategy: Archive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5450" y="1099594"/>
            <a:ext cx="8261350" cy="2009366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Data is </a:t>
            </a:r>
            <a:r>
              <a:rPr lang="en-US" sz="2400" b="1" dirty="0">
                <a:solidFill>
                  <a:schemeClr val="tx1"/>
                </a:solidFill>
              </a:rPr>
              <a:t>not needed by an application</a:t>
            </a:r>
            <a:r>
              <a:rPr lang="en-US" sz="2400" dirty="0">
                <a:solidFill>
                  <a:schemeClr val="tx1"/>
                </a:solidFill>
              </a:rPr>
              <a:t>, but must be retained for other purposes or posterity.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Create a </a:t>
            </a:r>
            <a:r>
              <a:rPr lang="en-US" sz="2400" b="1" dirty="0">
                <a:solidFill>
                  <a:schemeClr val="tx1"/>
                </a:solidFill>
              </a:rPr>
              <a:t>new location </a:t>
            </a:r>
            <a:r>
              <a:rPr lang="en-US" sz="2400" dirty="0">
                <a:solidFill>
                  <a:schemeClr val="tx1"/>
                </a:solidFill>
              </a:rPr>
              <a:t>for it and move it.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Can be in the same database/server or different.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May </a:t>
            </a:r>
            <a:r>
              <a:rPr lang="en-US" sz="2400" b="1" dirty="0">
                <a:solidFill>
                  <a:schemeClr val="tx1"/>
                </a:solidFill>
              </a:rPr>
              <a:t>treat as analytic data </a:t>
            </a:r>
            <a:r>
              <a:rPr lang="en-US" sz="2400" dirty="0">
                <a:solidFill>
                  <a:schemeClr val="tx1"/>
                </a:solidFill>
              </a:rPr>
              <a:t>once archived.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Can often be (heavily) </a:t>
            </a:r>
            <a:r>
              <a:rPr lang="en-US" sz="2400" b="1" dirty="0">
                <a:solidFill>
                  <a:schemeClr val="tx1"/>
                </a:solidFill>
              </a:rPr>
              <a:t>compressed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lvl="0">
              <a:spcBef>
                <a:spcPts val="0"/>
              </a:spcBef>
              <a:buClr>
                <a:srgbClr val="0090D2"/>
              </a:buClr>
            </a:pP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i="1" dirty="0">
                <a:solidFill>
                  <a:schemeClr val="tx1"/>
                </a:solidFill>
              </a:rPr>
              <a:t>This is a good alternative to data deletion when people are nervous about permanently deleting data!</a:t>
            </a:r>
          </a:p>
        </p:txBody>
      </p:sp>
    </p:spTree>
    <p:extLst>
      <p:ext uri="{BB962C8B-B14F-4D97-AF65-F5344CB8AC3E}">
        <p14:creationId xmlns:p14="http://schemas.microsoft.com/office/powerpoint/2010/main" val="3305605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Strategy: Remove Some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5450" y="1116397"/>
            <a:ext cx="8261350" cy="2597195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Some </a:t>
            </a:r>
            <a:r>
              <a:rPr lang="en-US" sz="2400" b="1" dirty="0">
                <a:solidFill>
                  <a:schemeClr val="tx1"/>
                </a:solidFill>
              </a:rPr>
              <a:t>larger</a:t>
            </a:r>
            <a:r>
              <a:rPr lang="en-US" sz="2400" dirty="0">
                <a:solidFill>
                  <a:schemeClr val="tx1"/>
                </a:solidFill>
              </a:rPr>
              <a:t> columns are not needed after a retention period.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Notes, description, error log details, </a:t>
            </a:r>
            <a:r>
              <a:rPr lang="en-US" sz="2400" dirty="0" err="1">
                <a:solidFill>
                  <a:schemeClr val="tx1"/>
                </a:solidFill>
              </a:rPr>
              <a:t>etc</a:t>
            </a:r>
            <a:r>
              <a:rPr lang="en-US" sz="2400" dirty="0">
                <a:solidFill>
                  <a:schemeClr val="tx1"/>
                </a:solidFill>
              </a:rPr>
              <a:t>…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Those big </a:t>
            </a:r>
            <a:r>
              <a:rPr lang="en-US" sz="2600" b="1" dirty="0">
                <a:solidFill>
                  <a:schemeClr val="tx1"/>
                </a:solidFill>
              </a:rPr>
              <a:t>string</a:t>
            </a:r>
            <a:r>
              <a:rPr lang="en-US" sz="2600" dirty="0">
                <a:solidFill>
                  <a:schemeClr val="tx1"/>
                </a:solidFill>
              </a:rPr>
              <a:t>/</a:t>
            </a:r>
            <a:r>
              <a:rPr lang="en-US" sz="2600" b="1" dirty="0">
                <a:solidFill>
                  <a:schemeClr val="tx1"/>
                </a:solidFill>
              </a:rPr>
              <a:t>binary</a:t>
            </a:r>
            <a:r>
              <a:rPr lang="en-US" sz="2600" dirty="0">
                <a:solidFill>
                  <a:schemeClr val="tx1"/>
                </a:solidFill>
              </a:rPr>
              <a:t> columns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Can NULL/blank/drop freely.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If archiving, then the target can </a:t>
            </a:r>
            <a:r>
              <a:rPr lang="en-US" sz="2400" b="1" dirty="0">
                <a:solidFill>
                  <a:schemeClr val="tx1"/>
                </a:solidFill>
              </a:rPr>
              <a:t>omit</a:t>
            </a:r>
            <a:r>
              <a:rPr lang="en-US" sz="2400" dirty="0">
                <a:solidFill>
                  <a:schemeClr val="tx1"/>
                </a:solidFill>
              </a:rPr>
              <a:t> unneeded data elements entirely.</a:t>
            </a:r>
          </a:p>
        </p:txBody>
      </p:sp>
    </p:spTree>
    <p:extLst>
      <p:ext uri="{BB962C8B-B14F-4D97-AF65-F5344CB8AC3E}">
        <p14:creationId xmlns:p14="http://schemas.microsoft.com/office/powerpoint/2010/main" val="649115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Strategy: Compression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5450" y="1099594"/>
            <a:ext cx="8261350" cy="2009366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Older/less used data can often be </a:t>
            </a:r>
            <a:r>
              <a:rPr lang="en-US" sz="2400" b="1" dirty="0">
                <a:solidFill>
                  <a:schemeClr val="tx1"/>
                </a:solidFill>
              </a:rPr>
              <a:t>compressed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Analytic</a:t>
            </a:r>
            <a:r>
              <a:rPr lang="en-US" sz="2400" dirty="0">
                <a:solidFill>
                  <a:schemeClr val="tx1"/>
                </a:solidFill>
              </a:rPr>
              <a:t> data should be compressed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ROW/PAGE/columnstore compression (for </a:t>
            </a:r>
            <a:r>
              <a:rPr lang="en-US" sz="2400" b="1" dirty="0">
                <a:solidFill>
                  <a:schemeClr val="tx1"/>
                </a:solidFill>
              </a:rPr>
              <a:t>SQL</a:t>
            </a:r>
            <a:r>
              <a:rPr lang="en-US" sz="2400" dirty="0">
                <a:solidFill>
                  <a:schemeClr val="tx1"/>
                </a:solidFill>
              </a:rPr>
              <a:t> data)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Parquet/Delta Lake </a:t>
            </a:r>
            <a:r>
              <a:rPr lang="en-US" sz="2400" dirty="0">
                <a:solidFill>
                  <a:schemeClr val="tx1"/>
                </a:solidFill>
              </a:rPr>
              <a:t>(Files in Fabric, Synapse, </a:t>
            </a:r>
            <a:r>
              <a:rPr lang="en-US" sz="2400" dirty="0" err="1">
                <a:solidFill>
                  <a:schemeClr val="tx1"/>
                </a:solidFill>
              </a:rPr>
              <a:t>etc</a:t>
            </a:r>
            <a:r>
              <a:rPr lang="en-US" sz="2400" dirty="0">
                <a:solidFill>
                  <a:schemeClr val="tx1"/>
                </a:solidFill>
              </a:rPr>
              <a:t>…)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File compression (for uncompressed </a:t>
            </a:r>
            <a:r>
              <a:rPr lang="en-US" sz="2400" b="1" dirty="0">
                <a:solidFill>
                  <a:schemeClr val="tx1"/>
                </a:solidFill>
              </a:rPr>
              <a:t>file</a:t>
            </a:r>
            <a:r>
              <a:rPr lang="en-US" sz="2400" dirty="0">
                <a:solidFill>
                  <a:schemeClr val="tx1"/>
                </a:solidFill>
              </a:rPr>
              <a:t> data)</a:t>
            </a:r>
          </a:p>
        </p:txBody>
      </p:sp>
    </p:spTree>
    <p:extLst>
      <p:ext uri="{BB962C8B-B14F-4D97-AF65-F5344CB8AC3E}">
        <p14:creationId xmlns:p14="http://schemas.microsoft.com/office/powerpoint/2010/main" val="4165699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Strategy: Partitioning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5450" y="1099594"/>
            <a:ext cx="8261350" cy="2009366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Physically/logically </a:t>
            </a:r>
            <a:r>
              <a:rPr lang="en-US" sz="2400" b="1" dirty="0">
                <a:solidFill>
                  <a:schemeClr val="tx1"/>
                </a:solidFill>
              </a:rPr>
              <a:t>split up a table </a:t>
            </a:r>
            <a:r>
              <a:rPr lang="en-US" sz="2400" dirty="0">
                <a:solidFill>
                  <a:schemeClr val="tx1"/>
                </a:solidFill>
              </a:rPr>
              <a:t>into separate files.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Each part may be </a:t>
            </a:r>
            <a:r>
              <a:rPr lang="en-US" sz="2400" b="1" dirty="0">
                <a:solidFill>
                  <a:schemeClr val="tx1"/>
                </a:solidFill>
              </a:rPr>
              <a:t>compressed differently </a:t>
            </a:r>
            <a:r>
              <a:rPr lang="en-US" sz="2400" dirty="0">
                <a:solidFill>
                  <a:schemeClr val="tx1"/>
                </a:solidFill>
              </a:rPr>
              <a:t>(or not).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Partition truncation/split/merge can be used.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Partition elimination can </a:t>
            </a:r>
            <a:r>
              <a:rPr lang="en-US" sz="2400" b="1" dirty="0">
                <a:solidFill>
                  <a:schemeClr val="tx1"/>
                </a:solidFill>
              </a:rPr>
              <a:t>improve performance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Automate</a:t>
            </a:r>
            <a:r>
              <a:rPr lang="en-US" sz="2400" dirty="0">
                <a:solidFill>
                  <a:schemeClr val="tx1"/>
                </a:solidFill>
              </a:rPr>
              <a:t> partition management processes.</a:t>
            </a:r>
          </a:p>
        </p:txBody>
      </p:sp>
    </p:spTree>
    <p:extLst>
      <p:ext uri="{BB962C8B-B14F-4D97-AF65-F5344CB8AC3E}">
        <p14:creationId xmlns:p14="http://schemas.microsoft.com/office/powerpoint/2010/main" val="838791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3398E-0098-83BB-E8B9-9FD4CEE7F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9C58E-A9D7-F33E-7636-57FD8196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Strategy: New vs Old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B75A42-E554-C53E-7A5B-7E060C40F4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5450" y="942839"/>
            <a:ext cx="8261350" cy="2009366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For tables with lots of </a:t>
            </a:r>
            <a:r>
              <a:rPr lang="en-US" sz="2400" b="1" dirty="0">
                <a:solidFill>
                  <a:schemeClr val="tx1"/>
                </a:solidFill>
              </a:rPr>
              <a:t>history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Separate data structure into 2 </a:t>
            </a:r>
            <a:r>
              <a:rPr lang="en-US" sz="2400" b="1" dirty="0">
                <a:solidFill>
                  <a:schemeClr val="tx1"/>
                </a:solidFill>
              </a:rPr>
              <a:t>separate</a:t>
            </a:r>
            <a:r>
              <a:rPr lang="en-US" sz="2400" dirty="0">
                <a:solidFill>
                  <a:schemeClr val="tx1"/>
                </a:solidFill>
              </a:rPr>
              <a:t> ones: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The new, write-heavy data (smaller data)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The old, read-only data (bigger data)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Can optimize each </a:t>
            </a:r>
            <a:r>
              <a:rPr lang="en-US" sz="2400" b="1" dirty="0">
                <a:solidFill>
                  <a:schemeClr val="tx1"/>
                </a:solidFill>
              </a:rPr>
              <a:t>separately</a:t>
            </a:r>
            <a:r>
              <a:rPr lang="en-US" sz="2400" dirty="0">
                <a:solidFill>
                  <a:schemeClr val="tx1"/>
                </a:solidFill>
              </a:rPr>
              <a:t> based on usage: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Compression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Indexing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Constraints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Rowstore/memory-optimized for write-heavy?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Columnstore for read-heavy?</a:t>
            </a:r>
          </a:p>
        </p:txBody>
      </p:sp>
    </p:spTree>
    <p:extLst>
      <p:ext uri="{BB962C8B-B14F-4D97-AF65-F5344CB8AC3E}">
        <p14:creationId xmlns:p14="http://schemas.microsoft.com/office/powerpoint/2010/main" val="2021715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Retention Strategy: Turn OLTP into OLAP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5450" y="1099593"/>
            <a:ext cx="8261350" cy="3531189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Old data </a:t>
            </a:r>
            <a:r>
              <a:rPr lang="en-US" sz="2400" dirty="0">
                <a:solidFill>
                  <a:schemeClr val="tx1"/>
                </a:solidFill>
              </a:rPr>
              <a:t>not used by an app anymore?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Rarely/never </a:t>
            </a:r>
            <a:r>
              <a:rPr lang="en-US" sz="2400" b="1" dirty="0">
                <a:solidFill>
                  <a:schemeClr val="tx1"/>
                </a:solidFill>
              </a:rPr>
              <a:t>written</a:t>
            </a:r>
            <a:r>
              <a:rPr lang="en-US" sz="2400" dirty="0">
                <a:solidFill>
                  <a:schemeClr val="tx1"/>
                </a:solidFill>
              </a:rPr>
              <a:t> to?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Adjust to </a:t>
            </a:r>
            <a:r>
              <a:rPr lang="en-US" sz="2400" b="1" dirty="0">
                <a:solidFill>
                  <a:schemeClr val="tx1"/>
                </a:solidFill>
              </a:rPr>
              <a:t>analytic</a:t>
            </a:r>
            <a:r>
              <a:rPr lang="en-US" sz="2400" dirty="0">
                <a:solidFill>
                  <a:schemeClr val="tx1"/>
                </a:solidFill>
              </a:rPr>
              <a:t> data storage/conventions.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Columnstore indexes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Heavy compression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Data lake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Data warehouse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600" dirty="0">
                <a:solidFill>
                  <a:schemeClr val="tx1"/>
                </a:solidFill>
              </a:rPr>
              <a:t>Dedicated analytics engine?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6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Strategy: Other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5450" y="1099593"/>
            <a:ext cx="8261350" cy="3531189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3</a:t>
            </a:r>
            <a:r>
              <a:rPr lang="en-US" sz="2400" baseline="30000" dirty="0">
                <a:solidFill>
                  <a:schemeClr val="tx1"/>
                </a:solidFill>
              </a:rPr>
              <a:t>rd</a:t>
            </a:r>
            <a:r>
              <a:rPr lang="en-US" sz="2400" dirty="0">
                <a:solidFill>
                  <a:schemeClr val="tx1"/>
                </a:solidFill>
              </a:rPr>
              <a:t> party applications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Hardware solutions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Data Deduplication</a:t>
            </a:r>
            <a:endParaRPr lang="en-US" sz="2600" dirty="0">
              <a:solidFill>
                <a:schemeClr val="tx1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Hosted data management platforms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Other?</a:t>
            </a:r>
          </a:p>
        </p:txBody>
      </p:sp>
    </p:spTree>
    <p:extLst>
      <p:ext uri="{BB962C8B-B14F-4D97-AF65-F5344CB8AC3E}">
        <p14:creationId xmlns:p14="http://schemas.microsoft.com/office/powerpoint/2010/main" val="3313891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Timing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FF1962-C4BD-F392-E30D-FD2BC1CC6D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5450" y="1099593"/>
            <a:ext cx="8261350" cy="3531189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Retention is (usually) data manipulation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Deletion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Updates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Data movement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Compression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Partition magic (can be DDL-only)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Treat retention as </a:t>
            </a:r>
            <a:r>
              <a:rPr lang="en-US" sz="2400" b="1" dirty="0">
                <a:solidFill>
                  <a:schemeClr val="tx1"/>
                </a:solidFill>
              </a:rPr>
              <a:t>maintenance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Perform off-hours, or when tolerable</a:t>
            </a:r>
          </a:p>
          <a:p>
            <a:pPr marL="685800" lvl="1">
              <a:spcBef>
                <a:spcPts val="0"/>
              </a:spcBef>
              <a:buClr>
                <a:srgbClr val="0090D2"/>
              </a:buClr>
            </a:pPr>
            <a:r>
              <a:rPr lang="en-US" sz="2400" dirty="0">
                <a:solidFill>
                  <a:schemeClr val="tx1"/>
                </a:solidFill>
              </a:rPr>
              <a:t>Avoid conflicts with other processes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356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</a:t>
            </a:r>
            <a:r>
              <a:rPr lang="en-US"/>
              <a:t>Data Retention</a:t>
            </a:r>
            <a:endParaRPr lang="en-US" dirty="0"/>
          </a:p>
        </p:txBody>
      </p:sp>
      <p:pic>
        <p:nvPicPr>
          <p:cNvPr id="7" name="Content Placeholder 6" descr="A diagram of sales data&#10;&#10;Description automatically generated">
            <a:extLst>
              <a:ext uri="{FF2B5EF4-FFF2-40B4-BE49-F238E27FC236}">
                <a16:creationId xmlns:a16="http://schemas.microsoft.com/office/drawing/2014/main" id="{2C291E33-C7B2-8272-C4F0-322C484E5C0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" y="1845137"/>
            <a:ext cx="8329036" cy="3201783"/>
          </a:xfr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FC920E4-9E2B-C4D4-6086-B5605C77F94B}"/>
              </a:ext>
            </a:extLst>
          </p:cNvPr>
          <p:cNvSpPr txBox="1">
            <a:spLocks/>
          </p:cNvSpPr>
          <p:nvPr/>
        </p:nvSpPr>
        <p:spPr>
          <a:xfrm>
            <a:off x="425450" y="864183"/>
            <a:ext cx="8261350" cy="8795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rgbClr val="58585A"/>
                </a:solidFill>
                <a:latin typeface="+mn-lt"/>
                <a:ea typeface="+mn-ea"/>
                <a:cs typeface="Segoe UI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•"/>
              <a:defRPr lang="en-US" sz="2000" kern="1200" dirty="0" smtClean="0">
                <a:solidFill>
                  <a:srgbClr val="58585A"/>
                </a:solidFill>
                <a:latin typeface="+mn-lt"/>
                <a:ea typeface="+mn-ea"/>
                <a:cs typeface="Segoe UI"/>
              </a:defRPr>
            </a:lvl2pPr>
            <a:lvl3pPr marL="295275" marR="0" indent="-2952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None/>
              <a:tabLst/>
              <a:defRPr lang="en-US" sz="1800" kern="1200">
                <a:solidFill>
                  <a:srgbClr val="58585A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•"/>
              <a:defRPr lang="en-US" sz="1800" kern="1200" dirty="0" smtClean="0">
                <a:solidFill>
                  <a:srgbClr val="58585A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•"/>
              <a:defRPr lang="en-US" sz="1800" kern="1200" dirty="0">
                <a:solidFill>
                  <a:srgbClr val="58585A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When data has </a:t>
            </a:r>
            <a:r>
              <a:rPr lang="en-US" sz="2400" b="1" dirty="0">
                <a:solidFill>
                  <a:schemeClr val="tx1"/>
                </a:solidFill>
              </a:rPr>
              <a:t>related data</a:t>
            </a:r>
            <a:r>
              <a:rPr lang="en-US" sz="2400" dirty="0">
                <a:solidFill>
                  <a:schemeClr val="tx1"/>
                </a:solidFill>
              </a:rPr>
              <a:t>, consider carefully what a retention period entails: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501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493" dirty="0"/>
              <a:t>Conclusion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Retention is a key part of </a:t>
            </a:r>
            <a:r>
              <a:rPr lang="en-US" b="1" dirty="0"/>
              <a:t>database design/architecture</a:t>
            </a:r>
            <a:r>
              <a:rPr lang="en-US" dirty="0"/>
              <a:t>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Effective retention can: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Improve </a:t>
            </a:r>
            <a:r>
              <a:rPr lang="en-US" b="1" dirty="0"/>
              <a:t>performance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Reduce data footprint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Improve compliance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Improve organizational communication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Save money!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Creating/owning retention policies is a </a:t>
            </a:r>
            <a:r>
              <a:rPr lang="en-US" b="1" i="1" dirty="0"/>
              <a:t>leadership/collaboration opportunity</a:t>
            </a:r>
            <a:r>
              <a:rPr lang="en-US" dirty="0"/>
              <a:t>!</a:t>
            </a:r>
          </a:p>
          <a:p>
            <a:pPr marL="685800" lvl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647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8FE4AF-B348-5DEE-C10F-85D8705B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03" y="205979"/>
            <a:ext cx="8252828" cy="857250"/>
          </a:xfrm>
        </p:spPr>
        <p:txBody>
          <a:bodyPr/>
          <a:lstStyle/>
          <a:p>
            <a:r>
              <a:rPr lang="en-US" dirty="0"/>
              <a:t>Thank You!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D7694-6D38-D578-B6BE-6A0138EC0E4E}"/>
              </a:ext>
            </a:extLst>
          </p:cNvPr>
          <p:cNvSpPr txBox="1"/>
          <p:nvPr/>
        </p:nvSpPr>
        <p:spPr>
          <a:xfrm>
            <a:off x="456902" y="860032"/>
            <a:ext cx="57806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Find me here:</a:t>
            </a:r>
            <a:endParaRPr lang="en-US" b="1" dirty="0">
              <a:hlinkClick r:id="rId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ed@edwardpollack.com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Ed Pollack | LinkedIn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Find my content here: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hlinkClick r:id="rId4"/>
              </a:rPr>
              <a:t>EdwardPollack</a:t>
            </a:r>
            <a:r>
              <a:rPr lang="en-US" dirty="0">
                <a:hlinkClick r:id="rId4"/>
              </a:rPr>
              <a:t> (Ed Pollack) (github.com)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Edward Pollack, Author at Simple Talk (red-gate.com)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Ed Pollack, Author at SQL Shack - articles about database auditing, server performance, data recovery, and more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41313"/>
      </p:ext>
    </p:extLst>
  </p:cSld>
  <p:clrMapOvr>
    <a:masterClrMapping/>
  </p:clrMapOvr>
</p:sld>
</file>

<file path=ppt/theme/theme1.xml><?xml version="1.0" encoding="utf-8"?>
<a:theme xmlns:a="http://schemas.openxmlformats.org/drawingml/2006/main" name="PASS 2013_SpeakerTemplate_16x9">
  <a:themeElements>
    <a:clrScheme name="Custom 3">
      <a:dk1>
        <a:srgbClr val="58585A"/>
      </a:dk1>
      <a:lt1>
        <a:srgbClr val="FFFFFF"/>
      </a:lt1>
      <a:dk2>
        <a:srgbClr val="003A78"/>
      </a:dk2>
      <a:lt2>
        <a:srgbClr val="0061B0"/>
      </a:lt2>
      <a:accent1>
        <a:srgbClr val="5FBB46"/>
      </a:accent1>
      <a:accent2>
        <a:srgbClr val="0090D2"/>
      </a:accent2>
      <a:accent3>
        <a:srgbClr val="FFD800"/>
      </a:accent3>
      <a:accent4>
        <a:srgbClr val="B3191E"/>
      </a:accent4>
      <a:accent5>
        <a:srgbClr val="003677"/>
      </a:accent5>
      <a:accent6>
        <a:srgbClr val="939598"/>
      </a:accent6>
      <a:hlink>
        <a:srgbClr val="0084CC"/>
      </a:hlink>
      <a:folHlink>
        <a:srgbClr val="505150"/>
      </a:folHlink>
    </a:clrScheme>
    <a:fontScheme name="PAS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PASS 2013_SpeakerTemplate_16x9.potx</Template>
  <TotalTime>4530</TotalTime>
  <Words>1080</Words>
  <Application>Microsoft Office PowerPoint</Application>
  <PresentationFormat>On-screen Show (16:9)</PresentationFormat>
  <Paragraphs>188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Consolas</vt:lpstr>
      <vt:lpstr>Courier New</vt:lpstr>
      <vt:lpstr>inherit</vt:lpstr>
      <vt:lpstr>Segoe UI</vt:lpstr>
      <vt:lpstr>Wingdings</vt:lpstr>
      <vt:lpstr>PASS 2013_SpeakerTemplate_16x9</vt:lpstr>
      <vt:lpstr>All About Data Retention</vt:lpstr>
      <vt:lpstr>Ed Pollack</vt:lpstr>
      <vt:lpstr>Agenda</vt:lpstr>
      <vt:lpstr>The Data Life Cycle</vt:lpstr>
      <vt:lpstr>What Can Happen?</vt:lpstr>
      <vt:lpstr>Create a Retention Period</vt:lpstr>
      <vt:lpstr>Common Retention Periods</vt:lpstr>
      <vt:lpstr>RPO/RTO/Availability</vt:lpstr>
      <vt:lpstr>RPO/RTO/Availability</vt:lpstr>
      <vt:lpstr>Special Types of Data</vt:lpstr>
      <vt:lpstr>Transactional vs. Analytic</vt:lpstr>
      <vt:lpstr>Privacy/Compliance</vt:lpstr>
      <vt:lpstr>Retention Strategies</vt:lpstr>
      <vt:lpstr>Retention Strategy: Delete Data</vt:lpstr>
      <vt:lpstr>Retention Strategy: Archive Data</vt:lpstr>
      <vt:lpstr>Retention Strategy: Remove Some Data</vt:lpstr>
      <vt:lpstr>Retention Strategy: Compression</vt:lpstr>
      <vt:lpstr>Retention Strategy: Partitioning</vt:lpstr>
      <vt:lpstr>Retention Strategy: New vs Old Data</vt:lpstr>
      <vt:lpstr>Retention Strategy: Turn OLTP into OLAP</vt:lpstr>
      <vt:lpstr>Retention Strategy: Other</vt:lpstr>
      <vt:lpstr>Notes on Timing</vt:lpstr>
      <vt:lpstr>Relational Data Retention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No more than 2 lines</dc:title>
  <dc:creator>Lana Montgomery</dc:creator>
  <cp:lastModifiedBy> </cp:lastModifiedBy>
  <cp:revision>456</cp:revision>
  <dcterms:created xsi:type="dcterms:W3CDTF">2013-07-12T18:23:55Z</dcterms:created>
  <dcterms:modified xsi:type="dcterms:W3CDTF">2026-04-27T23:15:13Z</dcterms:modified>
</cp:coreProperties>
</file>